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Lst>
  <p:notesMasterIdLst>
    <p:notesMasterId r:id="rId37"/>
  </p:notesMasterIdLst>
  <p:sldIdLst>
    <p:sldId id="375" r:id="rId3"/>
    <p:sldId id="376" r:id="rId4"/>
    <p:sldId id="320" r:id="rId5"/>
    <p:sldId id="358" r:id="rId6"/>
    <p:sldId id="377" r:id="rId7"/>
    <p:sldId id="381" r:id="rId8"/>
    <p:sldId id="378" r:id="rId9"/>
    <p:sldId id="379" r:id="rId10"/>
    <p:sldId id="380" r:id="rId11"/>
    <p:sldId id="384" r:id="rId12"/>
    <p:sldId id="382" r:id="rId13"/>
    <p:sldId id="385" r:id="rId14"/>
    <p:sldId id="398" r:id="rId15"/>
    <p:sldId id="383" r:id="rId16"/>
    <p:sldId id="399" r:id="rId17"/>
    <p:sldId id="401" r:id="rId18"/>
    <p:sldId id="403" r:id="rId19"/>
    <p:sldId id="411" r:id="rId20"/>
    <p:sldId id="412" r:id="rId21"/>
    <p:sldId id="404" r:id="rId22"/>
    <p:sldId id="409" r:id="rId23"/>
    <p:sldId id="390" r:id="rId24"/>
    <p:sldId id="392" r:id="rId25"/>
    <p:sldId id="393" r:id="rId26"/>
    <p:sldId id="402" r:id="rId27"/>
    <p:sldId id="410" r:id="rId28"/>
    <p:sldId id="391" r:id="rId29"/>
    <p:sldId id="405" r:id="rId30"/>
    <p:sldId id="407" r:id="rId31"/>
    <p:sldId id="418" r:id="rId32"/>
    <p:sldId id="419" r:id="rId33"/>
    <p:sldId id="420" r:id="rId34"/>
    <p:sldId id="421" r:id="rId35"/>
    <p:sldId id="349" r:id="rId36"/>
  </p:sldIdLst>
  <p:sldSz cx="9144000" cy="5143500" type="screen16x9"/>
  <p:notesSz cx="6858000" cy="9144000"/>
  <p:embeddedFontLst>
    <p:embeddedFont>
      <p:font typeface="Cambria Math" panose="02040503050406030204" pitchFamily="18" charset="0"/>
      <p:regular r:id="rId38"/>
    </p:embeddedFont>
    <p:embeddedFont>
      <p:font typeface="Candara" panose="020E0502030303020204" pitchFamily="34" charset="0"/>
      <p:regular r:id="rId39"/>
      <p:bold r:id="rId40"/>
      <p:italic r:id="rId41"/>
      <p:boldItalic r:id="rId42"/>
    </p:embeddedFont>
    <p:embeddedFont>
      <p:font typeface="MS Reference Sans Serif" panose="020B0604030504040204" pitchFamily="34" charset="0"/>
      <p:regular r:id="rId43"/>
    </p:embeddedFont>
    <p:embeddedFont>
      <p:font typeface="Poppins" panose="000005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164BF3-4A2A-4AF8-AE50-BFDFB4268269}">
  <a:tblStyle styleId="{58164BF3-4A2A-4AF8-AE50-BFDFB426826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485" y="77"/>
      </p:cViewPr>
      <p:guideLst/>
    </p:cSldViewPr>
  </p:slideViewPr>
  <p:notesTextViewPr>
    <p:cViewPr>
      <p:scale>
        <a:sx n="1" d="1"/>
        <a:sy n="1" d="1"/>
      </p:scale>
      <p:origin x="0" y="0"/>
    </p:cViewPr>
  </p:notesTextViewPr>
  <p:sorterViewPr>
    <p:cViewPr varScale="1">
      <p:scale>
        <a:sx n="1" d="1"/>
        <a:sy n="1" d="1"/>
      </p:scale>
      <p:origin x="0" y="-66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6.xml"/><Relationship Id="rId51" Type="http://schemas.openxmlformats.org/officeDocument/2006/relationships/font" Target="fonts/font1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font" Target="fonts/font4.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10"/>
          <p:cNvSpPr/>
          <p:nvPr/>
        </p:nvSpPr>
        <p:spPr>
          <a:xfrm>
            <a:off x="-904525" y="1831800"/>
            <a:ext cx="4698300" cy="46989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0"/>
          <p:cNvSpPr/>
          <p:nvPr/>
        </p:nvSpPr>
        <p:spPr>
          <a:xfrm>
            <a:off x="2580750" y="3936625"/>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0"/>
          <p:cNvSpPr/>
          <p:nvPr/>
        </p:nvSpPr>
        <p:spPr>
          <a:xfrm>
            <a:off x="-390175" y="1831800"/>
            <a:ext cx="856500" cy="856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0"/>
          <p:cNvSpPr txBox="1">
            <a:spLocks noGrp="1"/>
          </p:cNvSpPr>
          <p:nvPr>
            <p:ph type="title"/>
          </p:nvPr>
        </p:nvSpPr>
        <p:spPr>
          <a:xfrm>
            <a:off x="713225" y="2508375"/>
            <a:ext cx="2260500" cy="1886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ext 1">
  <p:cSld name="CUSTOM">
    <p:bg>
      <p:bgPr>
        <a:gradFill>
          <a:gsLst>
            <a:gs pos="0">
              <a:schemeClr val="dk1"/>
            </a:gs>
            <a:gs pos="100000">
              <a:schemeClr val="lt1"/>
            </a:gs>
          </a:gsLst>
          <a:lin ang="18900732" scaled="0"/>
        </a:gradFill>
        <a:effectLst/>
      </p:bgPr>
    </p:bg>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713225" y="1376788"/>
            <a:ext cx="2865300" cy="876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 name="Google Shape;97;p16"/>
          <p:cNvSpPr txBox="1">
            <a:spLocks noGrp="1"/>
          </p:cNvSpPr>
          <p:nvPr>
            <p:ph type="subTitle" idx="1"/>
          </p:nvPr>
        </p:nvSpPr>
        <p:spPr>
          <a:xfrm>
            <a:off x="713225" y="2753300"/>
            <a:ext cx="2865300" cy="10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6"/>
          <p:cNvSpPr/>
          <p:nvPr/>
        </p:nvSpPr>
        <p:spPr>
          <a:xfrm flipH="1">
            <a:off x="753090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6"/>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a:off x="314375" y="4417950"/>
            <a:ext cx="2162700" cy="2163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777450" y="44179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7093500" y="-80590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8176100" y="229275"/>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gradFill>
          <a:gsLst>
            <a:gs pos="0">
              <a:schemeClr val="dk1"/>
            </a:gs>
            <a:gs pos="100000">
              <a:schemeClr val="lt1"/>
            </a:gs>
          </a:gsLst>
          <a:lin ang="18900732" scaled="0"/>
        </a:gradFill>
        <a:effectLst/>
      </p:bgPr>
    </p:bg>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713225" y="1376788"/>
            <a:ext cx="2865300" cy="876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 name="Google Shape;97;p16"/>
          <p:cNvSpPr txBox="1">
            <a:spLocks noGrp="1"/>
          </p:cNvSpPr>
          <p:nvPr>
            <p:ph type="subTitle" idx="1"/>
          </p:nvPr>
        </p:nvSpPr>
        <p:spPr>
          <a:xfrm>
            <a:off x="713225" y="2753300"/>
            <a:ext cx="2865300" cy="10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6"/>
          <p:cNvSpPr/>
          <p:nvPr/>
        </p:nvSpPr>
        <p:spPr>
          <a:xfrm flipH="1">
            <a:off x="753090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6"/>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a:off x="314375" y="4417950"/>
            <a:ext cx="2162700" cy="2163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777450" y="44179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7093500" y="-80590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8176100" y="229275"/>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972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Background 1">
    <p:bg>
      <p:bgPr>
        <a:gradFill>
          <a:gsLst>
            <a:gs pos="0">
              <a:schemeClr val="dk1"/>
            </a:gs>
            <a:gs pos="100000">
              <a:schemeClr val="lt1"/>
            </a:gs>
          </a:gsLst>
          <a:lin ang="18900732" scaled="0"/>
        </a:gradFill>
        <a:effectLst/>
      </p:bgPr>
    </p:bg>
    <p:spTree>
      <p:nvGrpSpPr>
        <p:cNvPr id="1" name="Shape 218"/>
        <p:cNvGrpSpPr/>
        <p:nvPr/>
      </p:nvGrpSpPr>
      <p:grpSpPr>
        <a:xfrm>
          <a:off x="0" y="0"/>
          <a:ext cx="0" cy="0"/>
          <a:chOff x="0" y="0"/>
          <a:chExt cx="0" cy="0"/>
        </a:xfrm>
      </p:grpSpPr>
      <p:sp>
        <p:nvSpPr>
          <p:cNvPr id="219" name="Google Shape;219;p29"/>
          <p:cNvSpPr/>
          <p:nvPr/>
        </p:nvSpPr>
        <p:spPr>
          <a:xfrm>
            <a:off x="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9"/>
          <p:cNvSpPr/>
          <p:nvPr/>
        </p:nvSpPr>
        <p:spPr>
          <a:xfrm rot="10800000">
            <a:off x="7527900" y="0"/>
            <a:ext cx="1616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561150" y="-8181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8239950" y="4237275"/>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a:off x="713225" y="-3914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956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Background">
    <p:bg>
      <p:bgPr>
        <a:gradFill>
          <a:gsLst>
            <a:gs pos="0">
              <a:schemeClr val="dk1"/>
            </a:gs>
            <a:gs pos="100000">
              <a:schemeClr val="lt1"/>
            </a:gs>
          </a:gsLst>
          <a:lin ang="5400700" scaled="0"/>
        </a:gradFill>
        <a:effectLst/>
      </p:bgPr>
    </p:bg>
    <p:spTree>
      <p:nvGrpSpPr>
        <p:cNvPr id="1" name="Shape 212"/>
        <p:cNvGrpSpPr/>
        <p:nvPr/>
      </p:nvGrpSpPr>
      <p:grpSpPr>
        <a:xfrm>
          <a:off x="0" y="0"/>
          <a:ext cx="0" cy="0"/>
          <a:chOff x="0" y="0"/>
          <a:chExt cx="0" cy="0"/>
        </a:xfrm>
      </p:grpSpPr>
      <p:sp>
        <p:nvSpPr>
          <p:cNvPr id="213" name="Google Shape;213;p28"/>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8"/>
          <p:cNvSpPr/>
          <p:nvPr/>
        </p:nvSpPr>
        <p:spPr>
          <a:xfrm flipH="1">
            <a:off x="6286800" y="4822125"/>
            <a:ext cx="28572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8"/>
          <p:cNvSpPr/>
          <p:nvPr/>
        </p:nvSpPr>
        <p:spPr>
          <a:xfrm>
            <a:off x="-542100" y="43634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8"/>
          <p:cNvSpPr/>
          <p:nvPr/>
        </p:nvSpPr>
        <p:spPr>
          <a:xfrm>
            <a:off x="8430775" y="-8181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8"/>
          <p:cNvSpPr/>
          <p:nvPr/>
        </p:nvSpPr>
        <p:spPr>
          <a:xfrm>
            <a:off x="713225" y="47902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32884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1pPr>
            <a:lvl2pPr lvl="1"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2pPr>
            <a:lvl3pPr lvl="2"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3pPr>
            <a:lvl4pPr lvl="3"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4pPr>
            <a:lvl5pPr lvl="4"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5pPr>
            <a:lvl6pPr lvl="5"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6pPr>
            <a:lvl7pPr lvl="6"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7pPr>
            <a:lvl8pPr lvl="7"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8pPr>
            <a:lvl9pPr lvl="8"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marL="914400" lvl="1"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 id="214748366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1pPr>
            <a:lvl2pPr lvl="1"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2pPr>
            <a:lvl3pPr lvl="2"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3pPr>
            <a:lvl4pPr lvl="3"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4pPr>
            <a:lvl5pPr lvl="4"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5pPr>
            <a:lvl6pPr lvl="5"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6pPr>
            <a:lvl7pPr lvl="6"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7pPr>
            <a:lvl8pPr lvl="7"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8pPr>
            <a:lvl9pPr lvl="8"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marL="914400" lvl="1"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5512574"/>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4"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627C-872C-D88C-69DD-2A05499314CF}"/>
              </a:ext>
            </a:extLst>
          </p:cNvPr>
          <p:cNvSpPr>
            <a:spLocks noGrp="1"/>
          </p:cNvSpPr>
          <p:nvPr>
            <p:ph type="title"/>
          </p:nvPr>
        </p:nvSpPr>
        <p:spPr>
          <a:xfrm>
            <a:off x="1756428" y="486274"/>
            <a:ext cx="5631141" cy="1196013"/>
          </a:xfrm>
          <a:ln w="28575">
            <a:solidFill>
              <a:schemeClr val="tx2">
                <a:lumMod val="50000"/>
              </a:schemeClr>
            </a:solidFill>
          </a:ln>
        </p:spPr>
        <p:txBody>
          <a:bodyPr/>
          <a:lstStyle/>
          <a:p>
            <a:pPr algn="ctr"/>
            <a:r>
              <a:rPr lang="en-US" sz="1400" b="1" dirty="0">
                <a:solidFill>
                  <a:schemeClr val="tx2">
                    <a:lumMod val="50000"/>
                  </a:schemeClr>
                </a:solidFill>
                <a:latin typeface="MS Reference Sans Serif" panose="020B0604030504040204" pitchFamily="34" charset="0"/>
              </a:rPr>
              <a:t>Assiut University </a:t>
            </a:r>
            <a:br>
              <a:rPr lang="en-US" sz="1400" b="1" dirty="0">
                <a:solidFill>
                  <a:schemeClr val="tx2">
                    <a:lumMod val="50000"/>
                  </a:schemeClr>
                </a:solidFill>
                <a:latin typeface="MS Reference Sans Serif" panose="020B0604030504040204" pitchFamily="34" charset="0"/>
              </a:rPr>
            </a:br>
            <a:r>
              <a:rPr lang="en-US" sz="1400" b="1" dirty="0">
                <a:solidFill>
                  <a:schemeClr val="tx2">
                    <a:lumMod val="50000"/>
                  </a:schemeClr>
                </a:solidFill>
                <a:latin typeface="MS Reference Sans Serif" panose="020B0604030504040204" pitchFamily="34" charset="0"/>
              </a:rPr>
              <a:t>Faculty of Computers &amp; Information</a:t>
            </a:r>
            <a:br>
              <a:rPr lang="en-US" sz="1400" b="1" dirty="0">
                <a:solidFill>
                  <a:schemeClr val="tx2">
                    <a:lumMod val="50000"/>
                  </a:schemeClr>
                </a:solidFill>
                <a:latin typeface="MS Reference Sans Serif" panose="020B0604030504040204" pitchFamily="34" charset="0"/>
              </a:rPr>
            </a:br>
            <a:r>
              <a:rPr lang="en-US" sz="1400" b="1" dirty="0">
                <a:solidFill>
                  <a:schemeClr val="tx2">
                    <a:lumMod val="50000"/>
                  </a:schemeClr>
                </a:solidFill>
                <a:latin typeface="MS Reference Sans Serif" panose="020B0604030504040204" pitchFamily="34" charset="0"/>
              </a:rPr>
              <a:t>Computer Science Department </a:t>
            </a:r>
            <a:br>
              <a:rPr lang="en-US" sz="1400" b="1" dirty="0">
                <a:latin typeface="MS Reference Sans Serif" panose="020B0604030504040204" pitchFamily="34" charset="0"/>
              </a:rPr>
            </a:br>
            <a:endParaRPr lang="en-US" sz="1400" b="1" dirty="0">
              <a:latin typeface="MS Reference Sans Serif" panose="020B0604030504040204" pitchFamily="34" charset="0"/>
            </a:endParaRPr>
          </a:p>
        </p:txBody>
      </p:sp>
      <p:sp>
        <p:nvSpPr>
          <p:cNvPr id="3" name="Subtitle 2">
            <a:extLst>
              <a:ext uri="{FF2B5EF4-FFF2-40B4-BE49-F238E27FC236}">
                <a16:creationId xmlns:a16="http://schemas.microsoft.com/office/drawing/2014/main" id="{843BF338-DF50-13EA-03F7-7489C1EBC93A}"/>
              </a:ext>
            </a:extLst>
          </p:cNvPr>
          <p:cNvSpPr>
            <a:spLocks noGrp="1"/>
          </p:cNvSpPr>
          <p:nvPr>
            <p:ph type="subTitle" idx="1"/>
          </p:nvPr>
        </p:nvSpPr>
        <p:spPr>
          <a:xfrm>
            <a:off x="2485153" y="2065050"/>
            <a:ext cx="4386253" cy="1013400"/>
          </a:xfrm>
          <a:solidFill>
            <a:schemeClr val="tx2">
              <a:lumMod val="20000"/>
              <a:lumOff val="80000"/>
            </a:schemeClr>
          </a:solidFill>
        </p:spPr>
        <p:txBody>
          <a:bodyPr/>
          <a:lstStyle/>
          <a:p>
            <a:pPr algn="ctr"/>
            <a:r>
              <a:rPr lang="en-US" sz="2000" b="1" dirty="0">
                <a:solidFill>
                  <a:schemeClr val="tx2">
                    <a:lumMod val="50000"/>
                  </a:schemeClr>
                </a:solidFill>
                <a:latin typeface="MS Reference Sans Serif" panose="020B0604030504040204" pitchFamily="34" charset="0"/>
              </a:rPr>
              <a:t>Intelligent Systems </a:t>
            </a:r>
          </a:p>
        </p:txBody>
      </p:sp>
      <p:pic>
        <p:nvPicPr>
          <p:cNvPr id="4" name="Picture 3">
            <a:extLst>
              <a:ext uri="{FF2B5EF4-FFF2-40B4-BE49-F238E27FC236}">
                <a16:creationId xmlns:a16="http://schemas.microsoft.com/office/drawing/2014/main" id="{A9614A95-E587-D2A0-3481-021E3E7103C8}"/>
              </a:ext>
            </a:extLst>
          </p:cNvPr>
          <p:cNvPicPr>
            <a:picLocks noChangeAspect="1"/>
          </p:cNvPicPr>
          <p:nvPr/>
        </p:nvPicPr>
        <p:blipFill>
          <a:blip r:embed="rId2" cstate="print"/>
          <a:srcRect l="6127" t="2732" r="5642" b="6557"/>
          <a:stretch>
            <a:fillRect/>
          </a:stretch>
        </p:blipFill>
        <p:spPr>
          <a:xfrm>
            <a:off x="802218" y="486274"/>
            <a:ext cx="723900" cy="1076520"/>
          </a:xfrm>
          <a:prstGeom prst="rect">
            <a:avLst/>
          </a:prstGeom>
        </p:spPr>
      </p:pic>
      <p:sp>
        <p:nvSpPr>
          <p:cNvPr id="235" name="Google Shape;235;p33"/>
          <p:cNvSpPr txBox="1">
            <a:spLocks/>
          </p:cNvSpPr>
          <p:nvPr/>
        </p:nvSpPr>
        <p:spPr>
          <a:xfrm>
            <a:off x="2912321" y="3739669"/>
            <a:ext cx="3781301" cy="730500"/>
          </a:xfrm>
          <a:prstGeom prst="rect">
            <a:avLst/>
          </a:prstGeom>
          <a:solidFill>
            <a:schemeClr val="tx2">
              <a:lumMod val="20000"/>
              <a:lumOff val="80000"/>
            </a:schemeClr>
          </a:solidFill>
          <a:ln>
            <a:solidFill>
              <a:schemeClr val="tx2">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marL="0" indent="0" algn="ctr"/>
            <a:r>
              <a:rPr lang="en-US" b="1">
                <a:solidFill>
                  <a:schemeClr val="tx2">
                    <a:lumMod val="50000"/>
                  </a:schemeClr>
                </a:solidFill>
                <a:latin typeface="MS Reference Sans Serif" panose="020B0604030504040204" pitchFamily="34" charset="0"/>
              </a:rPr>
              <a:t>DR.SARA SALAH MOHAMED</a:t>
            </a:r>
            <a:endParaRPr lang="en-US" b="1" dirty="0">
              <a:solidFill>
                <a:schemeClr val="tx2">
                  <a:lumMod val="50000"/>
                </a:schemeClr>
              </a:solidFill>
              <a:latin typeface="MS Reference Sans Serif" panose="020B0604030504040204" pitchFamily="34" charset="0"/>
            </a:endParaRPr>
          </a:p>
        </p:txBody>
      </p:sp>
      <p:pic>
        <p:nvPicPr>
          <p:cNvPr id="6" name="Picture 5">
            <a:extLst>
              <a:ext uri="{FF2B5EF4-FFF2-40B4-BE49-F238E27FC236}">
                <a16:creationId xmlns:a16="http://schemas.microsoft.com/office/drawing/2014/main" id="{3BF907A6-8344-D1DE-85BE-516FDBC09E4A}"/>
              </a:ext>
            </a:extLst>
          </p:cNvPr>
          <p:cNvPicPr>
            <a:picLocks noChangeAspect="1"/>
          </p:cNvPicPr>
          <p:nvPr/>
        </p:nvPicPr>
        <p:blipFill>
          <a:blip r:embed="rId3"/>
          <a:stretch>
            <a:fillRect/>
          </a:stretch>
        </p:blipFill>
        <p:spPr>
          <a:xfrm>
            <a:off x="7545359" y="405409"/>
            <a:ext cx="1085850" cy="1238250"/>
          </a:xfrm>
          <a:prstGeom prst="rect">
            <a:avLst/>
          </a:prstGeom>
        </p:spPr>
      </p:pic>
    </p:spTree>
    <p:extLst>
      <p:ext uri="{BB962C8B-B14F-4D97-AF65-F5344CB8AC3E}">
        <p14:creationId xmlns:p14="http://schemas.microsoft.com/office/powerpoint/2010/main" val="50336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1D29-86F2-D07D-C13A-FCB0E578CC71}"/>
              </a:ext>
            </a:extLst>
          </p:cNvPr>
          <p:cNvSpPr>
            <a:spLocks noGrp="1"/>
          </p:cNvSpPr>
          <p:nvPr>
            <p:ph type="title"/>
          </p:nvPr>
        </p:nvSpPr>
        <p:spPr>
          <a:xfrm>
            <a:off x="679975" y="546389"/>
            <a:ext cx="2865300" cy="876900"/>
          </a:xfrm>
        </p:spPr>
        <p:txBody>
          <a:bodyPr/>
          <a:lstStyle/>
          <a:p>
            <a:r>
              <a:rPr lang="en-US" sz="1800" dirty="0">
                <a:solidFill>
                  <a:schemeClr val="tx2">
                    <a:lumMod val="50000"/>
                  </a:schemeClr>
                </a:solidFill>
              </a:rPr>
              <a:t>Grading</a:t>
            </a:r>
          </a:p>
        </p:txBody>
      </p:sp>
      <p:graphicFrame>
        <p:nvGraphicFramePr>
          <p:cNvPr id="4" name="Table 3">
            <a:extLst>
              <a:ext uri="{FF2B5EF4-FFF2-40B4-BE49-F238E27FC236}">
                <a16:creationId xmlns:a16="http://schemas.microsoft.com/office/drawing/2014/main" id="{E5F22CB4-050A-20C5-2F90-39CE5E318FFB}"/>
              </a:ext>
            </a:extLst>
          </p:cNvPr>
          <p:cNvGraphicFramePr>
            <a:graphicFrameLocks noGrp="1"/>
          </p:cNvGraphicFramePr>
          <p:nvPr/>
        </p:nvGraphicFramePr>
        <p:xfrm>
          <a:off x="1670857" y="1640045"/>
          <a:ext cx="4779818" cy="1863410"/>
        </p:xfrm>
        <a:graphic>
          <a:graphicData uri="http://schemas.openxmlformats.org/drawingml/2006/table">
            <a:tbl>
              <a:tblPr firstRow="1" firstCol="1" bandRow="1">
                <a:tableStyleId>{58164BF3-4A2A-4AF8-AE50-BFDFB4268269}</a:tableStyleId>
              </a:tblPr>
              <a:tblGrid>
                <a:gridCol w="3269395">
                  <a:extLst>
                    <a:ext uri="{9D8B030D-6E8A-4147-A177-3AD203B41FA5}">
                      <a16:colId xmlns:a16="http://schemas.microsoft.com/office/drawing/2014/main" val="475280808"/>
                    </a:ext>
                  </a:extLst>
                </a:gridCol>
                <a:gridCol w="1510423">
                  <a:extLst>
                    <a:ext uri="{9D8B030D-6E8A-4147-A177-3AD203B41FA5}">
                      <a16:colId xmlns:a16="http://schemas.microsoft.com/office/drawing/2014/main" val="3287442818"/>
                    </a:ext>
                  </a:extLst>
                </a:gridCol>
              </a:tblGrid>
              <a:tr h="372682">
                <a:tc>
                  <a:txBody>
                    <a:bodyPr/>
                    <a:lstStyle/>
                    <a:p>
                      <a:pPr marL="0" marR="0">
                        <a:lnSpc>
                          <a:spcPct val="115000"/>
                        </a:lnSpc>
                        <a:buNone/>
                      </a:pPr>
                      <a:r>
                        <a:rPr lang="en-US" sz="1400" b="1" dirty="0">
                          <a:solidFill>
                            <a:schemeClr val="tx2">
                              <a:lumMod val="50000"/>
                            </a:schemeClr>
                          </a:solidFill>
                          <a:effectLst/>
                          <a:latin typeface="MS Reference Sans Serif" panose="020B0604030504040204" pitchFamily="34" charset="0"/>
                        </a:rPr>
                        <a:t>Assessment</a:t>
                      </a:r>
                      <a:endParaRPr lang="en-US" sz="1400" b="1" dirty="0">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tc>
                  <a:txBody>
                    <a:bodyPr/>
                    <a:lstStyle/>
                    <a:p>
                      <a:pPr marL="0" marR="0">
                        <a:lnSpc>
                          <a:spcPct val="115000"/>
                        </a:lnSpc>
                        <a:spcAft>
                          <a:spcPts val="1000"/>
                        </a:spcAft>
                        <a:buNone/>
                      </a:pPr>
                      <a:r>
                        <a:rPr lang="en-US" sz="1400" b="1">
                          <a:solidFill>
                            <a:schemeClr val="tx2">
                              <a:lumMod val="50000"/>
                            </a:schemeClr>
                          </a:solidFill>
                          <a:effectLst/>
                          <a:latin typeface="MS Reference Sans Serif" panose="020B0604030504040204" pitchFamily="34" charset="0"/>
                        </a:rPr>
                        <a:t>Grade %</a:t>
                      </a:r>
                      <a:endParaRPr lang="en-US" sz="1400" b="1">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1741831896"/>
                  </a:ext>
                </a:extLst>
              </a:tr>
              <a:tr h="372682">
                <a:tc>
                  <a:txBody>
                    <a:bodyPr/>
                    <a:lstStyle/>
                    <a:p>
                      <a:pPr marL="0" marR="0">
                        <a:lnSpc>
                          <a:spcPct val="115000"/>
                        </a:lnSpc>
                        <a:buNone/>
                      </a:pPr>
                      <a:r>
                        <a:rPr lang="en-US" sz="1400" b="1">
                          <a:solidFill>
                            <a:schemeClr val="tx2">
                              <a:lumMod val="50000"/>
                            </a:schemeClr>
                          </a:solidFill>
                          <a:effectLst/>
                          <a:latin typeface="MS Reference Sans Serif" panose="020B0604030504040204" pitchFamily="34" charset="0"/>
                        </a:rPr>
                        <a:t>Final Exam</a:t>
                      </a:r>
                      <a:endParaRPr lang="en-US" sz="1400" b="1">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tc>
                  <a:txBody>
                    <a:bodyPr/>
                    <a:lstStyle/>
                    <a:p>
                      <a:pPr marL="0" marR="0">
                        <a:lnSpc>
                          <a:spcPct val="115000"/>
                        </a:lnSpc>
                        <a:spcAft>
                          <a:spcPts val="1000"/>
                        </a:spcAft>
                        <a:buNone/>
                      </a:pPr>
                      <a:r>
                        <a:rPr lang="en-US" sz="1400" b="1">
                          <a:solidFill>
                            <a:schemeClr val="tx2">
                              <a:lumMod val="50000"/>
                            </a:schemeClr>
                          </a:solidFill>
                          <a:effectLst/>
                          <a:latin typeface="MS Reference Sans Serif" panose="020B0604030504040204" pitchFamily="34" charset="0"/>
                        </a:rPr>
                        <a:t>50%</a:t>
                      </a:r>
                      <a:endParaRPr lang="en-US" sz="1400" b="1">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463567605"/>
                  </a:ext>
                </a:extLst>
              </a:tr>
              <a:tr h="372682">
                <a:tc>
                  <a:txBody>
                    <a:bodyPr/>
                    <a:lstStyle/>
                    <a:p>
                      <a:pPr marL="0" marR="0">
                        <a:lnSpc>
                          <a:spcPct val="115000"/>
                        </a:lnSpc>
                        <a:buNone/>
                      </a:pPr>
                      <a:r>
                        <a:rPr lang="en-US" sz="1400" b="1" dirty="0">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rPr>
                        <a:t>Class Work</a:t>
                      </a:r>
                    </a:p>
                  </a:txBody>
                  <a:tcPr marL="68580" marR="68580" marT="0" marB="0">
                    <a:solidFill>
                      <a:schemeClr val="tx2">
                        <a:lumMod val="20000"/>
                        <a:lumOff val="80000"/>
                      </a:schemeClr>
                    </a:solidFill>
                  </a:tcPr>
                </a:tc>
                <a:tc>
                  <a:txBody>
                    <a:bodyPr/>
                    <a:lstStyle/>
                    <a:p>
                      <a:pPr marL="0" marR="0">
                        <a:lnSpc>
                          <a:spcPct val="115000"/>
                        </a:lnSpc>
                        <a:spcAft>
                          <a:spcPts val="1000"/>
                        </a:spcAft>
                        <a:buNone/>
                      </a:pPr>
                      <a:r>
                        <a:rPr lang="en-US" sz="1400" b="1">
                          <a:solidFill>
                            <a:schemeClr val="tx2">
                              <a:lumMod val="50000"/>
                            </a:schemeClr>
                          </a:solidFill>
                          <a:effectLst/>
                          <a:latin typeface="MS Reference Sans Serif" panose="020B0604030504040204" pitchFamily="34" charset="0"/>
                        </a:rPr>
                        <a:t>15%</a:t>
                      </a:r>
                      <a:endParaRPr lang="en-US" sz="1400" b="1">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4270403331"/>
                  </a:ext>
                </a:extLst>
              </a:tr>
              <a:tr h="372682">
                <a:tc>
                  <a:txBody>
                    <a:bodyPr/>
                    <a:lstStyle/>
                    <a:p>
                      <a:pPr marL="0" marR="0">
                        <a:lnSpc>
                          <a:spcPct val="115000"/>
                        </a:lnSpc>
                        <a:buNone/>
                      </a:pPr>
                      <a:r>
                        <a:rPr lang="en-US" sz="1400" b="1">
                          <a:solidFill>
                            <a:schemeClr val="tx2">
                              <a:lumMod val="50000"/>
                            </a:schemeClr>
                          </a:solidFill>
                          <a:effectLst/>
                          <a:latin typeface="MS Reference Sans Serif" panose="020B0604030504040204" pitchFamily="34" charset="0"/>
                        </a:rPr>
                        <a:t>Mid-Term Exam</a:t>
                      </a:r>
                      <a:endParaRPr lang="en-US" sz="1400" b="1">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tc>
                  <a:txBody>
                    <a:bodyPr/>
                    <a:lstStyle/>
                    <a:p>
                      <a:pPr marL="0" marR="0">
                        <a:lnSpc>
                          <a:spcPct val="115000"/>
                        </a:lnSpc>
                        <a:spcAft>
                          <a:spcPts val="1000"/>
                        </a:spcAft>
                        <a:buNone/>
                      </a:pPr>
                      <a:r>
                        <a:rPr lang="en-US" sz="1400" b="1" dirty="0">
                          <a:solidFill>
                            <a:schemeClr val="tx2">
                              <a:lumMod val="50000"/>
                            </a:schemeClr>
                          </a:solidFill>
                          <a:effectLst/>
                          <a:latin typeface="MS Reference Sans Serif" panose="020B0604030504040204" pitchFamily="34" charset="0"/>
                        </a:rPr>
                        <a:t>15%</a:t>
                      </a:r>
                      <a:endParaRPr lang="en-US" sz="1400" b="1" dirty="0">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2749477390"/>
                  </a:ext>
                </a:extLst>
              </a:tr>
              <a:tr h="372682">
                <a:tc>
                  <a:txBody>
                    <a:bodyPr/>
                    <a:lstStyle/>
                    <a:p>
                      <a:pPr marL="0" marR="0">
                        <a:lnSpc>
                          <a:spcPct val="115000"/>
                        </a:lnSpc>
                        <a:buNone/>
                      </a:pPr>
                      <a:r>
                        <a:rPr lang="en-US" sz="1400" b="1" dirty="0">
                          <a:solidFill>
                            <a:schemeClr val="tx2">
                              <a:lumMod val="50000"/>
                            </a:schemeClr>
                          </a:solidFill>
                          <a:effectLst/>
                          <a:latin typeface="MS Reference Sans Serif" panose="020B0604030504040204" pitchFamily="34" charset="0"/>
                        </a:rPr>
                        <a:t>Project</a:t>
                      </a:r>
                      <a:endParaRPr lang="en-US" sz="1400" b="1" dirty="0">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tc>
                  <a:txBody>
                    <a:bodyPr/>
                    <a:lstStyle/>
                    <a:p>
                      <a:pPr marL="0" marR="0">
                        <a:lnSpc>
                          <a:spcPct val="115000"/>
                        </a:lnSpc>
                        <a:spcAft>
                          <a:spcPts val="1000"/>
                        </a:spcAft>
                        <a:buNone/>
                      </a:pPr>
                      <a:r>
                        <a:rPr lang="en-US" sz="1400" b="1" dirty="0">
                          <a:solidFill>
                            <a:schemeClr val="tx2">
                              <a:lumMod val="50000"/>
                            </a:schemeClr>
                          </a:solidFill>
                          <a:effectLst/>
                          <a:latin typeface="MS Reference Sans Serif" panose="020B0604030504040204" pitchFamily="34" charset="0"/>
                        </a:rPr>
                        <a:t>20%</a:t>
                      </a:r>
                      <a:endParaRPr lang="en-US" sz="1400" b="1" dirty="0">
                        <a:solidFill>
                          <a:schemeClr val="tx2">
                            <a:lumMod val="50000"/>
                          </a:schemeClr>
                        </a:solidFill>
                        <a:effectLst/>
                        <a:latin typeface="MS Reference Sans Serif" panose="020B0604030504040204" pitchFamily="34" charset="0"/>
                        <a:ea typeface="Times New Roman" panose="02020603050405020304" pitchFamily="18" charset="0"/>
                        <a:cs typeface="Arial" panose="020B0604020202020204" pitchFamily="34" charset="0"/>
                      </a:endParaRPr>
                    </a:p>
                  </a:txBody>
                  <a:tcPr marL="68580" marR="68580" marT="0" marB="0">
                    <a:solidFill>
                      <a:schemeClr val="tx2">
                        <a:lumMod val="20000"/>
                        <a:lumOff val="80000"/>
                      </a:schemeClr>
                    </a:solidFill>
                  </a:tcPr>
                </a:tc>
                <a:extLst>
                  <a:ext uri="{0D108BD9-81ED-4DB2-BD59-A6C34878D82A}">
                    <a16:rowId xmlns:a16="http://schemas.microsoft.com/office/drawing/2014/main" val="528720324"/>
                  </a:ext>
                </a:extLst>
              </a:tr>
            </a:tbl>
          </a:graphicData>
        </a:graphic>
      </p:graphicFrame>
    </p:spTree>
    <p:extLst>
      <p:ext uri="{BB962C8B-B14F-4D97-AF65-F5344CB8AC3E}">
        <p14:creationId xmlns:p14="http://schemas.microsoft.com/office/powerpoint/2010/main" val="4229303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F81610-E38D-3F98-67BC-7739B9AB3A26}"/>
              </a:ext>
            </a:extLst>
          </p:cNvPr>
          <p:cNvSpPr txBox="1"/>
          <p:nvPr/>
        </p:nvSpPr>
        <p:spPr>
          <a:xfrm>
            <a:off x="506254" y="682089"/>
            <a:ext cx="2512992" cy="369332"/>
          </a:xfrm>
          <a:prstGeom prst="rect">
            <a:avLst/>
          </a:prstGeom>
          <a:noFill/>
        </p:spPr>
        <p:txBody>
          <a:bodyPr wrap="square">
            <a:spAutoFit/>
          </a:bodyPr>
          <a:lstStyle/>
          <a:p>
            <a:pPr>
              <a:buClr>
                <a:schemeClr val="accent2"/>
              </a:buClr>
              <a:buSzPts val="3000"/>
            </a:pPr>
            <a:r>
              <a:rPr lang="en-US" sz="1800" dirty="0">
                <a:solidFill>
                  <a:schemeClr val="tx2">
                    <a:lumMod val="50000"/>
                  </a:schemeClr>
                </a:solidFill>
                <a:latin typeface="Poppins SemiBold"/>
                <a:cs typeface="Poppins SemiBold"/>
                <a:sym typeface="Poppins SemiBold"/>
              </a:rPr>
              <a:t>Text Book </a:t>
            </a:r>
          </a:p>
        </p:txBody>
      </p:sp>
      <p:pic>
        <p:nvPicPr>
          <p:cNvPr id="9" name="Picture 8">
            <a:extLst>
              <a:ext uri="{FF2B5EF4-FFF2-40B4-BE49-F238E27FC236}">
                <a16:creationId xmlns:a16="http://schemas.microsoft.com/office/drawing/2014/main" id="{9993F8D4-7852-CCC4-6103-ACB0A6FD49BA}"/>
              </a:ext>
            </a:extLst>
          </p:cNvPr>
          <p:cNvPicPr>
            <a:picLocks noChangeAspect="1"/>
          </p:cNvPicPr>
          <p:nvPr/>
        </p:nvPicPr>
        <p:blipFill>
          <a:blip r:embed="rId2"/>
          <a:stretch>
            <a:fillRect/>
          </a:stretch>
        </p:blipFill>
        <p:spPr>
          <a:xfrm>
            <a:off x="3890512" y="0"/>
            <a:ext cx="5253488" cy="5143500"/>
          </a:xfrm>
          <a:prstGeom prst="rect">
            <a:avLst/>
          </a:prstGeom>
        </p:spPr>
      </p:pic>
    </p:spTree>
    <p:extLst>
      <p:ext uri="{BB962C8B-B14F-4D97-AF65-F5344CB8AC3E}">
        <p14:creationId xmlns:p14="http://schemas.microsoft.com/office/powerpoint/2010/main" val="3967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0275AE-C247-A58A-1F57-950831EE191B}"/>
              </a:ext>
            </a:extLst>
          </p:cNvPr>
          <p:cNvSpPr txBox="1"/>
          <p:nvPr/>
        </p:nvSpPr>
        <p:spPr>
          <a:xfrm>
            <a:off x="767751" y="357774"/>
            <a:ext cx="11559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D149CE">
                    <a:lumMod val="50000"/>
                  </a:srgbClr>
                </a:solidFill>
                <a:effectLst/>
                <a:uLnTx/>
                <a:uFillTx/>
                <a:latin typeface="Candara" panose="020E0502030303020204" pitchFamily="34" charset="0"/>
                <a:cs typeface="Arial"/>
                <a:sym typeface="Arial"/>
              </a:rPr>
              <a:t>Content </a:t>
            </a:r>
          </a:p>
        </p:txBody>
      </p:sp>
      <p:pic>
        <p:nvPicPr>
          <p:cNvPr id="3" name="Picture 2">
            <a:extLst>
              <a:ext uri="{FF2B5EF4-FFF2-40B4-BE49-F238E27FC236}">
                <a16:creationId xmlns:a16="http://schemas.microsoft.com/office/drawing/2014/main" id="{888197AC-D907-F06E-0436-9DB5100F92F7}"/>
              </a:ext>
            </a:extLst>
          </p:cNvPr>
          <p:cNvPicPr>
            <a:picLocks noChangeAspect="1"/>
          </p:cNvPicPr>
          <p:nvPr/>
        </p:nvPicPr>
        <p:blipFill>
          <a:blip r:embed="rId2"/>
          <a:stretch>
            <a:fillRect/>
          </a:stretch>
        </p:blipFill>
        <p:spPr>
          <a:xfrm>
            <a:off x="2363638" y="612475"/>
            <a:ext cx="3613495" cy="435634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4772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6D413E-22CA-FA10-6D2E-DB64C0A8568A}"/>
              </a:ext>
            </a:extLst>
          </p:cNvPr>
          <p:cNvSpPr txBox="1"/>
          <p:nvPr/>
        </p:nvSpPr>
        <p:spPr>
          <a:xfrm>
            <a:off x="353684" y="1265482"/>
            <a:ext cx="7806906" cy="3046988"/>
          </a:xfrm>
          <a:prstGeom prst="rect">
            <a:avLst/>
          </a:prstGeom>
          <a:noFill/>
        </p:spPr>
        <p:txBody>
          <a:bodyPr wrap="square">
            <a:spAutoFit/>
          </a:bodyPr>
          <a:lstStyle/>
          <a:p>
            <a:pPr marL="285750" indent="-285750">
              <a:buFont typeface="Wingdings" panose="05000000000000000000" pitchFamily="2" charset="2"/>
              <a:buChar char="Ø"/>
            </a:pPr>
            <a:r>
              <a:rPr lang="en-US" sz="1600" dirty="0"/>
              <a:t>In nature, evolution is mostly determined by natural selection of different individuals competing for resources in the environment. Those individuals that are better are more likely to survive and propagate their genetic material.</a:t>
            </a:r>
          </a:p>
          <a:p>
            <a:endParaRPr lang="en-US" sz="1600" dirty="0"/>
          </a:p>
          <a:p>
            <a:pPr marL="285750" indent="-285750">
              <a:buFont typeface="Wingdings" panose="05000000000000000000" pitchFamily="2" charset="2"/>
              <a:buChar char="Ø"/>
            </a:pPr>
            <a:r>
              <a:rPr lang="en-US" sz="1600" dirty="0"/>
              <a:t>The encoding for genetic information (genome) is done in a way that admits reproduction, which results in offspring that are genetically identical to the parent. reproduction allows some exchange and re-ordering of chromosomes, producing offspring that contain a combination of information from each parent. This is the recombination operation, which is often referred to as crossover because of the way strands of chromosomes cross over during the exchange. </a:t>
            </a:r>
          </a:p>
          <a:p>
            <a:endParaRPr lang="en-US" sz="1600" dirty="0"/>
          </a:p>
          <a:p>
            <a:pPr marL="285750" indent="-285750">
              <a:buFont typeface="Wingdings" panose="05000000000000000000" pitchFamily="2" charset="2"/>
              <a:buChar char="Ø"/>
            </a:pPr>
            <a:r>
              <a:rPr lang="en-US" sz="1600" dirty="0"/>
              <a:t>The diversity in the population is achieved by mutation operation. </a:t>
            </a:r>
          </a:p>
        </p:txBody>
      </p:sp>
      <p:sp>
        <p:nvSpPr>
          <p:cNvPr id="7" name="TextBox 6">
            <a:extLst>
              <a:ext uri="{FF2B5EF4-FFF2-40B4-BE49-F238E27FC236}">
                <a16:creationId xmlns:a16="http://schemas.microsoft.com/office/drawing/2014/main" id="{229AA8B9-0B1F-09EA-8B46-98A02F89A3FA}"/>
              </a:ext>
            </a:extLst>
          </p:cNvPr>
          <p:cNvSpPr txBox="1"/>
          <p:nvPr/>
        </p:nvSpPr>
        <p:spPr>
          <a:xfrm>
            <a:off x="524055" y="691501"/>
            <a:ext cx="5447580"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Evolutionary Algorithms </a:t>
            </a:r>
          </a:p>
        </p:txBody>
      </p:sp>
    </p:spTree>
    <p:extLst>
      <p:ext uri="{BB962C8B-B14F-4D97-AF65-F5344CB8AC3E}">
        <p14:creationId xmlns:p14="http://schemas.microsoft.com/office/powerpoint/2010/main" val="101155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FA207-9CFC-071E-6647-D4A5BE54534D}"/>
              </a:ext>
            </a:extLst>
          </p:cNvPr>
          <p:cNvSpPr txBox="1"/>
          <p:nvPr/>
        </p:nvSpPr>
        <p:spPr>
          <a:xfrm>
            <a:off x="489549" y="971312"/>
            <a:ext cx="8257635" cy="3293209"/>
          </a:xfrm>
          <a:prstGeom prst="rect">
            <a:avLst/>
          </a:prstGeom>
          <a:noFill/>
        </p:spPr>
        <p:txBody>
          <a:bodyPr wrap="square">
            <a:spAutoFit/>
          </a:bodyPr>
          <a:lstStyle/>
          <a:p>
            <a:r>
              <a:rPr lang="en-US" sz="1600" dirty="0"/>
              <a:t>Usually grouped under the term evolutionary computation or evolutionary algorithms:</a:t>
            </a:r>
          </a:p>
          <a:p>
            <a:endParaRPr lang="en-US" sz="1600" dirty="0"/>
          </a:p>
          <a:p>
            <a:pPr marL="285750" indent="-285750">
              <a:buFont typeface="Wingdings" panose="05000000000000000000" pitchFamily="2" charset="2"/>
              <a:buChar char="Ø"/>
            </a:pPr>
            <a:r>
              <a:rPr lang="en-US" sz="1600" dirty="0"/>
              <a:t>genetic algorithms</a:t>
            </a:r>
          </a:p>
          <a:p>
            <a:r>
              <a:rPr lang="en-US" sz="1600" dirty="0"/>
              <a:t> </a:t>
            </a:r>
          </a:p>
          <a:p>
            <a:pPr marL="285750" indent="-285750">
              <a:buFont typeface="Wingdings" panose="05000000000000000000" pitchFamily="2" charset="2"/>
              <a:buChar char="Ø"/>
            </a:pPr>
            <a:r>
              <a:rPr lang="en-US" sz="1600" dirty="0"/>
              <a:t>evolution strategies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evolutionary programming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genetic programming .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solidFill>
                  <a:srgbClr val="C00000"/>
                </a:solidFill>
              </a:rPr>
              <a:t>They all share a common conceptual base of simulating the evolution of individual structures via processes of </a:t>
            </a:r>
            <a:r>
              <a:rPr lang="en-US" sz="1600" b="1" dirty="0">
                <a:solidFill>
                  <a:srgbClr val="00B050"/>
                </a:solidFill>
              </a:rPr>
              <a:t>selection</a:t>
            </a:r>
            <a:r>
              <a:rPr lang="en-US" sz="1600" b="1" dirty="0">
                <a:solidFill>
                  <a:srgbClr val="C00000"/>
                </a:solidFill>
              </a:rPr>
              <a:t>, </a:t>
            </a:r>
            <a:r>
              <a:rPr lang="en-US" sz="1600" b="1" dirty="0">
                <a:solidFill>
                  <a:srgbClr val="00B050"/>
                </a:solidFill>
              </a:rPr>
              <a:t>recombination</a:t>
            </a:r>
            <a:r>
              <a:rPr lang="en-US" sz="1600" b="1" dirty="0">
                <a:solidFill>
                  <a:srgbClr val="C00000"/>
                </a:solidFill>
              </a:rPr>
              <a:t> and </a:t>
            </a:r>
            <a:r>
              <a:rPr lang="en-US" sz="1600" b="1" dirty="0">
                <a:solidFill>
                  <a:srgbClr val="00B050"/>
                </a:solidFill>
              </a:rPr>
              <a:t>mutation </a:t>
            </a:r>
            <a:r>
              <a:rPr lang="en-US" sz="1600" b="1" dirty="0">
                <a:solidFill>
                  <a:srgbClr val="C00000"/>
                </a:solidFill>
              </a:rPr>
              <a:t>reproduction and thereby producing better solutions. </a:t>
            </a:r>
          </a:p>
        </p:txBody>
      </p:sp>
    </p:spTree>
    <p:extLst>
      <p:ext uri="{BB962C8B-B14F-4D97-AF65-F5344CB8AC3E}">
        <p14:creationId xmlns:p14="http://schemas.microsoft.com/office/powerpoint/2010/main" val="948904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57340B-FD31-E411-2007-CD65269FAF9C}"/>
              </a:ext>
            </a:extLst>
          </p:cNvPr>
          <p:cNvPicPr>
            <a:picLocks noChangeAspect="1"/>
          </p:cNvPicPr>
          <p:nvPr/>
        </p:nvPicPr>
        <p:blipFill>
          <a:blip r:embed="rId2"/>
          <a:stretch>
            <a:fillRect/>
          </a:stretch>
        </p:blipFill>
        <p:spPr>
          <a:xfrm>
            <a:off x="504646" y="643832"/>
            <a:ext cx="4421038" cy="3855834"/>
          </a:xfrm>
          <a:prstGeom prst="rect">
            <a:avLst/>
          </a:prstGeom>
        </p:spPr>
      </p:pic>
      <p:pic>
        <p:nvPicPr>
          <p:cNvPr id="3" name="Picture 2">
            <a:extLst>
              <a:ext uri="{FF2B5EF4-FFF2-40B4-BE49-F238E27FC236}">
                <a16:creationId xmlns:a16="http://schemas.microsoft.com/office/drawing/2014/main" id="{F5B114BC-0487-C535-0118-ABD9345BC97D}"/>
              </a:ext>
            </a:extLst>
          </p:cNvPr>
          <p:cNvPicPr>
            <a:picLocks noChangeAspect="1"/>
          </p:cNvPicPr>
          <p:nvPr/>
        </p:nvPicPr>
        <p:blipFill>
          <a:blip r:embed="rId3"/>
          <a:stretch>
            <a:fillRect/>
          </a:stretch>
        </p:blipFill>
        <p:spPr>
          <a:xfrm>
            <a:off x="5128762" y="499772"/>
            <a:ext cx="3877216" cy="4143953"/>
          </a:xfrm>
          <a:prstGeom prst="rect">
            <a:avLst/>
          </a:prstGeom>
        </p:spPr>
      </p:pic>
    </p:spTree>
    <p:extLst>
      <p:ext uri="{BB962C8B-B14F-4D97-AF65-F5344CB8AC3E}">
        <p14:creationId xmlns:p14="http://schemas.microsoft.com/office/powerpoint/2010/main" val="2637232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6BD54C-C644-E4CF-D58B-FEDC215C26AA}"/>
              </a:ext>
            </a:extLst>
          </p:cNvPr>
          <p:cNvPicPr>
            <a:picLocks noChangeAspect="1"/>
          </p:cNvPicPr>
          <p:nvPr/>
        </p:nvPicPr>
        <p:blipFill>
          <a:blip r:embed="rId2"/>
          <a:stretch>
            <a:fillRect/>
          </a:stretch>
        </p:blipFill>
        <p:spPr>
          <a:xfrm>
            <a:off x="871268" y="923025"/>
            <a:ext cx="7039155" cy="3709605"/>
          </a:xfrm>
          <a:prstGeom prst="rect">
            <a:avLst/>
          </a:prstGeom>
        </p:spPr>
      </p:pic>
      <p:sp>
        <p:nvSpPr>
          <p:cNvPr id="5" name="TextBox 4">
            <a:extLst>
              <a:ext uri="{FF2B5EF4-FFF2-40B4-BE49-F238E27FC236}">
                <a16:creationId xmlns:a16="http://schemas.microsoft.com/office/drawing/2014/main" id="{2089FEC0-B408-E6CA-46C1-7E331B7DAAA7}"/>
              </a:ext>
            </a:extLst>
          </p:cNvPr>
          <p:cNvSpPr txBox="1"/>
          <p:nvPr/>
        </p:nvSpPr>
        <p:spPr>
          <a:xfrm>
            <a:off x="508958" y="399805"/>
            <a:ext cx="7168551"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The correspondence between natural evolution and problem solving </a:t>
            </a:r>
          </a:p>
        </p:txBody>
      </p:sp>
    </p:spTree>
    <p:extLst>
      <p:ext uri="{BB962C8B-B14F-4D97-AF65-F5344CB8AC3E}">
        <p14:creationId xmlns:p14="http://schemas.microsoft.com/office/powerpoint/2010/main" val="91064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F09B38-E0B8-9E69-446C-3D751CF693E4}"/>
              </a:ext>
            </a:extLst>
          </p:cNvPr>
          <p:cNvPicPr>
            <a:picLocks noChangeAspect="1"/>
          </p:cNvPicPr>
          <p:nvPr/>
        </p:nvPicPr>
        <p:blipFill>
          <a:blip r:embed="rId2"/>
          <a:stretch>
            <a:fillRect/>
          </a:stretch>
        </p:blipFill>
        <p:spPr>
          <a:xfrm>
            <a:off x="1161941" y="707367"/>
            <a:ext cx="7458471" cy="35713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85176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BC563B-3A66-C74C-DF0D-547A4638164D}"/>
              </a:ext>
            </a:extLst>
          </p:cNvPr>
          <p:cNvSpPr txBox="1"/>
          <p:nvPr/>
        </p:nvSpPr>
        <p:spPr>
          <a:xfrm>
            <a:off x="1015761" y="475949"/>
            <a:ext cx="7024058"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The variants of evolutionary algorithms differ only in technical details</a:t>
            </a:r>
          </a:p>
        </p:txBody>
      </p:sp>
      <p:pic>
        <p:nvPicPr>
          <p:cNvPr id="5" name="Picture 4">
            <a:extLst>
              <a:ext uri="{FF2B5EF4-FFF2-40B4-BE49-F238E27FC236}">
                <a16:creationId xmlns:a16="http://schemas.microsoft.com/office/drawing/2014/main" id="{CD9C6C5C-7A58-B008-886C-5EF4662A6AE0}"/>
              </a:ext>
            </a:extLst>
          </p:cNvPr>
          <p:cNvPicPr>
            <a:picLocks noChangeAspect="1"/>
          </p:cNvPicPr>
          <p:nvPr/>
        </p:nvPicPr>
        <p:blipFill>
          <a:blip r:embed="rId2"/>
          <a:stretch>
            <a:fillRect/>
          </a:stretch>
        </p:blipFill>
        <p:spPr>
          <a:xfrm>
            <a:off x="724618" y="1372687"/>
            <a:ext cx="7729269" cy="2398126"/>
          </a:xfrm>
          <a:prstGeom prst="rect">
            <a:avLst/>
          </a:prstGeom>
          <a:ln>
            <a:solidFill>
              <a:schemeClr val="tx2">
                <a:lumMod val="50000"/>
              </a:schemeClr>
            </a:solidFill>
          </a:ln>
        </p:spPr>
      </p:pic>
    </p:spTree>
    <p:extLst>
      <p:ext uri="{BB962C8B-B14F-4D97-AF65-F5344CB8AC3E}">
        <p14:creationId xmlns:p14="http://schemas.microsoft.com/office/powerpoint/2010/main" val="69017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D91FBE-0B33-95EA-42CD-FC549E3B0100}"/>
              </a:ext>
            </a:extLst>
          </p:cNvPr>
          <p:cNvSpPr txBox="1"/>
          <p:nvPr/>
        </p:nvSpPr>
        <p:spPr>
          <a:xfrm>
            <a:off x="782848" y="497406"/>
            <a:ext cx="5361316"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How to Build an Evolutionary Algorithm? </a:t>
            </a:r>
          </a:p>
        </p:txBody>
      </p:sp>
      <p:pic>
        <p:nvPicPr>
          <p:cNvPr id="5" name="Picture 4">
            <a:extLst>
              <a:ext uri="{FF2B5EF4-FFF2-40B4-BE49-F238E27FC236}">
                <a16:creationId xmlns:a16="http://schemas.microsoft.com/office/drawing/2014/main" id="{8101B408-AF3A-706A-732E-3BF8143DA892}"/>
              </a:ext>
            </a:extLst>
          </p:cNvPr>
          <p:cNvPicPr>
            <a:picLocks noChangeAspect="1"/>
          </p:cNvPicPr>
          <p:nvPr/>
        </p:nvPicPr>
        <p:blipFill>
          <a:blip r:embed="rId2"/>
          <a:stretch>
            <a:fillRect/>
          </a:stretch>
        </p:blipFill>
        <p:spPr>
          <a:xfrm>
            <a:off x="1121434" y="866738"/>
            <a:ext cx="6461186" cy="3779356"/>
          </a:xfrm>
          <a:prstGeom prst="rect">
            <a:avLst/>
          </a:prstGeom>
          <a:ln>
            <a:solidFill>
              <a:schemeClr val="tx2">
                <a:lumMod val="50000"/>
              </a:schemeClr>
            </a:solidFill>
          </a:ln>
        </p:spPr>
      </p:pic>
    </p:spTree>
    <p:extLst>
      <p:ext uri="{BB962C8B-B14F-4D97-AF65-F5344CB8AC3E}">
        <p14:creationId xmlns:p14="http://schemas.microsoft.com/office/powerpoint/2010/main" val="107827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9A0EEB-4456-7F13-2C95-5C0A5A6274C2}"/>
              </a:ext>
            </a:extLst>
          </p:cNvPr>
          <p:cNvSpPr txBox="1"/>
          <p:nvPr/>
        </p:nvSpPr>
        <p:spPr>
          <a:xfrm>
            <a:off x="1058892" y="1390348"/>
            <a:ext cx="7912579" cy="1569660"/>
          </a:xfrm>
          <a:prstGeom prst="rect">
            <a:avLst/>
          </a:prstGeom>
          <a:solidFill>
            <a:schemeClr val="tx2">
              <a:lumMod val="20000"/>
              <a:lumOff val="80000"/>
            </a:schemeClr>
          </a:solidFill>
        </p:spPr>
        <p:txBody>
          <a:bodyPr wrap="square">
            <a:spAutoFit/>
          </a:bodyPr>
          <a:lstStyle/>
          <a:p>
            <a:pPr marL="285750" indent="-285750">
              <a:buFont typeface="Wingdings" panose="05000000000000000000" pitchFamily="2" charset="2"/>
              <a:buChar char="Ø"/>
            </a:pPr>
            <a:r>
              <a:rPr lang="en-US" sz="1600" dirty="0"/>
              <a:t>The most widely known type of evolutionary algorithms and probable the most used are genetic algorithms.</a:t>
            </a:r>
          </a:p>
          <a:p>
            <a:endParaRPr lang="en-US" sz="1600" dirty="0"/>
          </a:p>
          <a:p>
            <a:pPr marL="285750" indent="-285750">
              <a:buFont typeface="Wingdings" panose="05000000000000000000" pitchFamily="2" charset="2"/>
              <a:buChar char="Ø"/>
            </a:pPr>
            <a:r>
              <a:rPr lang="en-US" sz="1600" dirty="0"/>
              <a:t>Simple to implement and use</a:t>
            </a:r>
          </a:p>
          <a:p>
            <a:endParaRPr lang="en-US" sz="1600" dirty="0"/>
          </a:p>
          <a:p>
            <a:pPr marL="285750" indent="-285750">
              <a:buFont typeface="Wingdings" panose="05000000000000000000" pitchFamily="2" charset="2"/>
              <a:buChar char="Ø"/>
            </a:pPr>
            <a:r>
              <a:rPr lang="en-US" sz="1600" dirty="0"/>
              <a:t>one of the most suitable techniques for any kind of optimization problem</a:t>
            </a:r>
          </a:p>
        </p:txBody>
      </p:sp>
      <p:sp>
        <p:nvSpPr>
          <p:cNvPr id="5" name="TextBox 4">
            <a:extLst>
              <a:ext uri="{FF2B5EF4-FFF2-40B4-BE49-F238E27FC236}">
                <a16:creationId xmlns:a16="http://schemas.microsoft.com/office/drawing/2014/main" id="{8AD6FF70-95E0-D0E3-3BEA-F599DCFF93A6}"/>
              </a:ext>
            </a:extLst>
          </p:cNvPr>
          <p:cNvSpPr txBox="1"/>
          <p:nvPr/>
        </p:nvSpPr>
        <p:spPr>
          <a:xfrm>
            <a:off x="955376" y="497406"/>
            <a:ext cx="5361316"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Genetic Algorithms </a:t>
            </a:r>
          </a:p>
        </p:txBody>
      </p:sp>
    </p:spTree>
    <p:extLst>
      <p:ext uri="{BB962C8B-B14F-4D97-AF65-F5344CB8AC3E}">
        <p14:creationId xmlns:p14="http://schemas.microsoft.com/office/powerpoint/2010/main" val="3102182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3191D-7C14-3ECA-4BF1-99032152A09E}"/>
              </a:ext>
            </a:extLst>
          </p:cNvPr>
          <p:cNvPicPr>
            <a:picLocks noChangeAspect="1"/>
          </p:cNvPicPr>
          <p:nvPr/>
        </p:nvPicPr>
        <p:blipFill>
          <a:blip r:embed="rId2"/>
          <a:stretch>
            <a:fillRect/>
          </a:stretch>
        </p:blipFill>
        <p:spPr>
          <a:xfrm>
            <a:off x="957532" y="508958"/>
            <a:ext cx="7504981" cy="4244197"/>
          </a:xfrm>
          <a:prstGeom prst="rect">
            <a:avLst/>
          </a:prstGeom>
        </p:spPr>
      </p:pic>
    </p:spTree>
    <p:extLst>
      <p:ext uri="{BB962C8B-B14F-4D97-AF65-F5344CB8AC3E}">
        <p14:creationId xmlns:p14="http://schemas.microsoft.com/office/powerpoint/2010/main" val="3541330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212985-B591-3664-260F-E8FD411FC82A}"/>
              </a:ext>
            </a:extLst>
          </p:cNvPr>
          <p:cNvSpPr txBox="1"/>
          <p:nvPr/>
        </p:nvSpPr>
        <p:spPr>
          <a:xfrm>
            <a:off x="472298" y="605898"/>
            <a:ext cx="5361316"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Designing a Representation </a:t>
            </a:r>
          </a:p>
        </p:txBody>
      </p:sp>
      <p:sp>
        <p:nvSpPr>
          <p:cNvPr id="5" name="TextBox 4">
            <a:extLst>
              <a:ext uri="{FF2B5EF4-FFF2-40B4-BE49-F238E27FC236}">
                <a16:creationId xmlns:a16="http://schemas.microsoft.com/office/drawing/2014/main" id="{A6C6AE4F-B938-7062-F34E-D754B4D4E078}"/>
              </a:ext>
            </a:extLst>
          </p:cNvPr>
          <p:cNvSpPr txBox="1"/>
          <p:nvPr/>
        </p:nvSpPr>
        <p:spPr>
          <a:xfrm>
            <a:off x="394660" y="1213615"/>
            <a:ext cx="8119612" cy="3139321"/>
          </a:xfrm>
          <a:prstGeom prst="rect">
            <a:avLst/>
          </a:prstGeom>
          <a:noFill/>
          <a:ln>
            <a:solidFill>
              <a:schemeClr val="tx2">
                <a:lumMod val="50000"/>
              </a:schemeClr>
            </a:solidFill>
          </a:ln>
        </p:spPr>
        <p:txBody>
          <a:bodyPr wrap="square">
            <a:spAutoFit/>
          </a:bodyPr>
          <a:lstStyle/>
          <a:p>
            <a:pPr marL="285750" indent="-285750">
              <a:buFont typeface="Wingdings" panose="05000000000000000000" pitchFamily="2" charset="2"/>
              <a:buChar char="Ø"/>
            </a:pPr>
            <a:r>
              <a:rPr lang="en-US" dirty="0"/>
              <a:t>Representation here refers to a way of representing an individual as a genotype. An individual is also known as chromosome and it is composed of a set of genes. </a:t>
            </a:r>
          </a:p>
          <a:p>
            <a:endParaRPr lang="en-US" dirty="0"/>
          </a:p>
          <a:p>
            <a:pPr marL="285750" indent="-285750">
              <a:buFont typeface="Wingdings" panose="05000000000000000000" pitchFamily="2" charset="2"/>
              <a:buChar char="Ø"/>
            </a:pPr>
            <a:r>
              <a:rPr lang="en-US" sz="1600" u="sng" dirty="0">
                <a:solidFill>
                  <a:srgbClr val="FF0000"/>
                </a:solidFill>
              </a:rPr>
              <a:t>Representation</a:t>
            </a:r>
            <a:r>
              <a:rPr lang="en-US" dirty="0">
                <a:solidFill>
                  <a:srgbClr val="FF0000"/>
                </a:solidFill>
              </a:rPr>
              <a:t> of individuals is one of the most important steps in designing a  genetic algorithm</a:t>
            </a:r>
            <a:r>
              <a:rPr lang="en-US" dirty="0"/>
              <a: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For one problem there can be multiple possible representations; thus, we have to be able to decide which one is more adequate to satisfy our needs and requirements.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most important types of representing an individual:</a:t>
            </a:r>
          </a:p>
          <a:p>
            <a:r>
              <a:rPr lang="en-US" dirty="0"/>
              <a:t>     • binary representation; </a:t>
            </a:r>
          </a:p>
          <a:p>
            <a:r>
              <a:rPr lang="en-US" dirty="0"/>
              <a:t>     • integer representation; </a:t>
            </a:r>
          </a:p>
          <a:p>
            <a:r>
              <a:rPr lang="en-US" dirty="0"/>
              <a:t>     • real valued or floating- point representation; </a:t>
            </a:r>
          </a:p>
          <a:p>
            <a:r>
              <a:rPr lang="en-US" dirty="0"/>
              <a:t>     • order based or permutation representation. </a:t>
            </a:r>
          </a:p>
        </p:txBody>
      </p:sp>
    </p:spTree>
    <p:extLst>
      <p:ext uri="{BB962C8B-B14F-4D97-AF65-F5344CB8AC3E}">
        <p14:creationId xmlns:p14="http://schemas.microsoft.com/office/powerpoint/2010/main" val="2268274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E80BB8-507D-1500-5758-20ED7E3BC41F}"/>
              </a:ext>
            </a:extLst>
          </p:cNvPr>
          <p:cNvSpPr txBox="1"/>
          <p:nvPr/>
        </p:nvSpPr>
        <p:spPr>
          <a:xfrm>
            <a:off x="437790" y="510347"/>
            <a:ext cx="5447580"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1-Binary Representation</a:t>
            </a:r>
          </a:p>
        </p:txBody>
      </p:sp>
      <p:sp>
        <p:nvSpPr>
          <p:cNvPr id="4" name="TextBox 3">
            <a:extLst>
              <a:ext uri="{FF2B5EF4-FFF2-40B4-BE49-F238E27FC236}">
                <a16:creationId xmlns:a16="http://schemas.microsoft.com/office/drawing/2014/main" id="{3B9FD439-497E-B8FE-A3EF-7023B879F92A}"/>
              </a:ext>
            </a:extLst>
          </p:cNvPr>
          <p:cNvSpPr txBox="1"/>
          <p:nvPr/>
        </p:nvSpPr>
        <p:spPr>
          <a:xfrm>
            <a:off x="437790" y="1192049"/>
            <a:ext cx="8249010" cy="523220"/>
          </a:xfrm>
          <a:prstGeom prst="rect">
            <a:avLst/>
          </a:prstGeom>
          <a:noFill/>
        </p:spPr>
        <p:txBody>
          <a:bodyPr wrap="square">
            <a:spAutoFit/>
          </a:bodyPr>
          <a:lstStyle/>
          <a:p>
            <a:pPr>
              <a:buNone/>
            </a:pPr>
            <a:r>
              <a:rPr lang="en-US" b="1" dirty="0"/>
              <a:t>Binary representation</a:t>
            </a:r>
            <a:r>
              <a:rPr lang="en-US" dirty="0"/>
              <a:t> is the most classical and fundamental way to encode solutions in genetic algorithms. Each solution (individual) is represented as a string of bits (0s and 1s).</a:t>
            </a:r>
          </a:p>
        </p:txBody>
      </p:sp>
      <p:pic>
        <p:nvPicPr>
          <p:cNvPr id="6" name="Picture 5">
            <a:extLst>
              <a:ext uri="{FF2B5EF4-FFF2-40B4-BE49-F238E27FC236}">
                <a16:creationId xmlns:a16="http://schemas.microsoft.com/office/drawing/2014/main" id="{4F28A608-261C-D6CF-6653-6FEA4B405B15}"/>
              </a:ext>
            </a:extLst>
          </p:cNvPr>
          <p:cNvPicPr>
            <a:picLocks noChangeAspect="1"/>
          </p:cNvPicPr>
          <p:nvPr/>
        </p:nvPicPr>
        <p:blipFill>
          <a:blip r:embed="rId2"/>
          <a:stretch>
            <a:fillRect/>
          </a:stretch>
        </p:blipFill>
        <p:spPr>
          <a:xfrm>
            <a:off x="1958196" y="2128775"/>
            <a:ext cx="4176122" cy="885949"/>
          </a:xfrm>
          <a:prstGeom prst="rect">
            <a:avLst/>
          </a:prstGeom>
        </p:spPr>
      </p:pic>
      <p:sp>
        <p:nvSpPr>
          <p:cNvPr id="10" name="TextBox 9">
            <a:extLst>
              <a:ext uri="{FF2B5EF4-FFF2-40B4-BE49-F238E27FC236}">
                <a16:creationId xmlns:a16="http://schemas.microsoft.com/office/drawing/2014/main" id="{15B4DFF2-C754-916B-8243-58815C274BDE}"/>
              </a:ext>
            </a:extLst>
          </p:cNvPr>
          <p:cNvSpPr txBox="1"/>
          <p:nvPr/>
        </p:nvSpPr>
        <p:spPr>
          <a:xfrm>
            <a:off x="506802" y="3120453"/>
            <a:ext cx="5447580" cy="307777"/>
          </a:xfrm>
          <a:prstGeom prst="rect">
            <a:avLst/>
          </a:prstGeom>
          <a:noFill/>
        </p:spPr>
        <p:txBody>
          <a:bodyPr wrap="square">
            <a:spAutoFit/>
          </a:bodyPr>
          <a:lstStyle/>
          <a:p>
            <a:pPr>
              <a:buNone/>
            </a:pPr>
            <a:r>
              <a:rPr lang="en-US" b="1" dirty="0"/>
              <a:t>Why Binary Representation is Popular</a:t>
            </a:r>
          </a:p>
        </p:txBody>
      </p:sp>
      <p:sp>
        <p:nvSpPr>
          <p:cNvPr id="13" name="TextBox 12">
            <a:extLst>
              <a:ext uri="{FF2B5EF4-FFF2-40B4-BE49-F238E27FC236}">
                <a16:creationId xmlns:a16="http://schemas.microsoft.com/office/drawing/2014/main" id="{BC7D0226-F4FB-14BF-E518-53731BA16391}"/>
              </a:ext>
            </a:extLst>
          </p:cNvPr>
          <p:cNvSpPr txBox="1"/>
          <p:nvPr/>
        </p:nvSpPr>
        <p:spPr>
          <a:xfrm>
            <a:off x="506802" y="3440400"/>
            <a:ext cx="5447580" cy="1169551"/>
          </a:xfrm>
          <a:prstGeom prst="rect">
            <a:avLst/>
          </a:prstGeom>
          <a:noFill/>
        </p:spPr>
        <p:txBody>
          <a:bodyPr wrap="square">
            <a:spAutoFit/>
          </a:bodyPr>
          <a:lstStyle/>
          <a:p>
            <a:pPr marL="285750" indent="-285750">
              <a:buFont typeface="Wingdings" panose="05000000000000000000" pitchFamily="2" charset="2"/>
              <a:buChar char="Ø"/>
            </a:pPr>
            <a:r>
              <a:rPr lang="en-US" dirty="0"/>
              <a:t>Simplicity - Easy to implement and understand</a:t>
            </a:r>
          </a:p>
          <a:p>
            <a:endParaRPr lang="en-US" dirty="0"/>
          </a:p>
          <a:p>
            <a:pPr marL="285750" indent="-285750">
              <a:buFont typeface="Wingdings" panose="05000000000000000000" pitchFamily="2" charset="2"/>
              <a:buChar char="Ø"/>
            </a:pPr>
            <a:r>
              <a:rPr lang="en-US" dirty="0"/>
              <a:t>Natural for crossover - Bits can be easily combined</a:t>
            </a:r>
          </a:p>
          <a:p>
            <a:endParaRPr lang="en-US" dirty="0"/>
          </a:p>
          <a:p>
            <a:pPr marL="285750" indent="-285750">
              <a:buFont typeface="Wingdings" panose="05000000000000000000" pitchFamily="2" charset="2"/>
              <a:buChar char="Ø"/>
            </a:pPr>
            <a:r>
              <a:rPr lang="en-US" dirty="0"/>
              <a:t>Hardware analogy - Mimics digital computer architecture</a:t>
            </a:r>
          </a:p>
        </p:txBody>
      </p:sp>
    </p:spTree>
    <p:extLst>
      <p:ext uri="{BB962C8B-B14F-4D97-AF65-F5344CB8AC3E}">
        <p14:creationId xmlns:p14="http://schemas.microsoft.com/office/powerpoint/2010/main" val="111210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A53D5C-1A6B-D82B-59F2-C072CAEE2A96}"/>
              </a:ext>
            </a:extLst>
          </p:cNvPr>
          <p:cNvSpPr txBox="1"/>
          <p:nvPr/>
        </p:nvSpPr>
        <p:spPr>
          <a:xfrm>
            <a:off x="73305" y="265403"/>
            <a:ext cx="4565530" cy="369332"/>
          </a:xfrm>
          <a:prstGeom prst="rect">
            <a:avLst/>
          </a:prstGeom>
          <a:noFill/>
        </p:spPr>
        <p:txBody>
          <a:bodyPr wrap="square">
            <a:spAutoFit/>
          </a:bodyPr>
          <a:lstStyle/>
          <a:p>
            <a:r>
              <a:rPr lang="en-US" sz="1800" b="1" dirty="0">
                <a:solidFill>
                  <a:srgbClr val="0070C0"/>
                </a:solidFill>
                <a:latin typeface="Candara" panose="020E0502030303020204" pitchFamily="34" charset="0"/>
              </a:rPr>
              <a:t>1-Binary  Representation</a:t>
            </a:r>
          </a:p>
        </p:txBody>
      </p:sp>
      <p:sp>
        <p:nvSpPr>
          <p:cNvPr id="6" name="TextBox 5">
            <a:extLst>
              <a:ext uri="{FF2B5EF4-FFF2-40B4-BE49-F238E27FC236}">
                <a16:creationId xmlns:a16="http://schemas.microsoft.com/office/drawing/2014/main" id="{FE7644C0-7D14-0AB0-E662-1012A7085E70}"/>
              </a:ext>
            </a:extLst>
          </p:cNvPr>
          <p:cNvSpPr txBox="1"/>
          <p:nvPr/>
        </p:nvSpPr>
        <p:spPr>
          <a:xfrm>
            <a:off x="73305" y="1232922"/>
            <a:ext cx="5447580" cy="2677656"/>
          </a:xfrm>
          <a:prstGeom prst="rect">
            <a:avLst/>
          </a:prstGeom>
          <a:noFill/>
        </p:spPr>
        <p:txBody>
          <a:bodyPr wrap="square">
            <a:spAutoFit/>
          </a:bodyPr>
          <a:lstStyle/>
          <a:p>
            <a:r>
              <a:rPr lang="en-US" dirty="0"/>
              <a:t>[1, 0, 1, 1, 0, 1, 0, 0] means:</a:t>
            </a:r>
          </a:p>
          <a:p>
            <a:r>
              <a:rPr lang="en-US" dirty="0"/>
              <a:t>- Tent: Yes (1)</a:t>
            </a:r>
          </a:p>
          <a:p>
            <a:r>
              <a:rPr lang="en-US" dirty="0"/>
              <a:t>- Sleeping Bag: No (0)</a:t>
            </a:r>
          </a:p>
          <a:p>
            <a:r>
              <a:rPr lang="en-US" dirty="0"/>
              <a:t>- Food: Yes (1)</a:t>
            </a:r>
          </a:p>
          <a:p>
            <a:r>
              <a:rPr lang="en-US" dirty="0"/>
              <a:t>- Stove: Yes (1)</a:t>
            </a:r>
          </a:p>
          <a:p>
            <a:r>
              <a:rPr lang="en-US" dirty="0"/>
              <a:t>- Water Filter: No (0)</a:t>
            </a:r>
          </a:p>
          <a:p>
            <a:r>
              <a:rPr lang="en-US" dirty="0"/>
              <a:t>- First Aid Kit: Yes (1)</a:t>
            </a:r>
          </a:p>
          <a:p>
            <a:r>
              <a:rPr lang="en-US" dirty="0"/>
              <a:t>- Camping Chair: No (0)</a:t>
            </a:r>
          </a:p>
          <a:p>
            <a:r>
              <a:rPr lang="en-US" dirty="0"/>
              <a:t>- Extra Clothes: No (0)</a:t>
            </a:r>
          </a:p>
          <a:p>
            <a:endParaRPr lang="en-US" dirty="0"/>
          </a:p>
          <a:p>
            <a:r>
              <a:rPr lang="en-US" dirty="0"/>
              <a:t>Total weight = 4 + 5 + 2 + 2 = 13 kg (within limit ✓)</a:t>
            </a:r>
          </a:p>
          <a:p>
            <a:r>
              <a:rPr lang="en-US" dirty="0"/>
              <a:t>Total value = 9 + 7 + 5 + 4 = 25</a:t>
            </a:r>
          </a:p>
        </p:txBody>
      </p:sp>
      <p:sp>
        <p:nvSpPr>
          <p:cNvPr id="10" name="TextBox 9">
            <a:extLst>
              <a:ext uri="{FF2B5EF4-FFF2-40B4-BE49-F238E27FC236}">
                <a16:creationId xmlns:a16="http://schemas.microsoft.com/office/drawing/2014/main" id="{98D0ACD9-A666-4B15-577A-8BD3838FDA0D}"/>
              </a:ext>
            </a:extLst>
          </p:cNvPr>
          <p:cNvSpPr txBox="1"/>
          <p:nvPr/>
        </p:nvSpPr>
        <p:spPr>
          <a:xfrm>
            <a:off x="84068" y="779940"/>
            <a:ext cx="5447580" cy="307777"/>
          </a:xfrm>
          <a:prstGeom prst="rect">
            <a:avLst/>
          </a:prstGeom>
          <a:noFill/>
        </p:spPr>
        <p:txBody>
          <a:bodyPr wrap="square">
            <a:spAutoFit/>
          </a:bodyPr>
          <a:lstStyle/>
          <a:p>
            <a:r>
              <a:rPr lang="en-US" b="1" dirty="0">
                <a:solidFill>
                  <a:srgbClr val="C00000"/>
                </a:solidFill>
              </a:rPr>
              <a:t>The Knapsack Problem for a Backpacking Trip</a:t>
            </a:r>
            <a:endParaRPr lang="en-US" dirty="0">
              <a:solidFill>
                <a:srgbClr val="C00000"/>
              </a:solidFill>
            </a:endParaRPr>
          </a:p>
        </p:txBody>
      </p:sp>
      <p:pic>
        <p:nvPicPr>
          <p:cNvPr id="12" name="Picture 11">
            <a:extLst>
              <a:ext uri="{FF2B5EF4-FFF2-40B4-BE49-F238E27FC236}">
                <a16:creationId xmlns:a16="http://schemas.microsoft.com/office/drawing/2014/main" id="{46A8B62B-7DC8-A999-FFBC-D756889E6CEC}"/>
              </a:ext>
            </a:extLst>
          </p:cNvPr>
          <p:cNvPicPr>
            <a:picLocks noChangeAspect="1"/>
          </p:cNvPicPr>
          <p:nvPr/>
        </p:nvPicPr>
        <p:blipFill>
          <a:blip r:embed="rId2"/>
          <a:stretch>
            <a:fillRect/>
          </a:stretch>
        </p:blipFill>
        <p:spPr>
          <a:xfrm>
            <a:off x="5020574" y="521148"/>
            <a:ext cx="3571334" cy="3472883"/>
          </a:xfrm>
          <a:prstGeom prst="rect">
            <a:avLst/>
          </a:prstGeom>
        </p:spPr>
      </p:pic>
    </p:spTree>
    <p:extLst>
      <p:ext uri="{BB962C8B-B14F-4D97-AF65-F5344CB8AC3E}">
        <p14:creationId xmlns:p14="http://schemas.microsoft.com/office/powerpoint/2010/main" val="258501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5A1E2C-48F8-03A4-3831-04F86897210A}"/>
              </a:ext>
            </a:extLst>
          </p:cNvPr>
          <p:cNvSpPr txBox="1"/>
          <p:nvPr/>
        </p:nvSpPr>
        <p:spPr>
          <a:xfrm>
            <a:off x="491706" y="2483424"/>
            <a:ext cx="3616622" cy="1846659"/>
          </a:xfrm>
          <a:prstGeom prst="rect">
            <a:avLst/>
          </a:prstGeom>
          <a:noFill/>
        </p:spPr>
        <p:txBody>
          <a:bodyPr wrap="square">
            <a:spAutoFit/>
          </a:bodyPr>
          <a:lstStyle/>
          <a:p>
            <a:r>
              <a:rPr lang="en-US" sz="1600" b="1" dirty="0">
                <a:solidFill>
                  <a:schemeClr val="tx2">
                    <a:lumMod val="50000"/>
                  </a:schemeClr>
                </a:solidFill>
                <a:latin typeface="+mn-lt"/>
              </a:rPr>
              <a:t>1-Single point crossover</a:t>
            </a:r>
          </a:p>
          <a:p>
            <a:endParaRPr lang="en-US" sz="1600" b="1" dirty="0">
              <a:solidFill>
                <a:schemeClr val="tx2">
                  <a:lumMod val="50000"/>
                </a:schemeClr>
              </a:solidFill>
              <a:latin typeface="+mn-lt"/>
            </a:endParaRPr>
          </a:p>
          <a:p>
            <a:r>
              <a:rPr lang="en-US" sz="1600" b="1" dirty="0">
                <a:solidFill>
                  <a:schemeClr val="tx2">
                    <a:lumMod val="50000"/>
                  </a:schemeClr>
                </a:solidFill>
                <a:latin typeface="+mn-lt"/>
              </a:rPr>
              <a:t>2-Double point crossover</a:t>
            </a:r>
          </a:p>
          <a:p>
            <a:endParaRPr lang="en-US" sz="1600" b="1" dirty="0">
              <a:solidFill>
                <a:schemeClr val="tx2">
                  <a:lumMod val="50000"/>
                </a:schemeClr>
              </a:solidFill>
              <a:latin typeface="+mn-lt"/>
            </a:endParaRPr>
          </a:p>
          <a:p>
            <a:r>
              <a:rPr lang="en-US" sz="1600" b="1" dirty="0">
                <a:solidFill>
                  <a:schemeClr val="tx2">
                    <a:lumMod val="50000"/>
                  </a:schemeClr>
                </a:solidFill>
                <a:latin typeface="+mn-lt"/>
              </a:rPr>
              <a:t>3-Uniform crossover</a:t>
            </a:r>
          </a:p>
          <a:p>
            <a:endParaRPr lang="en-US" sz="1600" dirty="0">
              <a:solidFill>
                <a:schemeClr val="tx2">
                  <a:lumMod val="50000"/>
                </a:schemeClr>
              </a:solidFill>
              <a:latin typeface="+mn-lt"/>
            </a:endParaRPr>
          </a:p>
          <a:p>
            <a:endParaRPr lang="en-US" sz="1800" b="1" dirty="0">
              <a:solidFill>
                <a:schemeClr val="tx2">
                  <a:lumMod val="50000"/>
                </a:schemeClr>
              </a:solidFill>
            </a:endParaRPr>
          </a:p>
        </p:txBody>
      </p:sp>
      <p:sp>
        <p:nvSpPr>
          <p:cNvPr id="9" name="TextBox 8">
            <a:extLst>
              <a:ext uri="{FF2B5EF4-FFF2-40B4-BE49-F238E27FC236}">
                <a16:creationId xmlns:a16="http://schemas.microsoft.com/office/drawing/2014/main" id="{E252757D-14E2-AC12-F340-23A23776C7BA}"/>
              </a:ext>
            </a:extLst>
          </p:cNvPr>
          <p:cNvSpPr txBox="1"/>
          <p:nvPr/>
        </p:nvSpPr>
        <p:spPr>
          <a:xfrm>
            <a:off x="491706" y="424614"/>
            <a:ext cx="6571171"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Crossover or Recombination for Binary Representation</a:t>
            </a:r>
          </a:p>
        </p:txBody>
      </p:sp>
      <p:sp>
        <p:nvSpPr>
          <p:cNvPr id="11" name="TextBox 10">
            <a:extLst>
              <a:ext uri="{FF2B5EF4-FFF2-40B4-BE49-F238E27FC236}">
                <a16:creationId xmlns:a16="http://schemas.microsoft.com/office/drawing/2014/main" id="{C2D02EB3-6EEC-F157-4BCD-882CB11225F2}"/>
              </a:ext>
            </a:extLst>
          </p:cNvPr>
          <p:cNvSpPr txBox="1"/>
          <p:nvPr/>
        </p:nvSpPr>
        <p:spPr>
          <a:xfrm>
            <a:off x="403284" y="1163278"/>
            <a:ext cx="8594067" cy="830997"/>
          </a:xfrm>
          <a:prstGeom prst="rect">
            <a:avLst/>
          </a:prstGeom>
          <a:noFill/>
        </p:spPr>
        <p:txBody>
          <a:bodyPr wrap="square">
            <a:spAutoFit/>
          </a:bodyPr>
          <a:lstStyle/>
          <a:p>
            <a:r>
              <a:rPr lang="en-US" sz="1600" dirty="0"/>
              <a:t>During the recombination of binary variables only parts of the individuals are exchanged between the individuals. Depending on the number of parts, the individuals are divided before the exchange of variables (the number of cross points). </a:t>
            </a:r>
          </a:p>
        </p:txBody>
      </p:sp>
    </p:spTree>
    <p:extLst>
      <p:ext uri="{BB962C8B-B14F-4D97-AF65-F5344CB8AC3E}">
        <p14:creationId xmlns:p14="http://schemas.microsoft.com/office/powerpoint/2010/main" val="4260039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704CA9-E14A-6B14-D242-D384E543A7EF}"/>
              </a:ext>
            </a:extLst>
          </p:cNvPr>
          <p:cNvPicPr>
            <a:picLocks noChangeAspect="1"/>
          </p:cNvPicPr>
          <p:nvPr/>
        </p:nvPicPr>
        <p:blipFill>
          <a:blip r:embed="rId2"/>
          <a:stretch>
            <a:fillRect/>
          </a:stretch>
        </p:blipFill>
        <p:spPr>
          <a:xfrm>
            <a:off x="1785668" y="1165118"/>
            <a:ext cx="3950898" cy="3321387"/>
          </a:xfrm>
          <a:prstGeom prst="rect">
            <a:avLst/>
          </a:prstGeom>
          <a:ln>
            <a:solidFill>
              <a:schemeClr val="tx2">
                <a:lumMod val="50000"/>
              </a:schemeClr>
            </a:solidFill>
          </a:ln>
        </p:spPr>
      </p:pic>
      <p:sp>
        <p:nvSpPr>
          <p:cNvPr id="2" name="TextBox 1">
            <a:extLst>
              <a:ext uri="{FF2B5EF4-FFF2-40B4-BE49-F238E27FC236}">
                <a16:creationId xmlns:a16="http://schemas.microsoft.com/office/drawing/2014/main" id="{744A2412-7197-5C24-9D7A-A0DB6919680F}"/>
              </a:ext>
            </a:extLst>
          </p:cNvPr>
          <p:cNvSpPr txBox="1"/>
          <p:nvPr/>
        </p:nvSpPr>
        <p:spPr>
          <a:xfrm>
            <a:off x="1952806" y="472329"/>
            <a:ext cx="3616622" cy="369332"/>
          </a:xfrm>
          <a:prstGeom prst="rect">
            <a:avLst/>
          </a:prstGeom>
          <a:noFill/>
        </p:spPr>
        <p:txBody>
          <a:bodyPr wrap="square">
            <a:spAutoFit/>
          </a:bodyPr>
          <a:lstStyle/>
          <a:p>
            <a:r>
              <a:rPr lang="en-US" sz="1800" b="1" dirty="0">
                <a:solidFill>
                  <a:schemeClr val="tx2">
                    <a:lumMod val="50000"/>
                  </a:schemeClr>
                </a:solidFill>
              </a:rPr>
              <a:t>1-Single point crossover</a:t>
            </a:r>
          </a:p>
        </p:txBody>
      </p:sp>
    </p:spTree>
    <p:extLst>
      <p:ext uri="{BB962C8B-B14F-4D97-AF65-F5344CB8AC3E}">
        <p14:creationId xmlns:p14="http://schemas.microsoft.com/office/powerpoint/2010/main" val="40158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821CDB-9D52-2714-C5FB-7E5A8BF33BBC}"/>
              </a:ext>
            </a:extLst>
          </p:cNvPr>
          <p:cNvSpPr txBox="1"/>
          <p:nvPr/>
        </p:nvSpPr>
        <p:spPr>
          <a:xfrm>
            <a:off x="2717321" y="619747"/>
            <a:ext cx="3709358"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2-Double point crossover</a:t>
            </a:r>
          </a:p>
        </p:txBody>
      </p:sp>
      <p:pic>
        <p:nvPicPr>
          <p:cNvPr id="7" name="Picture 6">
            <a:extLst>
              <a:ext uri="{FF2B5EF4-FFF2-40B4-BE49-F238E27FC236}">
                <a16:creationId xmlns:a16="http://schemas.microsoft.com/office/drawing/2014/main" id="{18E0A9DF-571F-12CA-52CB-1BA1B4407327}"/>
              </a:ext>
            </a:extLst>
          </p:cNvPr>
          <p:cNvPicPr>
            <a:picLocks noChangeAspect="1"/>
          </p:cNvPicPr>
          <p:nvPr/>
        </p:nvPicPr>
        <p:blipFill>
          <a:blip r:embed="rId2"/>
          <a:stretch>
            <a:fillRect/>
          </a:stretch>
        </p:blipFill>
        <p:spPr>
          <a:xfrm>
            <a:off x="2475782" y="1467044"/>
            <a:ext cx="3950897" cy="3321386"/>
          </a:xfrm>
          <a:prstGeom prst="rect">
            <a:avLst/>
          </a:prstGeom>
          <a:ln>
            <a:solidFill>
              <a:schemeClr val="tx2">
                <a:lumMod val="50000"/>
              </a:schemeClr>
            </a:solidFill>
          </a:ln>
        </p:spPr>
      </p:pic>
    </p:spTree>
    <p:extLst>
      <p:ext uri="{BB962C8B-B14F-4D97-AF65-F5344CB8AC3E}">
        <p14:creationId xmlns:p14="http://schemas.microsoft.com/office/powerpoint/2010/main" val="3835243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505A237-2FFA-69FC-94E1-7D8E67D63B64}"/>
              </a:ext>
            </a:extLst>
          </p:cNvPr>
          <p:cNvSpPr txBox="1"/>
          <p:nvPr/>
        </p:nvSpPr>
        <p:spPr>
          <a:xfrm>
            <a:off x="422694" y="419499"/>
            <a:ext cx="5447580"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3-Uniform crossover</a:t>
            </a:r>
          </a:p>
        </p:txBody>
      </p:sp>
      <p:sp>
        <p:nvSpPr>
          <p:cNvPr id="11" name="TextBox 10">
            <a:extLst>
              <a:ext uri="{FF2B5EF4-FFF2-40B4-BE49-F238E27FC236}">
                <a16:creationId xmlns:a16="http://schemas.microsoft.com/office/drawing/2014/main" id="{2E0BEBA3-ABF0-F810-0989-E394BD642507}"/>
              </a:ext>
            </a:extLst>
          </p:cNvPr>
          <p:cNvSpPr txBox="1"/>
          <p:nvPr/>
        </p:nvSpPr>
        <p:spPr>
          <a:xfrm>
            <a:off x="422694" y="1098676"/>
            <a:ext cx="8212348" cy="1169551"/>
          </a:xfrm>
          <a:prstGeom prst="rect">
            <a:avLst/>
          </a:prstGeom>
          <a:noFill/>
        </p:spPr>
        <p:txBody>
          <a:bodyPr wrap="square">
            <a:spAutoFit/>
          </a:bodyPr>
          <a:lstStyle/>
          <a:p>
            <a:r>
              <a:rPr lang="en-US" dirty="0"/>
              <a:t>Uniform crossover works by treating each gene independently and making a random choice as to which parent it should be inherited. This is implemented by generating a string of random variables from a uniform distribution over [0, 1] whose size is equal to the size of an individual from the population. In each position, if the value is below a parameter p (usually 0.5), the gene is inherited from the first parent; otherwise from the second. The second off</a:t>
            </a:r>
          </a:p>
        </p:txBody>
      </p:sp>
      <p:pic>
        <p:nvPicPr>
          <p:cNvPr id="13" name="Picture 12">
            <a:extLst>
              <a:ext uri="{FF2B5EF4-FFF2-40B4-BE49-F238E27FC236}">
                <a16:creationId xmlns:a16="http://schemas.microsoft.com/office/drawing/2014/main" id="{91B8F57E-34A0-20F7-1488-69A2E89448A5}"/>
              </a:ext>
            </a:extLst>
          </p:cNvPr>
          <p:cNvPicPr>
            <a:picLocks noChangeAspect="1"/>
          </p:cNvPicPr>
          <p:nvPr/>
        </p:nvPicPr>
        <p:blipFill>
          <a:blip r:embed="rId2"/>
          <a:stretch>
            <a:fillRect/>
          </a:stretch>
        </p:blipFill>
        <p:spPr>
          <a:xfrm>
            <a:off x="422694" y="2323323"/>
            <a:ext cx="8065700" cy="2216012"/>
          </a:xfrm>
          <a:prstGeom prst="rect">
            <a:avLst/>
          </a:prstGeom>
        </p:spPr>
      </p:pic>
    </p:spTree>
    <p:extLst>
      <p:ext uri="{BB962C8B-B14F-4D97-AF65-F5344CB8AC3E}">
        <p14:creationId xmlns:p14="http://schemas.microsoft.com/office/powerpoint/2010/main" val="2590334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E13085-3878-1A62-5903-A539490E854A}"/>
              </a:ext>
            </a:extLst>
          </p:cNvPr>
          <p:cNvSpPr txBox="1"/>
          <p:nvPr/>
        </p:nvSpPr>
        <p:spPr>
          <a:xfrm>
            <a:off x="567188" y="527598"/>
            <a:ext cx="5447580" cy="369332"/>
          </a:xfrm>
          <a:prstGeom prst="rect">
            <a:avLst/>
          </a:prstGeom>
          <a:noFill/>
        </p:spPr>
        <p:txBody>
          <a:bodyPr wrap="square">
            <a:spAutoFit/>
          </a:bodyPr>
          <a:lstStyle/>
          <a:p>
            <a:r>
              <a:rPr lang="en-US" sz="1800" b="1" dirty="0">
                <a:solidFill>
                  <a:schemeClr val="tx2">
                    <a:lumMod val="50000"/>
                  </a:schemeClr>
                </a:solidFill>
                <a:latin typeface="Candara" panose="020E0502030303020204" pitchFamily="34" charset="0"/>
              </a:rPr>
              <a:t>Mutation for Binary Representation</a:t>
            </a:r>
          </a:p>
        </p:txBody>
      </p:sp>
      <p:sp>
        <p:nvSpPr>
          <p:cNvPr id="5" name="TextBox 4">
            <a:extLst>
              <a:ext uri="{FF2B5EF4-FFF2-40B4-BE49-F238E27FC236}">
                <a16:creationId xmlns:a16="http://schemas.microsoft.com/office/drawing/2014/main" id="{DD45E04E-3B3F-7B88-1C6D-335102B43A76}"/>
              </a:ext>
            </a:extLst>
          </p:cNvPr>
          <p:cNvSpPr txBox="1"/>
          <p:nvPr/>
        </p:nvSpPr>
        <p:spPr>
          <a:xfrm>
            <a:off x="567188" y="1058665"/>
            <a:ext cx="8412910" cy="1600438"/>
          </a:xfrm>
          <a:prstGeom prst="rect">
            <a:avLst/>
          </a:prstGeom>
          <a:noFill/>
        </p:spPr>
        <p:txBody>
          <a:bodyPr wrap="square">
            <a:spAutoFit/>
          </a:bodyPr>
          <a:lstStyle/>
          <a:p>
            <a:pPr marL="285750" indent="-285750">
              <a:buFont typeface="Wingdings" panose="05000000000000000000" pitchFamily="2" charset="2"/>
              <a:buChar char="Ø"/>
            </a:pPr>
            <a:r>
              <a:rPr lang="en-US" dirty="0"/>
              <a:t>By mutation individuals are randomly altered. These variations (mutation steps) are mostly small. Mutation is only applied to one individual and will produce one offspring. They will be applied to the variables of the individuals with a low probability (mutation probability or mutation rate). Normally, offspring are mutated after being created by recombination</a:t>
            </a:r>
          </a:p>
          <a:p>
            <a:endParaRPr lang="en-US" dirty="0"/>
          </a:p>
          <a:p>
            <a:pPr marL="285750" indent="-285750">
              <a:buFont typeface="Wingdings" panose="05000000000000000000" pitchFamily="2" charset="2"/>
              <a:buChar char="Ø"/>
            </a:pPr>
            <a:r>
              <a:rPr lang="en-US" dirty="0"/>
              <a:t>For binary valued individuals' mutation means the flipping of variable values, because every variable has only two states. Thus, the size of the mutation step is always 1.</a:t>
            </a:r>
          </a:p>
        </p:txBody>
      </p:sp>
      <p:pic>
        <p:nvPicPr>
          <p:cNvPr id="7" name="Picture 6">
            <a:extLst>
              <a:ext uri="{FF2B5EF4-FFF2-40B4-BE49-F238E27FC236}">
                <a16:creationId xmlns:a16="http://schemas.microsoft.com/office/drawing/2014/main" id="{C675FC04-7C0E-B340-3D2B-AD33BBB3BB6A}"/>
              </a:ext>
            </a:extLst>
          </p:cNvPr>
          <p:cNvPicPr>
            <a:picLocks noChangeAspect="1"/>
          </p:cNvPicPr>
          <p:nvPr/>
        </p:nvPicPr>
        <p:blipFill>
          <a:blip r:embed="rId2"/>
          <a:stretch>
            <a:fillRect/>
          </a:stretch>
        </p:blipFill>
        <p:spPr>
          <a:xfrm>
            <a:off x="1203233" y="2984740"/>
            <a:ext cx="6030167" cy="1457894"/>
          </a:xfrm>
          <a:prstGeom prst="rect">
            <a:avLst/>
          </a:prstGeom>
          <a:ln>
            <a:solidFill>
              <a:schemeClr val="tx2">
                <a:lumMod val="50000"/>
              </a:schemeClr>
            </a:solidFill>
          </a:ln>
        </p:spPr>
      </p:pic>
    </p:spTree>
    <p:extLst>
      <p:ext uri="{BB962C8B-B14F-4D97-AF65-F5344CB8AC3E}">
        <p14:creationId xmlns:p14="http://schemas.microsoft.com/office/powerpoint/2010/main" val="1558782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45F329-1C24-C61C-7C2A-2A8E03F19E8A}"/>
              </a:ext>
            </a:extLst>
          </p:cNvPr>
          <p:cNvPicPr>
            <a:picLocks noChangeAspect="1"/>
          </p:cNvPicPr>
          <p:nvPr/>
        </p:nvPicPr>
        <p:blipFill>
          <a:blip r:embed="rId2"/>
          <a:stretch>
            <a:fillRect/>
          </a:stretch>
        </p:blipFill>
        <p:spPr>
          <a:xfrm>
            <a:off x="0" y="444639"/>
            <a:ext cx="6133381" cy="4029933"/>
          </a:xfrm>
          <a:prstGeom prst="rect">
            <a:avLst/>
          </a:prstGeom>
        </p:spPr>
      </p:pic>
      <p:sp>
        <p:nvSpPr>
          <p:cNvPr id="2" name="TextBox 1">
            <a:extLst>
              <a:ext uri="{FF2B5EF4-FFF2-40B4-BE49-F238E27FC236}">
                <a16:creationId xmlns:a16="http://schemas.microsoft.com/office/drawing/2014/main" id="{F93203DD-608C-68A2-922C-5706D5CDC1B3}"/>
              </a:ext>
            </a:extLst>
          </p:cNvPr>
          <p:cNvSpPr txBox="1"/>
          <p:nvPr/>
        </p:nvSpPr>
        <p:spPr>
          <a:xfrm>
            <a:off x="3556240" y="2021205"/>
            <a:ext cx="5447580" cy="2677656"/>
          </a:xfrm>
          <a:prstGeom prst="rect">
            <a:avLst/>
          </a:prstGeom>
          <a:noFill/>
        </p:spPr>
        <p:txBody>
          <a:bodyPr wrap="square">
            <a:spAutoFit/>
          </a:bodyPr>
          <a:lstStyle/>
          <a:p>
            <a:r>
              <a:rPr lang="en-US" dirty="0"/>
              <a:t>[1, 0, 1, 1, 0, 1, 0, 0] means:</a:t>
            </a:r>
          </a:p>
          <a:p>
            <a:r>
              <a:rPr lang="en-US" dirty="0"/>
              <a:t>- Tent: Yes (1)</a:t>
            </a:r>
          </a:p>
          <a:p>
            <a:r>
              <a:rPr lang="en-US" dirty="0"/>
              <a:t>- Sleeping Bag: No (0)</a:t>
            </a:r>
          </a:p>
          <a:p>
            <a:r>
              <a:rPr lang="en-US" dirty="0"/>
              <a:t>- Food: Yes (1)</a:t>
            </a:r>
          </a:p>
          <a:p>
            <a:r>
              <a:rPr lang="en-US" dirty="0"/>
              <a:t>- Stove: Yes (1)</a:t>
            </a:r>
          </a:p>
          <a:p>
            <a:r>
              <a:rPr lang="en-US" dirty="0"/>
              <a:t>- Water Filter: No (0)</a:t>
            </a:r>
          </a:p>
          <a:p>
            <a:r>
              <a:rPr lang="en-US" dirty="0"/>
              <a:t>- First Aid Kit: Yes (1)</a:t>
            </a:r>
          </a:p>
          <a:p>
            <a:r>
              <a:rPr lang="en-US" dirty="0"/>
              <a:t>- Camping Chair: No (0)</a:t>
            </a:r>
          </a:p>
          <a:p>
            <a:r>
              <a:rPr lang="en-US" dirty="0"/>
              <a:t>- Extra Clothes: No (0)</a:t>
            </a:r>
          </a:p>
          <a:p>
            <a:endParaRPr lang="en-US" dirty="0"/>
          </a:p>
          <a:p>
            <a:r>
              <a:rPr lang="en-US" dirty="0"/>
              <a:t>Total weight = 4 + 5 + 2 + 2 = 13 kg (within limit ✓)</a:t>
            </a:r>
          </a:p>
          <a:p>
            <a:r>
              <a:rPr lang="en-US" dirty="0"/>
              <a:t>Total value = 9 + 7 + 5 + 4 = 25</a:t>
            </a:r>
          </a:p>
        </p:txBody>
      </p:sp>
    </p:spTree>
    <p:extLst>
      <p:ext uri="{BB962C8B-B14F-4D97-AF65-F5344CB8AC3E}">
        <p14:creationId xmlns:p14="http://schemas.microsoft.com/office/powerpoint/2010/main" val="1040394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4153B0-2223-2762-7F61-CD654B22C618}"/>
              </a:ext>
            </a:extLst>
          </p:cNvPr>
          <p:cNvPicPr>
            <a:picLocks noChangeAspect="1"/>
          </p:cNvPicPr>
          <p:nvPr/>
        </p:nvPicPr>
        <p:blipFill>
          <a:blip r:embed="rId2"/>
          <a:stretch>
            <a:fillRect/>
          </a:stretch>
        </p:blipFill>
        <p:spPr>
          <a:xfrm>
            <a:off x="0" y="0"/>
            <a:ext cx="6268325" cy="2943636"/>
          </a:xfrm>
          <a:prstGeom prst="rect">
            <a:avLst/>
          </a:prstGeom>
        </p:spPr>
      </p:pic>
      <p:pic>
        <p:nvPicPr>
          <p:cNvPr id="4" name="Picture 3">
            <a:extLst>
              <a:ext uri="{FF2B5EF4-FFF2-40B4-BE49-F238E27FC236}">
                <a16:creationId xmlns:a16="http://schemas.microsoft.com/office/drawing/2014/main" id="{3BC0F698-5D9D-DF37-9DF3-489E78F6741B}"/>
              </a:ext>
            </a:extLst>
          </p:cNvPr>
          <p:cNvPicPr>
            <a:picLocks noChangeAspect="1"/>
          </p:cNvPicPr>
          <p:nvPr/>
        </p:nvPicPr>
        <p:blipFill>
          <a:blip r:embed="rId3"/>
          <a:stretch>
            <a:fillRect/>
          </a:stretch>
        </p:blipFill>
        <p:spPr>
          <a:xfrm>
            <a:off x="0" y="2943636"/>
            <a:ext cx="5401429" cy="1695687"/>
          </a:xfrm>
          <a:prstGeom prst="rect">
            <a:avLst/>
          </a:prstGeom>
        </p:spPr>
      </p:pic>
    </p:spTree>
    <p:extLst>
      <p:ext uri="{BB962C8B-B14F-4D97-AF65-F5344CB8AC3E}">
        <p14:creationId xmlns:p14="http://schemas.microsoft.com/office/powerpoint/2010/main" val="2446755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455152-3662-C007-6BB4-294C05B6B7C7}"/>
              </a:ext>
            </a:extLst>
          </p:cNvPr>
          <p:cNvPicPr>
            <a:picLocks noChangeAspect="1"/>
          </p:cNvPicPr>
          <p:nvPr/>
        </p:nvPicPr>
        <p:blipFill>
          <a:blip r:embed="rId2"/>
          <a:stretch>
            <a:fillRect/>
          </a:stretch>
        </p:blipFill>
        <p:spPr>
          <a:xfrm>
            <a:off x="0" y="2898475"/>
            <a:ext cx="7373379" cy="2245025"/>
          </a:xfrm>
          <a:prstGeom prst="rect">
            <a:avLst/>
          </a:prstGeom>
        </p:spPr>
      </p:pic>
      <p:sp>
        <p:nvSpPr>
          <p:cNvPr id="3" name="TextBox 2">
            <a:extLst>
              <a:ext uri="{FF2B5EF4-FFF2-40B4-BE49-F238E27FC236}">
                <a16:creationId xmlns:a16="http://schemas.microsoft.com/office/drawing/2014/main" id="{15C8CEA7-1FDC-0933-2969-700E522646B2}"/>
              </a:ext>
            </a:extLst>
          </p:cNvPr>
          <p:cNvSpPr txBox="1"/>
          <p:nvPr/>
        </p:nvSpPr>
        <p:spPr>
          <a:xfrm>
            <a:off x="0" y="355505"/>
            <a:ext cx="5447580" cy="1169551"/>
          </a:xfrm>
          <a:prstGeom prst="rect">
            <a:avLst/>
          </a:prstGeom>
          <a:noFill/>
        </p:spPr>
        <p:txBody>
          <a:bodyPr wrap="square">
            <a:spAutoFit/>
          </a:bodyPr>
          <a:lstStyle/>
          <a:p>
            <a:pPr>
              <a:buNone/>
            </a:pPr>
            <a:r>
              <a:rPr lang="en-US" b="1" dirty="0"/>
              <a:t>4. Crossover (at point 4)</a:t>
            </a:r>
          </a:p>
          <a:p>
            <a:pPr>
              <a:buNone/>
            </a:pPr>
            <a:endParaRPr lang="en-US" b="1" dirty="0"/>
          </a:p>
          <a:p>
            <a:pPr>
              <a:buNone/>
            </a:pPr>
            <a:r>
              <a:rPr lang="en-US" dirty="0">
                <a:latin typeface="Courier New" panose="02070309020205020404" pitchFamily="49" charset="0"/>
              </a:rPr>
              <a:t>Parent A: [1,1,0,1 | 1,0,0,1]</a:t>
            </a:r>
          </a:p>
          <a:p>
            <a:pPr>
              <a:buNone/>
            </a:pPr>
            <a:r>
              <a:rPr lang="en-US" dirty="0">
                <a:latin typeface="Courier New" panose="02070309020205020404" pitchFamily="49" charset="0"/>
              </a:rPr>
              <a:t>Parent B: [0,1,1,1 | 1,0,1,0]</a:t>
            </a:r>
          </a:p>
          <a:p>
            <a:pPr>
              <a:buNone/>
            </a:pPr>
            <a:r>
              <a:rPr lang="en-US" dirty="0">
                <a:latin typeface="Courier New" panose="02070309020205020404" pitchFamily="49" charset="0"/>
              </a:rPr>
              <a:t>Child:    [1,1,0,1 | 1,0,1,0]</a:t>
            </a:r>
          </a:p>
        </p:txBody>
      </p:sp>
      <p:sp>
        <p:nvSpPr>
          <p:cNvPr id="7" name="TextBox 6">
            <a:extLst>
              <a:ext uri="{FF2B5EF4-FFF2-40B4-BE49-F238E27FC236}">
                <a16:creationId xmlns:a16="http://schemas.microsoft.com/office/drawing/2014/main" id="{7BAC5EB4-A760-BA6C-AFDD-23E6A0473B7A}"/>
              </a:ext>
            </a:extLst>
          </p:cNvPr>
          <p:cNvSpPr txBox="1"/>
          <p:nvPr/>
        </p:nvSpPr>
        <p:spPr>
          <a:xfrm>
            <a:off x="0" y="1660249"/>
            <a:ext cx="5447580" cy="1169551"/>
          </a:xfrm>
          <a:prstGeom prst="rect">
            <a:avLst/>
          </a:prstGeom>
          <a:noFill/>
        </p:spPr>
        <p:txBody>
          <a:bodyPr wrap="square">
            <a:spAutoFit/>
          </a:bodyPr>
          <a:lstStyle/>
          <a:p>
            <a:pPr>
              <a:buNone/>
            </a:pPr>
            <a:r>
              <a:rPr lang="en-US" b="1" dirty="0"/>
              <a:t>5. Mutation (flip random bits)</a:t>
            </a:r>
          </a:p>
          <a:p>
            <a:pPr>
              <a:buNone/>
            </a:pPr>
            <a:endParaRPr lang="en-US" dirty="0">
              <a:latin typeface="Courier New" panose="02070309020205020404" pitchFamily="49" charset="0"/>
            </a:endParaRPr>
          </a:p>
          <a:p>
            <a:pPr>
              <a:buNone/>
            </a:pPr>
            <a:r>
              <a:rPr lang="en-US" dirty="0">
                <a:latin typeface="Courier New" panose="02070309020205020404" pitchFamily="49" charset="0"/>
              </a:rPr>
              <a:t>Child before: [1,1,0,1,1,0,1,0]</a:t>
            </a:r>
          </a:p>
          <a:p>
            <a:pPr>
              <a:buNone/>
            </a:pPr>
            <a:r>
              <a:rPr lang="en-US" dirty="0">
                <a:latin typeface="Courier New" panose="02070309020205020404" pitchFamily="49" charset="0"/>
              </a:rPr>
              <a:t>Child after:  [1,1,0,1,1,1,1,0] (bit 6 flipped from 0→1)</a:t>
            </a:r>
          </a:p>
        </p:txBody>
      </p:sp>
    </p:spTree>
    <p:extLst>
      <p:ext uri="{BB962C8B-B14F-4D97-AF65-F5344CB8AC3E}">
        <p14:creationId xmlns:p14="http://schemas.microsoft.com/office/powerpoint/2010/main" val="3883091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E58BFA-B301-1A3A-D382-1B04A5D5DFC9}"/>
              </a:ext>
            </a:extLst>
          </p:cNvPr>
          <p:cNvSpPr txBox="1"/>
          <p:nvPr/>
        </p:nvSpPr>
        <p:spPr>
          <a:xfrm>
            <a:off x="696584" y="475840"/>
            <a:ext cx="5447580" cy="369332"/>
          </a:xfrm>
          <a:prstGeom prst="rect">
            <a:avLst/>
          </a:prstGeom>
          <a:noFill/>
        </p:spPr>
        <p:txBody>
          <a:bodyPr wrap="square">
            <a:spAutoFit/>
          </a:bodyPr>
          <a:lstStyle/>
          <a:p>
            <a:r>
              <a:rPr lang="en-US" sz="1800" b="1" dirty="0">
                <a:solidFill>
                  <a:schemeClr val="bg1">
                    <a:lumMod val="10000"/>
                  </a:schemeClr>
                </a:solidFill>
                <a:latin typeface="Candara" panose="020E0502030303020204" pitchFamily="34" charset="0"/>
              </a:rPr>
              <a:t>Problem Scenario</a:t>
            </a:r>
          </a:p>
        </p:txBody>
      </p:sp>
      <p:sp>
        <p:nvSpPr>
          <p:cNvPr id="7" name="TextBox 6">
            <a:extLst>
              <a:ext uri="{FF2B5EF4-FFF2-40B4-BE49-F238E27FC236}">
                <a16:creationId xmlns:a16="http://schemas.microsoft.com/office/drawing/2014/main" id="{AF4C9B23-1129-C07E-2A54-8D9F10A2871B}"/>
              </a:ext>
            </a:extLst>
          </p:cNvPr>
          <p:cNvSpPr txBox="1"/>
          <p:nvPr/>
        </p:nvSpPr>
        <p:spPr>
          <a:xfrm>
            <a:off x="851860" y="2393283"/>
            <a:ext cx="6842903" cy="584775"/>
          </a:xfrm>
          <a:prstGeom prst="rect">
            <a:avLst/>
          </a:prstGeom>
          <a:noFill/>
        </p:spPr>
        <p:txBody>
          <a:bodyPr wrap="square">
            <a:spAutoFit/>
          </a:bodyPr>
          <a:lstStyle/>
          <a:p>
            <a:r>
              <a:rPr lang="en-US" sz="1800" dirty="0">
                <a:solidFill>
                  <a:schemeClr val="bg1">
                    <a:lumMod val="10000"/>
                  </a:schemeClr>
                </a:solidFill>
              </a:rPr>
              <a:t>Problem: Find x that maximizes f(x) = x², where 0 ≤ x ≤ 31</a:t>
            </a:r>
          </a:p>
          <a:p>
            <a:endParaRPr lang="en-US" dirty="0"/>
          </a:p>
        </p:txBody>
      </p:sp>
    </p:spTree>
    <p:extLst>
      <p:ext uri="{BB962C8B-B14F-4D97-AF65-F5344CB8AC3E}">
        <p14:creationId xmlns:p14="http://schemas.microsoft.com/office/powerpoint/2010/main" val="3518507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F6DAF6-00E1-79CC-B099-847B09341BCF}"/>
              </a:ext>
            </a:extLst>
          </p:cNvPr>
          <p:cNvSpPr txBox="1"/>
          <p:nvPr/>
        </p:nvSpPr>
        <p:spPr>
          <a:xfrm>
            <a:off x="187623" y="511430"/>
            <a:ext cx="8559561" cy="3539430"/>
          </a:xfrm>
          <a:prstGeom prst="rect">
            <a:avLst/>
          </a:prstGeom>
          <a:noFill/>
        </p:spPr>
        <p:txBody>
          <a:bodyPr wrap="square">
            <a:spAutoFit/>
          </a:bodyPr>
          <a:lstStyle/>
          <a:p>
            <a:r>
              <a:rPr lang="en-US" dirty="0"/>
              <a:t>Since x² is a simple quadratic function, we know the maximum is at </a:t>
            </a:r>
            <a:r>
              <a:rPr lang="en-US" b="1" dirty="0"/>
              <a:t>x = 31</a:t>
            </a:r>
            <a:r>
              <a:rPr lang="en-US" dirty="0"/>
              <a:t> (f(31) = 961). Let's see how a Genetic Algorithm finds this!</a:t>
            </a:r>
          </a:p>
          <a:p>
            <a:endParaRPr lang="en-US" dirty="0"/>
          </a:p>
          <a:p>
            <a:r>
              <a:rPr lang="en-US" b="1" dirty="0"/>
              <a:t>Step 1: Problem Encoding</a:t>
            </a:r>
          </a:p>
          <a:p>
            <a:r>
              <a:rPr lang="en-US" b="1" dirty="0"/>
              <a:t>Binary Representation</a:t>
            </a:r>
          </a:p>
          <a:p>
            <a:r>
              <a:rPr lang="en-US" dirty="0"/>
              <a:t>Use 5 bits (2⁵ = 32 possible values)</a:t>
            </a:r>
          </a:p>
          <a:p>
            <a:endParaRPr lang="en-US" dirty="0"/>
          </a:p>
          <a:p>
            <a:r>
              <a:rPr lang="en-US" dirty="0"/>
              <a:t>Binary → Integer mapping:</a:t>
            </a:r>
          </a:p>
          <a:p>
            <a:r>
              <a:rPr lang="en-US" dirty="0"/>
              <a:t>00000 = 0</a:t>
            </a:r>
          </a:p>
          <a:p>
            <a:r>
              <a:rPr lang="en-US" dirty="0"/>
              <a:t>00001 = 1</a:t>
            </a:r>
          </a:p>
          <a:p>
            <a:r>
              <a:rPr lang="en-US" dirty="0"/>
              <a:t>00010 = 2</a:t>
            </a:r>
          </a:p>
          <a:p>
            <a:r>
              <a:rPr lang="en-US" dirty="0"/>
              <a:t>...</a:t>
            </a:r>
          </a:p>
          <a:p>
            <a:r>
              <a:rPr lang="en-US" dirty="0"/>
              <a:t>11111 = 31</a:t>
            </a:r>
          </a:p>
          <a:p>
            <a:endParaRPr lang="en-US" dirty="0"/>
          </a:p>
          <a:p>
            <a:r>
              <a:rPr lang="en-US" dirty="0"/>
              <a:t>Individual: [1,0,1,1,0] = 22 decimal</a:t>
            </a:r>
          </a:p>
          <a:p>
            <a:r>
              <a:rPr lang="en-US" dirty="0"/>
              <a:t>f(22) = 484</a:t>
            </a:r>
          </a:p>
        </p:txBody>
      </p:sp>
    </p:spTree>
    <p:extLst>
      <p:ext uri="{BB962C8B-B14F-4D97-AF65-F5344CB8AC3E}">
        <p14:creationId xmlns:p14="http://schemas.microsoft.com/office/powerpoint/2010/main" val="2179439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F9D2C5-CA0D-C587-5BFF-995211ACA341}"/>
              </a:ext>
            </a:extLst>
          </p:cNvPr>
          <p:cNvSpPr txBox="1"/>
          <p:nvPr/>
        </p:nvSpPr>
        <p:spPr>
          <a:xfrm>
            <a:off x="670703" y="639742"/>
            <a:ext cx="5447580" cy="307777"/>
          </a:xfrm>
          <a:prstGeom prst="rect">
            <a:avLst/>
          </a:prstGeom>
          <a:noFill/>
        </p:spPr>
        <p:txBody>
          <a:bodyPr wrap="square">
            <a:spAutoFit/>
          </a:bodyPr>
          <a:lstStyle/>
          <a:p>
            <a:pPr>
              <a:buNone/>
            </a:pPr>
            <a:r>
              <a:rPr lang="en-US" b="1" dirty="0"/>
              <a:t>Step 2: Create Initial Population (Random)</a:t>
            </a:r>
          </a:p>
        </p:txBody>
      </p:sp>
      <p:sp>
        <p:nvSpPr>
          <p:cNvPr id="6" name="TextBox 5">
            <a:extLst>
              <a:ext uri="{FF2B5EF4-FFF2-40B4-BE49-F238E27FC236}">
                <a16:creationId xmlns:a16="http://schemas.microsoft.com/office/drawing/2014/main" id="{0A4FF3F3-973D-26D6-A5E3-2F6756D30FEF}"/>
              </a:ext>
            </a:extLst>
          </p:cNvPr>
          <p:cNvSpPr txBox="1"/>
          <p:nvPr/>
        </p:nvSpPr>
        <p:spPr>
          <a:xfrm>
            <a:off x="670703" y="1050473"/>
            <a:ext cx="5447580" cy="2246769"/>
          </a:xfrm>
          <a:prstGeom prst="rect">
            <a:avLst/>
          </a:prstGeom>
          <a:noFill/>
        </p:spPr>
        <p:txBody>
          <a:bodyPr wrap="square">
            <a:spAutoFit/>
          </a:bodyPr>
          <a:lstStyle/>
          <a:p>
            <a:pPr>
              <a:buNone/>
            </a:pPr>
            <a:r>
              <a:rPr lang="en-US" dirty="0">
                <a:latin typeface="Courier New" panose="02070309020205020404" pitchFamily="49" charset="0"/>
              </a:rPr>
              <a:t>Individual 0: [1,0,1,1,0] = 22 → f(22) = 484</a:t>
            </a:r>
          </a:p>
          <a:p>
            <a:pPr>
              <a:buNone/>
            </a:pPr>
            <a:r>
              <a:rPr lang="en-US" dirty="0">
                <a:latin typeface="Courier New" panose="02070309020205020404" pitchFamily="49" charset="0"/>
              </a:rPr>
              <a:t>Individual 1: [0,1,0,1,1] = 11 → f(11) = 121</a:t>
            </a:r>
          </a:p>
          <a:p>
            <a:pPr>
              <a:buNone/>
            </a:pPr>
            <a:r>
              <a:rPr lang="en-US" dirty="0">
                <a:latin typeface="Courier New" panose="02070309020205020404" pitchFamily="49" charset="0"/>
              </a:rPr>
              <a:t>Individual 2: [1,1,1,0,1] = 29 → f(29) = 841</a:t>
            </a:r>
          </a:p>
          <a:p>
            <a:pPr>
              <a:buNone/>
            </a:pPr>
            <a:r>
              <a:rPr lang="en-US" dirty="0">
                <a:latin typeface="Courier New" panose="02070309020205020404" pitchFamily="49" charset="0"/>
              </a:rPr>
              <a:t>Individual 3: [0,0,1,1,0] = 6  → f(6)  = 36</a:t>
            </a:r>
          </a:p>
          <a:p>
            <a:pPr>
              <a:buNone/>
            </a:pPr>
            <a:r>
              <a:rPr lang="en-US" dirty="0">
                <a:latin typeface="Courier New" panose="02070309020205020404" pitchFamily="49" charset="0"/>
              </a:rPr>
              <a:t>Individual 4: [1,0,0,1,1] = 19 → f(19) = 361</a:t>
            </a:r>
          </a:p>
          <a:p>
            <a:pPr>
              <a:buNone/>
            </a:pPr>
            <a:r>
              <a:rPr lang="en-US" dirty="0">
                <a:latin typeface="Courier New" panose="02070309020205020404" pitchFamily="49" charset="0"/>
              </a:rPr>
              <a:t>Individual 5: [0,1,1,0,1] = 13 → f(13) = 169</a:t>
            </a:r>
          </a:p>
          <a:p>
            <a:pPr>
              <a:buNone/>
            </a:pPr>
            <a:r>
              <a:rPr lang="en-US" dirty="0">
                <a:latin typeface="Courier New" panose="02070309020205020404" pitchFamily="49" charset="0"/>
              </a:rPr>
              <a:t>Individual 6: [1,1,0,1,0] = 26 → f(26) = 676</a:t>
            </a:r>
          </a:p>
          <a:p>
            <a:pPr>
              <a:buNone/>
            </a:pPr>
            <a:r>
              <a:rPr lang="en-US" dirty="0">
                <a:latin typeface="Courier New" panose="02070309020205020404" pitchFamily="49" charset="0"/>
              </a:rPr>
              <a:t>Individual 7: [0,0,0,1,1] = 3  → f(3)  = 9</a:t>
            </a:r>
          </a:p>
          <a:p>
            <a:pPr>
              <a:buNone/>
            </a:pPr>
            <a:r>
              <a:rPr lang="en-US" dirty="0">
                <a:latin typeface="Courier New" panose="02070309020205020404" pitchFamily="49" charset="0"/>
              </a:rPr>
              <a:t>Individual 8: [1,0,1,0,1] = 21 → f(21) = 441</a:t>
            </a:r>
          </a:p>
          <a:p>
            <a:pPr>
              <a:buNone/>
            </a:pPr>
            <a:r>
              <a:rPr lang="en-US" dirty="0">
                <a:latin typeface="Courier New" panose="02070309020205020404" pitchFamily="49" charset="0"/>
              </a:rPr>
              <a:t>Individual 9: [0,1,1,1,0] = 14 → f(14) = 196</a:t>
            </a:r>
          </a:p>
        </p:txBody>
      </p:sp>
    </p:spTree>
    <p:extLst>
      <p:ext uri="{BB962C8B-B14F-4D97-AF65-F5344CB8AC3E}">
        <p14:creationId xmlns:p14="http://schemas.microsoft.com/office/powerpoint/2010/main" val="589679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DA1346-B888-97FD-A6BB-4F92D4C53754}"/>
              </a:ext>
            </a:extLst>
          </p:cNvPr>
          <p:cNvSpPr txBox="1"/>
          <p:nvPr/>
        </p:nvSpPr>
        <p:spPr>
          <a:xfrm>
            <a:off x="636198" y="501718"/>
            <a:ext cx="5447580" cy="307777"/>
          </a:xfrm>
          <a:prstGeom prst="rect">
            <a:avLst/>
          </a:prstGeom>
          <a:noFill/>
        </p:spPr>
        <p:txBody>
          <a:bodyPr wrap="square">
            <a:spAutoFit/>
          </a:bodyPr>
          <a:lstStyle/>
          <a:p>
            <a:pPr>
              <a:buNone/>
            </a:pPr>
            <a:r>
              <a:rPr lang="en-US" b="1" dirty="0"/>
              <a:t>Step 3: Selection (Tournament Size = 3)</a:t>
            </a:r>
          </a:p>
        </p:txBody>
      </p:sp>
      <p:sp>
        <p:nvSpPr>
          <p:cNvPr id="5" name="TextBox 4">
            <a:extLst>
              <a:ext uri="{FF2B5EF4-FFF2-40B4-BE49-F238E27FC236}">
                <a16:creationId xmlns:a16="http://schemas.microsoft.com/office/drawing/2014/main" id="{25789D21-967B-45D3-9BAE-88647A82AF92}"/>
              </a:ext>
            </a:extLst>
          </p:cNvPr>
          <p:cNvSpPr txBox="1"/>
          <p:nvPr/>
        </p:nvSpPr>
        <p:spPr>
          <a:xfrm>
            <a:off x="756968" y="1050255"/>
            <a:ext cx="8387032" cy="1169551"/>
          </a:xfrm>
          <a:prstGeom prst="rect">
            <a:avLst/>
          </a:prstGeom>
          <a:noFill/>
        </p:spPr>
        <p:txBody>
          <a:bodyPr wrap="square">
            <a:spAutoFit/>
          </a:bodyPr>
          <a:lstStyle/>
          <a:p>
            <a:pPr>
              <a:buNone/>
            </a:pPr>
            <a:r>
              <a:rPr lang="en-US" dirty="0"/>
              <a:t>Randomly pick 3 individuals, select the best:</a:t>
            </a:r>
          </a:p>
          <a:p>
            <a:pPr>
              <a:buNone/>
            </a:pPr>
            <a:endParaRPr lang="en-US" dirty="0">
              <a:latin typeface="Courier New" panose="02070309020205020404" pitchFamily="49" charset="0"/>
            </a:endParaRPr>
          </a:p>
          <a:p>
            <a:pPr>
              <a:buNone/>
            </a:pPr>
            <a:r>
              <a:rPr lang="en-US" dirty="0">
                <a:latin typeface="Courier New" panose="02070309020205020404" pitchFamily="49" charset="0"/>
              </a:rPr>
              <a:t>Tournament 1: Pick Ind2(841), Ind5(169), Ind9(196) → Winner: Ind2 (841)</a:t>
            </a:r>
          </a:p>
          <a:p>
            <a:pPr>
              <a:buNone/>
            </a:pPr>
            <a:r>
              <a:rPr lang="en-US" dirty="0">
                <a:latin typeface="Courier New" panose="02070309020205020404" pitchFamily="49" charset="0"/>
              </a:rPr>
              <a:t>Tournament 2: Pick Ind0(484), Ind6(676), Ind3(36)  → Winner: Ind6 (676)</a:t>
            </a:r>
          </a:p>
          <a:p>
            <a:pPr>
              <a:buNone/>
            </a:pPr>
            <a:r>
              <a:rPr lang="en-US" dirty="0">
                <a:latin typeface="Courier New" panose="02070309020205020404" pitchFamily="49" charset="0"/>
              </a:rPr>
              <a:t>Tournament 3: Pick Ind4(361), Ind1(121), Ind8(441) → Winner: Ind8 (441)</a:t>
            </a:r>
          </a:p>
        </p:txBody>
      </p:sp>
      <p:sp>
        <p:nvSpPr>
          <p:cNvPr id="7" name="TextBox 6">
            <a:extLst>
              <a:ext uri="{FF2B5EF4-FFF2-40B4-BE49-F238E27FC236}">
                <a16:creationId xmlns:a16="http://schemas.microsoft.com/office/drawing/2014/main" id="{0FE5E8D2-86E0-015C-1643-7E6839D796C0}"/>
              </a:ext>
            </a:extLst>
          </p:cNvPr>
          <p:cNvSpPr txBox="1"/>
          <p:nvPr/>
        </p:nvSpPr>
        <p:spPr>
          <a:xfrm>
            <a:off x="756968" y="2460566"/>
            <a:ext cx="5447580" cy="2246769"/>
          </a:xfrm>
          <a:prstGeom prst="rect">
            <a:avLst/>
          </a:prstGeom>
          <a:noFill/>
        </p:spPr>
        <p:txBody>
          <a:bodyPr wrap="square">
            <a:spAutoFit/>
          </a:bodyPr>
          <a:lstStyle/>
          <a:p>
            <a:r>
              <a:rPr lang="en-US" b="1" dirty="0"/>
              <a:t>Step 4:</a:t>
            </a:r>
            <a:r>
              <a:rPr lang="en-US" dirty="0"/>
              <a:t> Take two winners and perform </a:t>
            </a:r>
            <a:r>
              <a:rPr lang="en-US" b="1" u="sng" dirty="0"/>
              <a:t>crossover</a:t>
            </a:r>
            <a:r>
              <a:rPr lang="en-US" dirty="0"/>
              <a:t>:</a:t>
            </a:r>
          </a:p>
          <a:p>
            <a:r>
              <a:rPr lang="en-US" b="1" dirty="0"/>
              <a:t>Parents:</a:t>
            </a:r>
            <a:endParaRPr lang="en-US" dirty="0"/>
          </a:p>
          <a:p>
            <a:r>
              <a:rPr lang="en-US" dirty="0"/>
              <a:t>Parent A (Ind2): [1,1,1,0,1] = 29 (f=841)</a:t>
            </a:r>
          </a:p>
          <a:p>
            <a:r>
              <a:rPr lang="en-US" dirty="0"/>
              <a:t>Parent B (Ind6): [1,1,0,1,0] = 26 (f=676)</a:t>
            </a:r>
          </a:p>
          <a:p>
            <a:r>
              <a:rPr lang="en-US" b="1" dirty="0"/>
              <a:t>Crossover at point 3:</a:t>
            </a:r>
            <a:endParaRPr lang="en-US" dirty="0"/>
          </a:p>
          <a:p>
            <a:r>
              <a:rPr lang="en-US" dirty="0"/>
              <a:t>Parent A: [1,1,1 | 0,1]</a:t>
            </a:r>
          </a:p>
          <a:p>
            <a:r>
              <a:rPr lang="en-US" dirty="0"/>
              <a:t>Parent B: [1,1,0 | 1,0]</a:t>
            </a:r>
          </a:p>
          <a:p>
            <a:r>
              <a:rPr lang="en-US" dirty="0"/>
              <a:t>Child 1:  [1,1,1 | 1,0] = [1,1,1,1,0] = 30 → f(30) = 900</a:t>
            </a:r>
          </a:p>
          <a:p>
            <a:r>
              <a:rPr lang="en-US" dirty="0"/>
              <a:t>Child 2:  [1,1,0 | 0,1] = [1,1,0,0,1] = 25 → f(25) = 625</a:t>
            </a:r>
          </a:p>
          <a:p>
            <a:endParaRPr lang="en-US" dirty="0"/>
          </a:p>
        </p:txBody>
      </p:sp>
    </p:spTree>
    <p:extLst>
      <p:ext uri="{BB962C8B-B14F-4D97-AF65-F5344CB8AC3E}">
        <p14:creationId xmlns:p14="http://schemas.microsoft.com/office/powerpoint/2010/main" val="3504787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DB89FF-AED1-5295-EE89-1BBA1ED841DF}"/>
              </a:ext>
            </a:extLst>
          </p:cNvPr>
          <p:cNvSpPr txBox="1"/>
          <p:nvPr/>
        </p:nvSpPr>
        <p:spPr>
          <a:xfrm>
            <a:off x="989881" y="1110424"/>
            <a:ext cx="6808398" cy="2246769"/>
          </a:xfrm>
          <a:prstGeom prst="rect">
            <a:avLst/>
          </a:prstGeom>
          <a:noFill/>
        </p:spPr>
        <p:txBody>
          <a:bodyPr wrap="square">
            <a:spAutoFit/>
          </a:bodyPr>
          <a:lstStyle/>
          <a:p>
            <a:pPr>
              <a:buNone/>
            </a:pPr>
            <a:r>
              <a:rPr lang="en-US" b="1" dirty="0">
                <a:solidFill>
                  <a:schemeClr val="tx2">
                    <a:lumMod val="50000"/>
                  </a:schemeClr>
                </a:solidFill>
              </a:rPr>
              <a:t>Key Insights</a:t>
            </a:r>
          </a:p>
          <a:p>
            <a:pPr>
              <a:buNone/>
            </a:pPr>
            <a:endParaRPr lang="en-US" b="1" dirty="0"/>
          </a:p>
          <a:p>
            <a:pPr>
              <a:buFont typeface="+mj-lt"/>
              <a:buAutoNum type="arabicPeriod"/>
            </a:pPr>
            <a:r>
              <a:rPr lang="en-US" b="1" dirty="0"/>
              <a:t>Convergence Speed</a:t>
            </a:r>
            <a:r>
              <a:rPr lang="en-US" dirty="0"/>
              <a:t>: Simple problem converges in 1-2 generations</a:t>
            </a:r>
          </a:p>
          <a:p>
            <a:pPr>
              <a:buFont typeface="+mj-lt"/>
              <a:buAutoNum type="arabicPeriod"/>
            </a:pPr>
            <a:endParaRPr lang="en-US" dirty="0"/>
          </a:p>
          <a:p>
            <a:pPr>
              <a:buFont typeface="+mj-lt"/>
              <a:buAutoNum type="arabicPeriod"/>
            </a:pPr>
            <a:r>
              <a:rPr lang="en-US" b="1" dirty="0"/>
              <a:t>Elitism</a:t>
            </a:r>
            <a:r>
              <a:rPr lang="en-US" dirty="0"/>
              <a:t>: Preserves best solution found</a:t>
            </a:r>
          </a:p>
          <a:p>
            <a:pPr>
              <a:buFont typeface="+mj-lt"/>
              <a:buAutoNum type="arabicPeriod"/>
            </a:pPr>
            <a:endParaRPr lang="en-US" dirty="0"/>
          </a:p>
          <a:p>
            <a:pPr>
              <a:buFont typeface="+mj-lt"/>
              <a:buAutoNum type="arabicPeriod"/>
            </a:pPr>
            <a:r>
              <a:rPr lang="en-US" b="1" dirty="0"/>
              <a:t>Mutation</a:t>
            </a:r>
            <a:r>
              <a:rPr lang="en-US" dirty="0"/>
              <a:t>: Provides final push from 30→31</a:t>
            </a:r>
          </a:p>
          <a:p>
            <a:pPr>
              <a:buFont typeface="+mj-lt"/>
              <a:buAutoNum type="arabicPeriod"/>
            </a:pPr>
            <a:endParaRPr lang="en-US" dirty="0"/>
          </a:p>
          <a:p>
            <a:pPr>
              <a:buFont typeface="+mj-lt"/>
              <a:buAutoNum type="arabicPeriod"/>
            </a:pPr>
            <a:r>
              <a:rPr lang="en-US" b="1" dirty="0"/>
              <a:t>Population Diversity</a:t>
            </a:r>
            <a:r>
              <a:rPr lang="en-US" dirty="0"/>
              <a:t>: Maintained through crossover</a:t>
            </a:r>
          </a:p>
          <a:p>
            <a:pPr>
              <a:buFont typeface="+mj-lt"/>
              <a:buAutoNum type="arabicPeriod"/>
            </a:pPr>
            <a:endParaRPr lang="en-US" dirty="0"/>
          </a:p>
        </p:txBody>
      </p:sp>
    </p:spTree>
    <p:extLst>
      <p:ext uri="{BB962C8B-B14F-4D97-AF65-F5344CB8AC3E}">
        <p14:creationId xmlns:p14="http://schemas.microsoft.com/office/powerpoint/2010/main" val="1744496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116E67-554F-034C-1AF9-D42272103939}"/>
              </a:ext>
            </a:extLst>
          </p:cNvPr>
          <p:cNvSpPr txBox="1"/>
          <p:nvPr/>
        </p:nvSpPr>
        <p:spPr>
          <a:xfrm>
            <a:off x="549934" y="583620"/>
            <a:ext cx="8594066" cy="1028680"/>
          </a:xfrm>
          <a:prstGeom prst="rect">
            <a:avLst/>
          </a:prstGeom>
          <a:noFill/>
        </p:spPr>
        <p:txBody>
          <a:bodyPr wrap="square">
            <a:spAutoFit/>
          </a:bodyPr>
          <a:lstStyle/>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Arial" panose="020B0604020202020204" pitchFamily="34" charset="0"/>
              </a:rPr>
              <a:t>Problem Scenario</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A small factory can produce 5 different products. Each product requires specific machine time and generates profit. The factory operates 40 hours per week, and you need to select which products to produce to maximize weekly profit.</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37AC4197-1DE6-7BBC-B3F6-F7D5E36309EE}"/>
              </a:ext>
            </a:extLst>
          </p:cNvPr>
          <p:cNvGraphicFramePr>
            <a:graphicFrameLocks noGrp="1"/>
          </p:cNvGraphicFramePr>
          <p:nvPr>
            <p:extLst>
              <p:ext uri="{D42A27DB-BD31-4B8C-83A1-F6EECF244321}">
                <p14:modId xmlns:p14="http://schemas.microsoft.com/office/powerpoint/2010/main" val="1565267004"/>
              </p:ext>
            </p:extLst>
          </p:nvPr>
        </p:nvGraphicFramePr>
        <p:xfrm>
          <a:off x="549934" y="1924239"/>
          <a:ext cx="7718424" cy="1295022"/>
        </p:xfrm>
        <a:graphic>
          <a:graphicData uri="http://schemas.openxmlformats.org/drawingml/2006/table">
            <a:tbl>
              <a:tblPr firstRow="1" firstCol="1" bandRow="1">
                <a:tableStyleId>{58164BF3-4A2A-4AF8-AE50-BFDFB4268269}</a:tableStyleId>
              </a:tblPr>
              <a:tblGrid>
                <a:gridCol w="1929606">
                  <a:extLst>
                    <a:ext uri="{9D8B030D-6E8A-4147-A177-3AD203B41FA5}">
                      <a16:colId xmlns:a16="http://schemas.microsoft.com/office/drawing/2014/main" val="4164227082"/>
                    </a:ext>
                  </a:extLst>
                </a:gridCol>
                <a:gridCol w="1929606">
                  <a:extLst>
                    <a:ext uri="{9D8B030D-6E8A-4147-A177-3AD203B41FA5}">
                      <a16:colId xmlns:a16="http://schemas.microsoft.com/office/drawing/2014/main" val="3560602695"/>
                    </a:ext>
                  </a:extLst>
                </a:gridCol>
                <a:gridCol w="1929606">
                  <a:extLst>
                    <a:ext uri="{9D8B030D-6E8A-4147-A177-3AD203B41FA5}">
                      <a16:colId xmlns:a16="http://schemas.microsoft.com/office/drawing/2014/main" val="3779820513"/>
                    </a:ext>
                  </a:extLst>
                </a:gridCol>
                <a:gridCol w="1929606">
                  <a:extLst>
                    <a:ext uri="{9D8B030D-6E8A-4147-A177-3AD203B41FA5}">
                      <a16:colId xmlns:a16="http://schemas.microsoft.com/office/drawing/2014/main" val="957361033"/>
                    </a:ext>
                  </a:extLst>
                </a:gridCol>
              </a:tblGrid>
              <a:tr h="0">
                <a:tc>
                  <a:txBody>
                    <a:bodyPr/>
                    <a:lstStyle/>
                    <a:p>
                      <a:pPr marL="0" marR="0" algn="ctr">
                        <a:lnSpc>
                          <a:spcPct val="115000"/>
                        </a:lnSpc>
                        <a:spcAft>
                          <a:spcPts val="800"/>
                        </a:spcAft>
                        <a:buNone/>
                      </a:pPr>
                      <a:r>
                        <a:rPr lang="en-US" sz="1200" kern="0">
                          <a:effectLst/>
                        </a:rPr>
                        <a:t>Product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800"/>
                        </a:spcAft>
                        <a:buNone/>
                      </a:pPr>
                      <a:r>
                        <a:rPr lang="en-US" sz="1200" kern="0">
                          <a:effectLst/>
                        </a:rPr>
                        <a:t>Machine Hours per Unit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800"/>
                        </a:spcAft>
                        <a:buNone/>
                      </a:pPr>
                      <a:r>
                        <a:rPr lang="en-US" sz="1200" kern="0">
                          <a:effectLst/>
                        </a:rPr>
                        <a:t>Profit per Unit ($)</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Aft>
                          <a:spcPts val="800"/>
                        </a:spcAft>
                        <a:buNone/>
                      </a:pPr>
                      <a:r>
                        <a:rPr lang="en-US" sz="1200" kern="0">
                          <a:effectLst/>
                        </a:rPr>
                        <a:t>Market Demand (max units)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41671234"/>
                  </a:ext>
                </a:extLst>
              </a:tr>
              <a:tr h="0">
                <a:tc>
                  <a:txBody>
                    <a:bodyPr/>
                    <a:lstStyle/>
                    <a:p>
                      <a:pPr marL="0" marR="0">
                        <a:lnSpc>
                          <a:spcPct val="115000"/>
                        </a:lnSpc>
                        <a:spcAft>
                          <a:spcPts val="800"/>
                        </a:spcAft>
                        <a:buNone/>
                      </a:pPr>
                      <a:r>
                        <a:rPr lang="en-US" sz="1200" kern="0">
                          <a:effectLst/>
                        </a:rPr>
                        <a:t>A</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2</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100</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10</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02871642"/>
                  </a:ext>
                </a:extLst>
              </a:tr>
              <a:tr h="0">
                <a:tc>
                  <a:txBody>
                    <a:bodyPr/>
                    <a:lstStyle/>
                    <a:p>
                      <a:pPr marL="0" marR="0">
                        <a:lnSpc>
                          <a:spcPct val="115000"/>
                        </a:lnSpc>
                        <a:spcAft>
                          <a:spcPts val="800"/>
                        </a:spcAft>
                        <a:buNone/>
                      </a:pPr>
                      <a:r>
                        <a:rPr lang="en-US" sz="1200" kern="0">
                          <a:effectLst/>
                        </a:rPr>
                        <a:t>B</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150</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8</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63324902"/>
                  </a:ext>
                </a:extLst>
              </a:tr>
              <a:tr h="0">
                <a:tc>
                  <a:txBody>
                    <a:bodyPr/>
                    <a:lstStyle/>
                    <a:p>
                      <a:pPr marL="0" marR="0">
                        <a:lnSpc>
                          <a:spcPct val="115000"/>
                        </a:lnSpc>
                        <a:spcAft>
                          <a:spcPts val="800"/>
                        </a:spcAft>
                        <a:buNone/>
                      </a:pPr>
                      <a:r>
                        <a:rPr lang="en-US" sz="1200" kern="0">
                          <a:effectLst/>
                        </a:rPr>
                        <a:t>C</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75</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15</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8421543"/>
                  </a:ext>
                </a:extLst>
              </a:tr>
              <a:tr h="0">
                <a:tc>
                  <a:txBody>
                    <a:bodyPr/>
                    <a:lstStyle/>
                    <a:p>
                      <a:pPr marL="0" marR="0">
                        <a:lnSpc>
                          <a:spcPct val="115000"/>
                        </a:lnSpc>
                        <a:spcAft>
                          <a:spcPts val="800"/>
                        </a:spcAft>
                        <a:buNone/>
                      </a:pPr>
                      <a:r>
                        <a:rPr lang="en-US" sz="1200" kern="0">
                          <a:effectLst/>
                        </a:rPr>
                        <a:t>D</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200</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5</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25678083"/>
                  </a:ext>
                </a:extLst>
              </a:tr>
              <a:tr h="0">
                <a:tc>
                  <a:txBody>
                    <a:bodyPr/>
                    <a:lstStyle/>
                    <a:p>
                      <a:pPr marL="0" marR="0">
                        <a:lnSpc>
                          <a:spcPct val="115000"/>
                        </a:lnSpc>
                        <a:spcAft>
                          <a:spcPts val="800"/>
                        </a:spcAft>
                        <a:buNone/>
                      </a:pPr>
                      <a:r>
                        <a:rPr lang="en-US" sz="1200" kern="0">
                          <a:effectLst/>
                        </a:rPr>
                        <a:t>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2.5</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a:effectLst/>
                        </a:rPr>
                        <a:t>120</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200" kern="0" dirty="0">
                          <a:effectLst/>
                        </a:rPr>
                        <a:t>12</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55818240"/>
                  </a:ext>
                </a:extLst>
              </a:tr>
            </a:tbl>
          </a:graphicData>
        </a:graphic>
      </p:graphicFrame>
      <p:sp>
        <p:nvSpPr>
          <p:cNvPr id="7" name="Rectangle 2">
            <a:extLst>
              <a:ext uri="{FF2B5EF4-FFF2-40B4-BE49-F238E27FC236}">
                <a16:creationId xmlns:a16="http://schemas.microsoft.com/office/drawing/2014/main" id="{8F40EFF5-7F86-78AC-996D-736682879611}"/>
              </a:ext>
            </a:extLst>
          </p:cNvPr>
          <p:cNvSpPr>
            <a:spLocks noChangeArrowheads="1"/>
          </p:cNvSpPr>
          <p:nvPr/>
        </p:nvSpPr>
        <p:spPr bwMode="auto">
          <a:xfrm>
            <a:off x="549934" y="19240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Arial" panose="020B0604020202020204" pitchFamily="34" charset="0"/>
              </a:rPr>
              <a:t>Production Data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7591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C8B7DD-3038-166E-2EFD-6731B30D2D85}"/>
              </a:ext>
            </a:extLst>
          </p:cNvPr>
          <p:cNvSpPr txBox="1"/>
          <p:nvPr/>
        </p:nvSpPr>
        <p:spPr>
          <a:xfrm>
            <a:off x="593066" y="726007"/>
            <a:ext cx="5447580" cy="307777"/>
          </a:xfrm>
          <a:prstGeom prst="rect">
            <a:avLst/>
          </a:prstGeom>
          <a:noFill/>
        </p:spPr>
        <p:txBody>
          <a:bodyPr wrap="square">
            <a:spAutoFit/>
          </a:bodyPr>
          <a:lstStyle/>
          <a:p>
            <a:r>
              <a:rPr lang="en-US" sz="1400" kern="0" dirty="0">
                <a:effectLst/>
                <a:latin typeface="Times New Roman" panose="02020603050405020304" pitchFamily="18" charset="0"/>
                <a:ea typeface="Times New Roman" panose="02020603050405020304" pitchFamily="18" charset="0"/>
              </a:rPr>
              <a:t>we need to represent </a:t>
            </a:r>
            <a:r>
              <a:rPr lang="en-US" sz="1400" b="1" kern="0" dirty="0">
                <a:effectLst/>
                <a:latin typeface="Times New Roman" panose="02020603050405020304" pitchFamily="18" charset="0"/>
                <a:ea typeface="Times New Roman" panose="02020603050405020304" pitchFamily="18" charset="0"/>
              </a:rPr>
              <a:t>how many units</a:t>
            </a:r>
            <a:r>
              <a:rPr lang="en-US" sz="1400" kern="0" dirty="0">
                <a:effectLst/>
                <a:latin typeface="Times New Roman" panose="02020603050405020304" pitchFamily="18" charset="0"/>
                <a:ea typeface="Times New Roman" panose="02020603050405020304" pitchFamily="18" charset="0"/>
              </a:rPr>
              <a:t> of each product</a:t>
            </a:r>
            <a:endParaRPr lang="en-US" dirty="0"/>
          </a:p>
        </p:txBody>
      </p:sp>
      <p:sp>
        <p:nvSpPr>
          <p:cNvPr id="5" name="TextBox 4">
            <a:extLst>
              <a:ext uri="{FF2B5EF4-FFF2-40B4-BE49-F238E27FC236}">
                <a16:creationId xmlns:a16="http://schemas.microsoft.com/office/drawing/2014/main" id="{9F2652F0-0639-E6B3-78A1-C2969B0BA1B5}"/>
              </a:ext>
            </a:extLst>
          </p:cNvPr>
          <p:cNvSpPr txBox="1"/>
          <p:nvPr/>
        </p:nvSpPr>
        <p:spPr>
          <a:xfrm>
            <a:off x="593066" y="1066904"/>
            <a:ext cx="5447580" cy="3060005"/>
          </a:xfrm>
          <a:prstGeom prst="rect">
            <a:avLst/>
          </a:prstGeom>
          <a:noFill/>
        </p:spPr>
        <p:txBody>
          <a:bodyPr wrap="square">
            <a:spAutoFit/>
          </a:bodyPr>
          <a:lstStyle/>
          <a:p>
            <a:pPr marL="0" marR="0">
              <a:lnSpc>
                <a:spcPct val="115000"/>
              </a:lnSpc>
              <a:spcAft>
                <a:spcPts val="800"/>
              </a:spcAft>
              <a:buNone/>
            </a:pPr>
            <a:r>
              <a:rPr lang="en-US" sz="1600" b="1" kern="0" dirty="0">
                <a:effectLst/>
                <a:latin typeface="Times New Roman" panose="02020603050405020304" pitchFamily="18" charset="0"/>
                <a:ea typeface="Times New Roman" panose="02020603050405020304" pitchFamily="18" charset="0"/>
                <a:cs typeface="Arial" panose="020B0604020202020204" pitchFamily="34" charset="0"/>
              </a:rPr>
              <a:t>Encoding Scheme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Each product's quantity is represented by a binary number using enough bits to cover its maximum demand:</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Product A (max 10): needs 4 bits (0-15)</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Product B (max 8): needs 4 bits (0-15)</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Product C (max 15): needs 4 bits (0-15)</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Product D (max 5): needs 3 bits (0-7)</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Product E (max 12): needs 4 bits (0-15)</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pPr>
            <a:r>
              <a:rPr lang="en-US" sz="1400" b="1" kern="0" dirty="0">
                <a:effectLst/>
                <a:latin typeface="Times New Roman" panose="02020603050405020304" pitchFamily="18" charset="0"/>
                <a:ea typeface="Times New Roman" panose="02020603050405020304" pitchFamily="18" charset="0"/>
                <a:cs typeface="Arial" panose="020B0604020202020204" pitchFamily="34" charset="0"/>
              </a:rPr>
              <a:t>Total chromosome length</a:t>
            </a: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 4 + 4 + 4 + 3 + 4 = 19 bits</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06744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F94931-33A3-032A-01B5-82A6E37F6E1A}"/>
              </a:ext>
            </a:extLst>
          </p:cNvPr>
          <p:cNvSpPr txBox="1"/>
          <p:nvPr/>
        </p:nvSpPr>
        <p:spPr>
          <a:xfrm>
            <a:off x="452887" y="565495"/>
            <a:ext cx="8238226" cy="4012509"/>
          </a:xfrm>
          <a:prstGeom prst="rect">
            <a:avLst/>
          </a:prstGeom>
          <a:noFill/>
        </p:spPr>
        <p:txBody>
          <a:bodyPr wrap="square">
            <a:spAutoFit/>
          </a:bodyPr>
          <a:lstStyle/>
          <a:p>
            <a:pPr marL="0" marR="0">
              <a:lnSpc>
                <a:spcPct val="115000"/>
              </a:lnSpc>
              <a:spcAft>
                <a:spcPts val="800"/>
              </a:spcAft>
              <a:buNone/>
            </a:pPr>
            <a:r>
              <a:rPr lang="en-US" sz="2400" b="1" kern="0" dirty="0">
                <a:effectLst/>
                <a:latin typeface="Times New Roman" panose="02020603050405020304" pitchFamily="18" charset="0"/>
                <a:ea typeface="Times New Roman" panose="02020603050405020304" pitchFamily="18" charset="0"/>
                <a:cs typeface="Arial" panose="020B0604020202020204" pitchFamily="34" charset="0"/>
              </a:rPr>
              <a:t>Example Chromosome</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Bits: [1010, 0110, 1111, 101, 1001]</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Decoded:</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A: 1010</a:t>
            </a:r>
            <a:r>
              <a:rPr lang="en-US" sz="1400" b="1" kern="0" dirty="0">
                <a:effectLst/>
                <a:latin typeface="Cambria Math" panose="02040503050406030204" pitchFamily="18" charset="0"/>
                <a:ea typeface="Times New Roman" panose="02020603050405020304" pitchFamily="18" charset="0"/>
                <a:cs typeface="Cambria Math" panose="02040503050406030204" pitchFamily="18" charset="0"/>
              </a:rPr>
              <a:t>₂</a:t>
            </a: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10 units</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B: 0110</a:t>
            </a:r>
            <a:r>
              <a:rPr lang="en-US" sz="1400" b="1" kern="0" dirty="0">
                <a:effectLst/>
                <a:latin typeface="Cambria Math" panose="02040503050406030204" pitchFamily="18" charset="0"/>
                <a:ea typeface="Times New Roman" panose="02020603050405020304" pitchFamily="18" charset="0"/>
                <a:cs typeface="Cambria Math" panose="02040503050406030204" pitchFamily="18" charset="0"/>
              </a:rPr>
              <a:t>₂</a:t>
            </a: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6 units  </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C: 1111</a:t>
            </a:r>
            <a:r>
              <a:rPr lang="en-US" sz="1400" b="1" kern="0" dirty="0">
                <a:effectLst/>
                <a:latin typeface="Cambria Math" panose="02040503050406030204" pitchFamily="18" charset="0"/>
                <a:ea typeface="Times New Roman" panose="02020603050405020304" pitchFamily="18" charset="0"/>
                <a:cs typeface="Cambria Math" panose="02040503050406030204" pitchFamily="18" charset="0"/>
              </a:rPr>
              <a:t>₂</a:t>
            </a: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15 units</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D: 101</a:t>
            </a:r>
            <a:r>
              <a:rPr lang="en-US" sz="1400" b="1" kern="0" dirty="0">
                <a:effectLst/>
                <a:latin typeface="Cambria Math" panose="02040503050406030204" pitchFamily="18" charset="0"/>
                <a:ea typeface="Times New Roman" panose="02020603050405020304" pitchFamily="18" charset="0"/>
                <a:cs typeface="Cambria Math" panose="02040503050406030204" pitchFamily="18" charset="0"/>
              </a:rPr>
              <a:t>₂</a:t>
            </a: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5 units</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E: 1001</a:t>
            </a:r>
            <a:r>
              <a:rPr lang="en-US" sz="1400" b="1" kern="0" dirty="0">
                <a:effectLst/>
                <a:latin typeface="Cambria Math" panose="02040503050406030204" pitchFamily="18" charset="0"/>
                <a:ea typeface="Times New Roman" panose="02020603050405020304" pitchFamily="18" charset="0"/>
                <a:cs typeface="Cambria Math" panose="02040503050406030204" pitchFamily="18" charset="0"/>
              </a:rPr>
              <a:t>₂</a:t>
            </a: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9 units</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Total hours = (10×2) + (6×3) + (15×1) + (5×4) + (9×2.5)</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kern="0" dirty="0">
                <a:effectLst/>
                <a:latin typeface="Courier New" panose="02070309020205020404" pitchFamily="49" charset="0"/>
                <a:ea typeface="Times New Roman" panose="02020603050405020304" pitchFamily="18" charset="0"/>
                <a:cs typeface="Arial" panose="020B0604020202020204" pitchFamily="34" charset="0"/>
              </a:rPr>
              <a:t>            = 20 + 18 + 15 + 20 + 22.5 = 95.5 hours (EXCEEDS 40!)</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72939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7F54BB-A8C6-D1D6-C23B-48A4E12449E7}"/>
              </a:ext>
            </a:extLst>
          </p:cNvPr>
          <p:cNvSpPr txBox="1"/>
          <p:nvPr/>
        </p:nvSpPr>
        <p:spPr>
          <a:xfrm>
            <a:off x="138024" y="71515"/>
            <a:ext cx="8488392" cy="4873578"/>
          </a:xfrm>
          <a:prstGeom prst="rect">
            <a:avLst/>
          </a:prstGeom>
          <a:noFill/>
        </p:spPr>
        <p:txBody>
          <a:bodyPr wrap="square">
            <a:spAutoFit/>
          </a:bodyPr>
          <a:lstStyle/>
          <a:p>
            <a:pPr marL="0" marR="0">
              <a:lnSpc>
                <a:spcPct val="115000"/>
              </a:lnSpc>
              <a:spcAft>
                <a:spcPts val="800"/>
              </a:spcAft>
              <a:buNone/>
            </a:pPr>
            <a:r>
              <a:rPr lang="en-US" b="1" kern="0" dirty="0">
                <a:effectLst/>
                <a:latin typeface="+mn-lt"/>
                <a:ea typeface="Times New Roman" panose="02020603050405020304" pitchFamily="18" charset="0"/>
                <a:cs typeface="Arial" panose="020B0604020202020204" pitchFamily="34" charset="0"/>
              </a:rPr>
              <a:t>2. Initial Population</a:t>
            </a:r>
            <a:endParaRPr lang="en-US"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pPr>
            <a:r>
              <a:rPr lang="en-US" b="1" kern="0" dirty="0">
                <a:effectLst/>
                <a:latin typeface="+mn-lt"/>
                <a:ea typeface="Times New Roman" panose="02020603050405020304" pitchFamily="18" charset="0"/>
                <a:cs typeface="Arial" panose="020B0604020202020204" pitchFamily="34" charset="0"/>
              </a:rPr>
              <a:t>Randomly generate 19-bit strings and decode:</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Chromosome 1: [0100,0011,1010,010,0110] → Units: 4,3,10,2,6</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Hours: 8+9+10+8+15 = 50h (invalid)</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Profit: $400+450+750+400+720 = $2720 - penalty = $1720</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Chromosome 2: [0011,0010,0101,001,0011] → Units: 3,2,5,1,3</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Hours: 6+6+5+4+7.5 = 28.5h (valid)</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Profit: $300+300+375+200+360 = $1535</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Chromosome 3: [0101,0100,0111,011,0100] → Units: 5,4,7,3,4</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Hours: 10+12+7+12+10 = 51h (invalid)</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Profit: $500+600+525+600+480 = $2705 - penalty = $1605</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Chromosome 4: [0010,0001,1000,010,1010] → Units: 2,1,8,2,10</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Hours: 4+3+8+8+25 = 48h (invalid)</a:t>
            </a:r>
            <a:endParaRPr lang="en-US" b="1" kern="100" dirty="0">
              <a:effectLst/>
              <a:latin typeface="+mn-lt"/>
              <a:ea typeface="Calibri" panose="020F0502020204030204" pitchFamily="34" charset="0"/>
              <a:cs typeface="Arial" panose="020B0604020202020204" pitchFamily="34" charset="0"/>
            </a:endParaRPr>
          </a:p>
          <a:p>
            <a:pPr marL="0" marR="0">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kern="0" dirty="0">
                <a:effectLst/>
                <a:latin typeface="+mn-lt"/>
                <a:ea typeface="Times New Roman" panose="02020603050405020304" pitchFamily="18" charset="0"/>
                <a:cs typeface="Arial" panose="020B0604020202020204" pitchFamily="34" charset="0"/>
              </a:rPr>
              <a:t>              Profit: $200+150+600+400+1200 = $2550 - penalty = $1750</a:t>
            </a:r>
            <a:endParaRPr lang="en-US" b="1" kern="100" dirty="0">
              <a:effectLst/>
              <a:latin typeface="+mn-l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67808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791C25-1A94-588B-AEE0-2FFFA34B3A3D}"/>
              </a:ext>
            </a:extLst>
          </p:cNvPr>
          <p:cNvSpPr txBox="1"/>
          <p:nvPr/>
        </p:nvSpPr>
        <p:spPr>
          <a:xfrm>
            <a:off x="547777" y="1976837"/>
            <a:ext cx="8048445" cy="830997"/>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ar-EG" sz="2400" b="1" i="0" u="none" strike="noStrike" kern="0" cap="none" spc="0" normalizeH="0" baseline="0" noProof="0" dirty="0">
                <a:ln>
                  <a:noFill/>
                </a:ln>
                <a:solidFill>
                  <a:srgbClr val="D149CE">
                    <a:lumMod val="50000"/>
                  </a:srgbClr>
                </a:solidFill>
                <a:effectLst/>
                <a:uLnTx/>
                <a:uFillTx/>
                <a:latin typeface="Candara" panose="020E0502030303020204" pitchFamily="34" charset="0"/>
                <a:cs typeface="Arial"/>
                <a:sym typeface="Arial"/>
              </a:rPr>
              <a:t>جزاكم الله خيرا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ar-EG" sz="2400" b="1" i="0" u="none" strike="noStrike" kern="0" cap="none" spc="0" normalizeH="0" baseline="0" noProof="0" dirty="0">
                <a:ln>
                  <a:noFill/>
                </a:ln>
                <a:solidFill>
                  <a:srgbClr val="D149CE">
                    <a:lumMod val="50000"/>
                  </a:srgbClr>
                </a:solidFill>
                <a:effectLst/>
                <a:uLnTx/>
                <a:uFillTx/>
                <a:latin typeface="Candara" panose="020E0502030303020204" pitchFamily="34" charset="0"/>
                <a:cs typeface="Arial"/>
                <a:sym typeface="Arial"/>
              </a:rPr>
              <a:t>وصل اللهم على سيدنا محمد وعلى اله وصحبه وسلم</a:t>
            </a:r>
            <a:endParaRPr kumimoji="0" lang="en-US" sz="2400" b="1" i="0" u="none" strike="noStrike" kern="0" cap="none" spc="0" normalizeH="0" baseline="0" noProof="0" dirty="0">
              <a:ln>
                <a:noFill/>
              </a:ln>
              <a:solidFill>
                <a:srgbClr val="D149CE">
                  <a:lumMod val="50000"/>
                </a:srgbClr>
              </a:solidFill>
              <a:effectLst/>
              <a:uLnTx/>
              <a:uFillTx/>
              <a:latin typeface="Candara" panose="020E0502030303020204" pitchFamily="34" charset="0"/>
              <a:cs typeface="Arial"/>
              <a:sym typeface="Arial"/>
            </a:endParaRPr>
          </a:p>
        </p:txBody>
      </p:sp>
    </p:spTree>
    <p:extLst>
      <p:ext uri="{BB962C8B-B14F-4D97-AF65-F5344CB8AC3E}">
        <p14:creationId xmlns:p14="http://schemas.microsoft.com/office/powerpoint/2010/main" val="2752921465"/>
      </p:ext>
    </p:extLst>
  </p:cSld>
  <p:clrMapOvr>
    <a:masterClrMapping/>
  </p:clrMapOvr>
</p:sld>
</file>

<file path=ppt/theme/theme1.xml><?xml version="1.0" encoding="utf-8"?>
<a:theme xmlns:a="http://schemas.openxmlformats.org/drawingml/2006/main" name="Computer Science &amp; Mathematics Major For College: Mathematics by Slidesgo">
  <a:themeElements>
    <a:clrScheme name="Simple Light">
      <a:dk1>
        <a:srgbClr val="FFFFFF"/>
      </a:dk1>
      <a:lt1>
        <a:srgbClr val="F3F3F3"/>
      </a:lt1>
      <a:dk2>
        <a:srgbClr val="666666"/>
      </a:dk2>
      <a:lt2>
        <a:srgbClr val="D149CE"/>
      </a:lt2>
      <a:accent1>
        <a:srgbClr val="43309F"/>
      </a:accent1>
      <a:accent2>
        <a:srgbClr val="000000"/>
      </a:accent2>
      <a:accent3>
        <a:srgbClr val="FFFFFF"/>
      </a:accent3>
      <a:accent4>
        <a:srgbClr val="FFFFFF"/>
      </a:accent4>
      <a:accent5>
        <a:srgbClr val="FFFFFF"/>
      </a:accent5>
      <a:accent6>
        <a:srgbClr val="FFFFFF"/>
      </a:accent6>
      <a:hlink>
        <a:srgbClr val="6666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omputer Science &amp; Mathematics Major For College: Mathematics by Slidesgo">
  <a:themeElements>
    <a:clrScheme name="Simple Light">
      <a:dk1>
        <a:srgbClr val="FFFFFF"/>
      </a:dk1>
      <a:lt1>
        <a:srgbClr val="F3F3F3"/>
      </a:lt1>
      <a:dk2>
        <a:srgbClr val="666666"/>
      </a:dk2>
      <a:lt2>
        <a:srgbClr val="D149CE"/>
      </a:lt2>
      <a:accent1>
        <a:srgbClr val="43309F"/>
      </a:accent1>
      <a:accent2>
        <a:srgbClr val="000000"/>
      </a:accent2>
      <a:accent3>
        <a:srgbClr val="FFFFFF"/>
      </a:accent3>
      <a:accent4>
        <a:srgbClr val="FFFFFF"/>
      </a:accent4>
      <a:accent5>
        <a:srgbClr val="FFFFFF"/>
      </a:accent5>
      <a:accent6>
        <a:srgbClr val="FFFFFF"/>
      </a:accent6>
      <a:hlink>
        <a:srgbClr val="6666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1770</TotalTime>
  <Words>1899</Words>
  <Application>Microsoft Office PowerPoint</Application>
  <PresentationFormat>On-screen Show (16:9)</PresentationFormat>
  <Paragraphs>227</Paragraphs>
  <Slides>34</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34</vt:i4>
      </vt:variant>
    </vt:vector>
  </HeadingPairs>
  <TitlesOfParts>
    <vt:vector size="47" baseType="lpstr">
      <vt:lpstr>Cambria Math</vt:lpstr>
      <vt:lpstr>Candara</vt:lpstr>
      <vt:lpstr>Arial</vt:lpstr>
      <vt:lpstr>Wingdings</vt:lpstr>
      <vt:lpstr>Times New Roman</vt:lpstr>
      <vt:lpstr>Poppins</vt:lpstr>
      <vt:lpstr>Courier New</vt:lpstr>
      <vt:lpstr>Symbol</vt:lpstr>
      <vt:lpstr>Poppins SemiBold</vt:lpstr>
      <vt:lpstr>Calibri</vt:lpstr>
      <vt:lpstr>MS Reference Sans Serif</vt:lpstr>
      <vt:lpstr>Computer Science &amp; Mathematics Major For College: Mathematics by Slidesgo</vt:lpstr>
      <vt:lpstr>1_Computer Science &amp; Mathematics Major For College: Mathematics by Slidesgo</vt:lpstr>
      <vt:lpstr>Assiut University  Faculty of Computers &amp; Information Computer Science Department  </vt:lpstr>
      <vt:lpstr>Grading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dc:creator>
  <cp:lastModifiedBy>sara salah</cp:lastModifiedBy>
  <cp:revision>214</cp:revision>
  <dcterms:modified xsi:type="dcterms:W3CDTF">2026-03-10T05:19:52Z</dcterms:modified>
</cp:coreProperties>
</file>