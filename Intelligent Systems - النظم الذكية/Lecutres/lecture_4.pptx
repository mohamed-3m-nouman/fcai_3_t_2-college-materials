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1" r:id="rId3"/>
  </p:sldMasterIdLst>
  <p:notesMasterIdLst>
    <p:notesMasterId r:id="rId22"/>
  </p:notesMasterIdLst>
  <p:sldIdLst>
    <p:sldId id="375" r:id="rId4"/>
    <p:sldId id="376" r:id="rId5"/>
    <p:sldId id="320" r:id="rId6"/>
    <p:sldId id="358" r:id="rId7"/>
    <p:sldId id="380" r:id="rId8"/>
    <p:sldId id="410" r:id="rId9"/>
    <p:sldId id="386" r:id="rId10"/>
    <p:sldId id="408" r:id="rId11"/>
    <p:sldId id="391" r:id="rId12"/>
    <p:sldId id="405" r:id="rId13"/>
    <p:sldId id="406" r:id="rId14"/>
    <p:sldId id="407" r:id="rId15"/>
    <p:sldId id="411" r:id="rId16"/>
    <p:sldId id="412" r:id="rId17"/>
    <p:sldId id="413" r:id="rId18"/>
    <p:sldId id="414" r:id="rId19"/>
    <p:sldId id="394" r:id="rId20"/>
    <p:sldId id="349" r:id="rId21"/>
  </p:sldIdLst>
  <p:sldSz cx="9144000" cy="5143500" type="screen16x9"/>
  <p:notesSz cx="6858000" cy="9144000"/>
  <p:embeddedFontLst>
    <p:embeddedFont>
      <p:font typeface="Poppins SemiBold" panose="00000500000000000000"/>
      <p:regular r:id="rId26"/>
    </p:embeddedFont>
    <p:embeddedFont>
      <p:font typeface="Poppins" panose="00000500000000000000"/>
      <p:regular r:id="rId27"/>
    </p:embeddedFont>
    <p:embeddedFont>
      <p:font typeface="MS Reference Sans Serif" panose="020B0604030504040204" pitchFamily="34" charset="0"/>
      <p:regular r:id="rId28"/>
    </p:embeddedFont>
    <p:embeddedFont>
      <p:font typeface="Candara" panose="020E0502030303020204" pitchFamily="34" charset="0"/>
      <p:regular r:id="rId29"/>
      <p:bold r:id="rId30"/>
      <p:italic r:id="rId31"/>
      <p:boldItalic r:id="rId32"/>
    </p:embeddedFont>
    <p:embeddedFont>
      <p:font typeface="Arial Unicode MS" panose="020B0604020202020204" charset="-122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8164BF3-4A2A-4AF8-AE50-BFDFB42682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8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9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>
            <a:off x="-904525" y="1831800"/>
            <a:ext cx="4698300" cy="46989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" name="Google Shape;57;p10"/>
          <p:cNvSpPr/>
          <p:nvPr/>
        </p:nvSpPr>
        <p:spPr>
          <a:xfrm>
            <a:off x="2580750" y="3936625"/>
            <a:ext cx="2162700" cy="2162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10"/>
          <p:cNvSpPr/>
          <p:nvPr/>
        </p:nvSpPr>
        <p:spPr>
          <a:xfrm>
            <a:off x="-390175" y="1831800"/>
            <a:ext cx="856500" cy="856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713225" y="2508375"/>
            <a:ext cx="2260500" cy="188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713225" y="1376788"/>
            <a:ext cx="2865300" cy="8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" name="Google Shape;97;p16"/>
          <p:cNvSpPr txBox="1">
            <a:spLocks noGrp="1"/>
          </p:cNvSpPr>
          <p:nvPr>
            <p:ph type="subTitle" idx="1"/>
          </p:nvPr>
        </p:nvSpPr>
        <p:spPr>
          <a:xfrm>
            <a:off x="713225" y="2753300"/>
            <a:ext cx="2865300" cy="10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/>
          <p:nvPr/>
        </p:nvSpPr>
        <p:spPr>
          <a:xfrm flipH="1">
            <a:off x="753090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16"/>
          <p:cNvSpPr/>
          <p:nvPr/>
        </p:nvSpPr>
        <p:spPr>
          <a:xfrm rot="10800000" flipH="1">
            <a:off x="0" y="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16"/>
          <p:cNvSpPr/>
          <p:nvPr/>
        </p:nvSpPr>
        <p:spPr>
          <a:xfrm>
            <a:off x="314375" y="4417950"/>
            <a:ext cx="2162700" cy="2163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16"/>
          <p:cNvSpPr/>
          <p:nvPr/>
        </p:nvSpPr>
        <p:spPr>
          <a:xfrm>
            <a:off x="-777450" y="441795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" name="Google Shape;102;p16"/>
          <p:cNvSpPr/>
          <p:nvPr/>
        </p:nvSpPr>
        <p:spPr>
          <a:xfrm>
            <a:off x="7093500" y="-805900"/>
            <a:ext cx="1490700" cy="14907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3" name="Google Shape;103;p16"/>
          <p:cNvSpPr/>
          <p:nvPr/>
        </p:nvSpPr>
        <p:spPr>
          <a:xfrm>
            <a:off x="8176100" y="229275"/>
            <a:ext cx="637500" cy="637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18900732" scaled="0"/>
        </a:gra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0" y="4822125"/>
            <a:ext cx="1613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0" name="Google Shape;220;p29"/>
          <p:cNvSpPr/>
          <p:nvPr/>
        </p:nvSpPr>
        <p:spPr>
          <a:xfrm rot="10800000">
            <a:off x="7527900" y="0"/>
            <a:ext cx="16161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1" name="Google Shape;221;p29"/>
          <p:cNvSpPr/>
          <p:nvPr/>
        </p:nvSpPr>
        <p:spPr>
          <a:xfrm>
            <a:off x="-561150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2" name="Google Shape;222;p29"/>
          <p:cNvSpPr/>
          <p:nvPr/>
        </p:nvSpPr>
        <p:spPr>
          <a:xfrm>
            <a:off x="8239950" y="4237275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3" name="Google Shape;223;p29"/>
          <p:cNvSpPr/>
          <p:nvPr/>
        </p:nvSpPr>
        <p:spPr>
          <a:xfrm>
            <a:off x="713225" y="-3914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gradFill>
          <a:gsLst>
            <a:gs pos="0">
              <a:schemeClr val="dk1"/>
            </a:gs>
            <a:gs pos="100000">
              <a:schemeClr val="lt1"/>
            </a:gs>
          </a:gsLst>
          <a:lin ang="5400700" scaled="0"/>
        </a:gra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/>
          <p:nvPr/>
        </p:nvSpPr>
        <p:spPr>
          <a:xfrm rot="10800000" flipH="1">
            <a:off x="0" y="0"/>
            <a:ext cx="28575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4" name="Google Shape;214;p28"/>
          <p:cNvSpPr/>
          <p:nvPr/>
        </p:nvSpPr>
        <p:spPr>
          <a:xfrm flipH="1">
            <a:off x="6286800" y="4822125"/>
            <a:ext cx="2857200" cy="321300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5" name="Google Shape;215;p28"/>
          <p:cNvSpPr/>
          <p:nvPr/>
        </p:nvSpPr>
        <p:spPr>
          <a:xfrm>
            <a:off x="-542100" y="43634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6" name="Google Shape;216;p28"/>
          <p:cNvSpPr/>
          <p:nvPr/>
        </p:nvSpPr>
        <p:spPr>
          <a:xfrm>
            <a:off x="8430775" y="-818150"/>
            <a:ext cx="1490700" cy="1491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14313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28"/>
          <p:cNvSpPr/>
          <p:nvPr/>
        </p:nvSpPr>
        <p:spPr>
          <a:xfrm>
            <a:off x="713225" y="4790200"/>
            <a:ext cx="637500" cy="6375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●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○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■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●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○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■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●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○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■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Poppins SemiBold" panose="00000500000000000000"/>
              <a:buNone/>
              <a:defRPr sz="3000">
                <a:solidFill>
                  <a:schemeClr val="accent2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●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○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■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●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○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■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●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○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Char char="■"/>
              <a:defRPr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6428" y="486274"/>
            <a:ext cx="5631141" cy="1196013"/>
          </a:xfrm>
          <a:ln w="28575">
            <a:solidFill>
              <a:schemeClr val="tx2">
                <a:lumMod val="50000"/>
              </a:schemeClr>
            </a:solidFill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chemeClr val="tx2">
                    <a:lumMod val="50000"/>
                  </a:schemeClr>
                </a:solidFill>
                <a:latin typeface="MS Reference Sans Serif" panose="020B0604030504040204" pitchFamily="34" charset="0"/>
              </a:rPr>
              <a:t>Assiut University </a:t>
            </a:r>
            <a:br>
              <a:rPr lang="en-US" sz="1400" b="1" dirty="0">
                <a:solidFill>
                  <a:schemeClr val="tx2">
                    <a:lumMod val="50000"/>
                  </a:schemeClr>
                </a:solidFill>
                <a:latin typeface="MS Reference Sans Serif" panose="020B0604030504040204" pitchFamily="34" charset="0"/>
              </a:rPr>
            </a:br>
            <a:r>
              <a:rPr lang="en-US" sz="1400" b="1" dirty="0">
                <a:solidFill>
                  <a:schemeClr val="tx2">
                    <a:lumMod val="50000"/>
                  </a:schemeClr>
                </a:solidFill>
                <a:latin typeface="MS Reference Sans Serif" panose="020B0604030504040204" pitchFamily="34" charset="0"/>
              </a:rPr>
              <a:t>Faculty of Computers &amp; Information</a:t>
            </a:r>
            <a:br>
              <a:rPr lang="en-US" sz="1400" b="1" dirty="0">
                <a:solidFill>
                  <a:schemeClr val="tx2">
                    <a:lumMod val="50000"/>
                  </a:schemeClr>
                </a:solidFill>
                <a:latin typeface="MS Reference Sans Serif" panose="020B0604030504040204" pitchFamily="34" charset="0"/>
              </a:rPr>
            </a:br>
            <a:r>
              <a:rPr lang="en-US" sz="1400" b="1" dirty="0">
                <a:solidFill>
                  <a:schemeClr val="tx2">
                    <a:lumMod val="50000"/>
                  </a:schemeClr>
                </a:solidFill>
                <a:latin typeface="MS Reference Sans Serif" panose="020B0604030504040204" pitchFamily="34" charset="0"/>
              </a:rPr>
              <a:t>Computer Science Department </a:t>
            </a:r>
            <a:br>
              <a:rPr lang="en-US" sz="1400" b="1" dirty="0">
                <a:latin typeface="MS Reference Sans Serif" panose="020B0604030504040204" pitchFamily="34" charset="0"/>
              </a:rPr>
            </a:br>
            <a:endParaRPr lang="en-US" sz="1400" b="1" dirty="0">
              <a:latin typeface="MS Reference Sans Serif" panose="020B060403050404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5153" y="2065050"/>
            <a:ext cx="4386253" cy="1013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latin typeface="MS Reference Sans Serif" panose="020B0604030504040204" pitchFamily="34" charset="0"/>
              </a:rPr>
              <a:t>Intelligent Systems 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MS Reference Sans Serif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/>
          <a:srcRect l="6127" t="2732" r="5642" b="6557"/>
          <a:stretch>
            <a:fillRect/>
          </a:stretch>
        </p:blipFill>
        <p:spPr>
          <a:xfrm>
            <a:off x="802218" y="486274"/>
            <a:ext cx="723900" cy="1076520"/>
          </a:xfrm>
          <a:prstGeom prst="rect">
            <a:avLst/>
          </a:prstGeom>
        </p:spPr>
      </p:pic>
      <p:sp>
        <p:nvSpPr>
          <p:cNvPr id="235" name="Google Shape;235;p33"/>
          <p:cNvSpPr txBox="1"/>
          <p:nvPr/>
        </p:nvSpPr>
        <p:spPr>
          <a:xfrm>
            <a:off x="2912321" y="3739669"/>
            <a:ext cx="3781301" cy="730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None/>
              <a:defRPr sz="1400" b="0" i="0" u="none" strike="noStrike" cap="none"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None/>
              <a:defRPr sz="1400" b="0" i="0" u="none" strike="noStrike" cap="none"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None/>
              <a:defRPr sz="1400" b="0" i="0" u="none" strike="noStrike" cap="none"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None/>
              <a:defRPr sz="1400" b="0" i="0" u="none" strike="noStrike" cap="none"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None/>
              <a:defRPr sz="1400" b="0" i="0" u="none" strike="noStrike" cap="none"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None/>
              <a:defRPr sz="1400" b="0" i="0" u="none" strike="noStrike" cap="none"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None/>
              <a:defRPr sz="1400" b="0" i="0" u="none" strike="noStrike" cap="none"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None/>
              <a:defRPr sz="1400" b="0" i="0" u="none" strike="noStrike" cap="none"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oppins" panose="00000500000000000000"/>
              <a:buNone/>
              <a:defRPr sz="1400" b="0" i="0" u="none" strike="noStrike" cap="none">
                <a:solidFill>
                  <a:schemeClr val="dk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pPr marL="0" indent="0" algn="ctr"/>
            <a:r>
              <a:rPr lang="en-US" b="1">
                <a:solidFill>
                  <a:schemeClr val="tx2">
                    <a:lumMod val="50000"/>
                  </a:schemeClr>
                </a:solidFill>
                <a:latin typeface="MS Reference Sans Serif" panose="020B0604030504040204" pitchFamily="34" charset="0"/>
              </a:rPr>
              <a:t>DR.SARA SALAH MOHAMED</a:t>
            </a:r>
            <a:endParaRPr lang="en-US" b="1" dirty="0">
              <a:solidFill>
                <a:schemeClr val="tx2">
                  <a:lumMod val="50000"/>
                </a:schemeClr>
              </a:solidFill>
              <a:latin typeface="MS Reference Sans Serif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359" y="405409"/>
            <a:ext cx="1085850" cy="123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975" y="546389"/>
            <a:ext cx="2865300" cy="876900"/>
          </a:xfrm>
        </p:spPr>
        <p:txBody>
          <a:bodyPr/>
          <a:lstStyle/>
          <a:p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Grading</a:t>
            </a:r>
            <a:endParaRPr lang="en-US" sz="1800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70857" y="1640045"/>
          <a:ext cx="4779818" cy="1863410"/>
        </p:xfrm>
        <a:graphic>
          <a:graphicData uri="http://schemas.openxmlformats.org/drawingml/2006/table">
            <a:tbl>
              <a:tblPr firstRow="1" firstCol="1" bandRow="1">
                <a:tableStyleId>{58164BF3-4A2A-4AF8-AE50-BFDFB4268269}</a:tableStyleId>
              </a:tblPr>
              <a:tblGrid>
                <a:gridCol w="3269395"/>
                <a:gridCol w="1510423"/>
              </a:tblGrid>
              <a:tr h="3726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MS Reference Sans Serif" panose="020B0604030504040204" pitchFamily="34" charset="0"/>
                        </a:rPr>
                        <a:t>Assessment</a:t>
                      </a:r>
                      <a:endParaRPr lang="en-US" sz="1400" b="1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MS Reference Sans Serif" panose="020B060403050404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MS Reference Sans Serif" panose="020B0604030504040204" pitchFamily="34" charset="0"/>
                        </a:rPr>
                        <a:t>Grade 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MS Reference Sans Serif" panose="020B060403050404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26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MS Reference Sans Serif" panose="020B0604030504040204" pitchFamily="34" charset="0"/>
                        </a:rPr>
                        <a:t>Final Exam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MS Reference Sans Serif" panose="020B060403050404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MS Reference Sans Serif" panose="020B0604030504040204" pitchFamily="34" charset="0"/>
                        </a:rPr>
                        <a:t>50%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MS Reference Sans Serif" panose="020B060403050404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26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MS Reference Sans Serif" panose="020B060403050404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Class Work</a:t>
                      </a:r>
                      <a:endParaRPr lang="en-US" sz="1400" b="1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MS Reference Sans Serif" panose="020B060403050404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MS Reference Sans Serif" panose="020B0604030504040204" pitchFamily="34" charset="0"/>
                        </a:rPr>
                        <a:t>6%</a:t>
                      </a:r>
                      <a:endParaRPr lang="en-US" sz="1400" b="1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MS Reference Sans Serif" panose="020B060403050404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26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MS Reference Sans Serif" panose="020B0604030504040204" pitchFamily="34" charset="0"/>
                        </a:rPr>
                        <a:t>Mid-Term Exam</a:t>
                      </a:r>
                      <a:endParaRPr lang="en-US" sz="1400" b="1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MS Reference Sans Serif" panose="020B060403050404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MS Reference Sans Serif" panose="020B0604030504040204" pitchFamily="34" charset="0"/>
                        </a:rPr>
                        <a:t>15%</a:t>
                      </a:r>
                      <a:endParaRPr lang="en-US" sz="1400" b="1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MS Reference Sans Serif" panose="020B060403050404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26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MS Reference Sans Serif" panose="020B0604030504040204" pitchFamily="34" charset="0"/>
                        </a:rPr>
                        <a:t>Project</a:t>
                      </a:r>
                      <a:endParaRPr lang="en-US" sz="1400" b="1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MS Reference Sans Serif" panose="020B060403050404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MS Reference Sans Serif" panose="020B0604030504040204" pitchFamily="34" charset="0"/>
                        </a:rPr>
                        <a:t>24%</a:t>
                      </a:r>
                      <a:endParaRPr lang="en-US" sz="1400" b="1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MS Reference Sans Serif" panose="020B060403050404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6254" y="682089"/>
            <a:ext cx="2512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2"/>
              </a:buClr>
              <a:buSzPts val="3000"/>
            </a:pPr>
            <a:r>
              <a:rPr lang="en-US" sz="1800" dirty="0">
                <a:solidFill>
                  <a:schemeClr val="tx2">
                    <a:lumMod val="50000"/>
                  </a:schemeClr>
                </a:solidFill>
                <a:latin typeface="Poppins SemiBold" panose="00000500000000000000"/>
                <a:cs typeface="Poppins SemiBold" panose="00000500000000000000"/>
                <a:sym typeface="Poppins SemiBold" panose="00000500000000000000"/>
              </a:rPr>
              <a:t>Text Book </a:t>
            </a:r>
            <a:endParaRPr lang="en-US" sz="1800" dirty="0">
              <a:solidFill>
                <a:schemeClr val="tx2">
                  <a:lumMod val="50000"/>
                </a:schemeClr>
              </a:solidFill>
              <a:latin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0512" y="0"/>
            <a:ext cx="525348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7751" y="357774"/>
            <a:ext cx="1155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D149CE">
                    <a:lumMod val="50000"/>
                  </a:srgbClr>
                </a:solidFill>
                <a:effectLst/>
                <a:uLnTx/>
                <a:uFillTx/>
                <a:latin typeface="Candara" panose="020E0502030303020204" pitchFamily="34" charset="0"/>
                <a:cs typeface="Arial" panose="020B0604020202020204"/>
                <a:sym typeface="Arial" panose="020B0604020202020204"/>
              </a:rPr>
              <a:t>Content 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D149CE">
                  <a:lumMod val="50000"/>
                </a:srgbClr>
              </a:solidFill>
              <a:effectLst/>
              <a:uLnTx/>
              <a:uFillTx/>
              <a:latin typeface="Candara" panose="020E0502030303020204" pitchFamily="34" charset="0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3638" y="612475"/>
            <a:ext cx="3613495" cy="435634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941" y="707367"/>
            <a:ext cx="7458471" cy="35713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359878"/>
            <a:ext cx="544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When to Use Integer Encoding?</a:t>
            </a:r>
            <a:endParaRPr lang="en-US" sz="1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74785"/>
            <a:ext cx="4190335" cy="4065198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252823" y="359878"/>
            <a:ext cx="56344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When NOT to Use Integer Encoding?</a:t>
            </a:r>
            <a:endParaRPr lang="en-US" sz="1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208" y="974786"/>
            <a:ext cx="4334881" cy="3035440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3305" y="265403"/>
            <a:ext cx="4565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2-Integer Representation</a:t>
            </a:r>
            <a:endParaRPr lang="en-US" sz="1800" b="1" dirty="0">
              <a:solidFill>
                <a:schemeClr val="tx2">
                  <a:lumMod val="50000"/>
                </a:schemeClr>
              </a:solidFill>
              <a:latin typeface="Candara" panose="020E0502030303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126" y="1644615"/>
            <a:ext cx="3730874" cy="31400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305" y="656751"/>
            <a:ext cx="415363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Integer representation uses whole numbers (integers) as genes in a chromosome. Each position can take values from a specified set or range of integers, making it ideal for problems with discrete, countable options.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914" y="358870"/>
            <a:ext cx="3515137" cy="11087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5" y="2003487"/>
            <a:ext cx="4964609" cy="31400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911" y="355070"/>
            <a:ext cx="544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Types of Integer Representation</a:t>
            </a:r>
            <a:endParaRPr lang="en-US" sz="18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911" y="802680"/>
            <a:ext cx="786944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1. Value Encoding (Simple Integers)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dirty="0"/>
              <a:t>Each gene can be any integer within a range</a:t>
            </a: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Problem: Assign quantities to 5 products (0-100 units each)</a:t>
            </a:r>
            <a:endParaRPr lang="en-US" b="1" dirty="0">
              <a:solidFill>
                <a:srgbClr val="C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</a:rPr>
              <a:t>Chromosome: [45, 67, 12, 89, 33]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</a:rPr>
              <a:t>Meaning: Product1=45 units, Product2=67 units, etc.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en-US" b="1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2. Permutation Encoding (Order-Based)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dirty="0"/>
              <a:t>Each integer appears exactly once, represents a sequence or order.</a:t>
            </a: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Problem: Traveling Salesman Problem (visit 8 cities)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Chromosome: [3, 1, 4, 2, 7, 5, 8, 6]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Meaning: Visit city3 → city1 → city4 → city2 → city7 → city5 → city8 → city6</a:t>
            </a:r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3. Multi-Parameter Encoding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dirty="0"/>
              <a:t>Different genes represent different types of parameters</a:t>
            </a: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Problem: Design a car (color, engine, wheels, transmission)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Domains: Color(1-6), Engine(1-4), Wheels(1-3), Transmission(1-2)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Chromosome: [3, 2, 1, 2]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Meaning: Blue car, V6 engine, Alloy wheels, Automatic</a:t>
            </a:r>
            <a:endParaRPr lang="en-US" b="1" dirty="0">
              <a:solidFill>
                <a:srgbClr val="00B050"/>
              </a:solidFill>
            </a:endParaRPr>
          </a:p>
          <a:p>
            <a:endParaRPr lang="en-US" b="1" dirty="0">
              <a:solidFill>
                <a:srgbClr val="00B050"/>
              </a:solidFill>
            </a:endParaRPr>
          </a:p>
          <a:p>
            <a:pPr>
              <a:buNone/>
            </a:pPr>
            <a:endParaRPr lang="en-US" b="1" dirty="0">
              <a:solidFill>
                <a:srgbClr val="00B05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6030" y="260395"/>
            <a:ext cx="6920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Crossover or Recombination for Integer Representation</a:t>
            </a:r>
            <a:endParaRPr lang="en-US" sz="1800" b="1" dirty="0">
              <a:solidFill>
                <a:schemeClr val="tx2">
                  <a:lumMod val="50000"/>
                </a:schemeClr>
              </a:solidFill>
              <a:latin typeface="Candara" panose="020E0502030303020204" pitchFamily="34" charset="0"/>
            </a:endParaRPr>
          </a:p>
          <a:p>
            <a:r>
              <a:rPr lang="en-US" sz="1400" b="1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6030" y="691281"/>
            <a:ext cx="54475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Crossover for Value Encoding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6030" y="1014446"/>
            <a:ext cx="73949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1-Single-Point Crossover: </a:t>
            </a:r>
            <a:r>
              <a:rPr lang="en-US" dirty="0"/>
              <a:t>cut both parents at the same point and swap tails as we learn in  binary representation .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86030" y="1553054"/>
            <a:ext cx="54475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parent1: [45, 67, 12 | 89, 33, 21, 54, 78]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Parent2: [23, 56, 91 | 34, 62, 85, 47, 19]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                  ↑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             Cut point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Child1:  [45, 67, 12 | 34, 62, 85, 47, 19]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Child2:  [23, 56, 91 | 89, 33, 21, 54, 78]</a:t>
            </a:r>
            <a:endParaRPr lang="en-US" b="1" dirty="0">
              <a:latin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6029" y="3153492"/>
            <a:ext cx="75330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 Two-Point Crossover</a:t>
            </a:r>
            <a:endParaRPr lang="en-US" b="1" dirty="0"/>
          </a:p>
          <a:p>
            <a:pPr>
              <a:buNone/>
            </a:pPr>
            <a:r>
              <a:rPr lang="en-US" dirty="0"/>
              <a:t>Selects a segment between two points and swaps it between parents.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86028" y="3652000"/>
            <a:ext cx="54475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Parent1: [45, 67 | 12, 89, 33 | 21, 54, 78]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Parent2: [23, 56 | 91, 34, 62 | 85, 47, 19]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             ↑            ↑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          Point1        Point2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Child1: [45, 67 | 91, 34, 62 | 21, 54, 78]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Child2: [23, 56 | 12, 89, 33 | 85, 47, 19]</a:t>
            </a:r>
            <a:endParaRPr 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6431" y="2017489"/>
            <a:ext cx="88075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Arithmetic Crossover</a:t>
            </a:r>
            <a:endParaRPr lang="en-US" b="1" dirty="0"/>
          </a:p>
          <a:p>
            <a:pPr>
              <a:buNone/>
            </a:pPr>
            <a:r>
              <a:rPr lang="en-US" dirty="0"/>
              <a:t>Creates children as weighted averages of parents. Three types(simple, single arithmetic and whole arithmetic)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36431" y="37487"/>
            <a:ext cx="54475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Uniform Crossover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36431" y="468373"/>
            <a:ext cx="71340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gene is independently chosen from either parent with equal probability.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6431" y="847938"/>
            <a:ext cx="841075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Parent1: [45, 67, 12, 89, 33, 21, 54, 78]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Parent2: [23, 56, 91, 34, 62, 85, 47, 19]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Mask:    [ 1,  0,  1,  0,  1,  0,  1,  0]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Child1:  [45, 56, 12, 34, 33, 85, 54, 19]  (from P1 where mask=1, else P2)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Child2:  [23, 67, 91, 89, 62, 21, 47, 78]  (opposite of Child1)</a:t>
            </a:r>
            <a:endParaRPr lang="en-US" b="1" dirty="0">
              <a:latin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6431" y="2807698"/>
            <a:ext cx="5447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+mn-lt"/>
              </a:rPr>
              <a:t>p1 = [10, 20, 30, 40, 50]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p2 = [90, 80, 70, 60, 50]</a:t>
            </a:r>
            <a:endParaRPr lang="en-US" b="1" dirty="0">
              <a:latin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96420" y="2956582"/>
            <a:ext cx="54475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Alpha = 0.3 (Child1 70% P2, 30% P1)</a:t>
            </a:r>
            <a:endParaRPr lang="en-US" b="1" dirty="0">
              <a:latin typeface="Courier New" panose="020703090202050204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6431" y="3505576"/>
            <a:ext cx="744675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Position 0: Child1 = 0.3×10 + 0.7×90 = 3 + 63 = 66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         Child2 = 0.7×10 + 0.3×90 = 7 + 27 = 34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Position 1: Child1 = 0.3×20 + 0.7×80 = 6 + 56 = 62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         Child2 = 0.7×20 + 0.3×80 = 14 + 24 = 38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... and so on</a:t>
            </a:r>
            <a:endParaRPr lang="en-US" b="1" dirty="0">
              <a:latin typeface="Courier New" panose="020703090202050204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4275" y="2561476"/>
            <a:ext cx="54475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whole arithmetic</a:t>
            </a:r>
            <a:endParaRPr lang="en-US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2515" y="286059"/>
            <a:ext cx="54475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</a:rPr>
              <a:t>Crossover for Permutation Encoding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2515" y="593836"/>
            <a:ext cx="9206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permutation encoding, each integer appears exactly once. Standard crossover would create invalid solutions with duplicates.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82515" y="1117056"/>
            <a:ext cx="8930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Partially mapped crossover Partially mapped crossover (PMX): </a:t>
            </a:r>
            <a:r>
              <a:rPr lang="en-US" dirty="0"/>
              <a:t>has been proposed in [19] as a recombination operator for the TSP. There exist now several variants of it.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180" y="1640276"/>
            <a:ext cx="7125419" cy="33544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75217" y="311408"/>
            <a:ext cx="686878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+mn-lt"/>
              </a:rPr>
              <a:t>Step 1: Select segment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Parent1: [3, 1, | 4, 2, 7 |, 5, 8, 6]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Parent2: [2, 4, | 1, 3, 6 |, 8, 5, 7]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                 ↑         ↑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              point1     point2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Step 2: Copy segment from Parent1 to child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Child:   [-, -, | 4, 2, 7 |, -, -, -]</a:t>
            </a:r>
            <a:endParaRPr lang="en-US" b="1" dirty="0">
              <a:latin typeface="+mn-lt"/>
            </a:endParaRPr>
          </a:p>
          <a:p>
            <a:pPr>
              <a:buNone/>
            </a:pP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Step 3: Create mapping from segment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Compare positions in the segment: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Position 2: P1=4, P2=1  → 4 ↔ 1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Position 3: P1=2, P2=3  → 2 ↔ 3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Position 4: P1=7, P2=6  → 7 ↔ 6</a:t>
            </a:r>
            <a:endParaRPr lang="en-US" b="1" dirty="0">
              <a:latin typeface="+mn-lt"/>
            </a:endParaRPr>
          </a:p>
          <a:p>
            <a:pPr>
              <a:buNone/>
            </a:pP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Mapping: {4:1, 2:3, 7:6}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Step 4: Fill remaining positions from Parent2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Position 0: P2[0]=2 → 2 maps to 3 → Child[0]=3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Position 1: P2[1]=4 → 4 maps to 1 → Child[1]=1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Position 5: P2[5]=8 → 8 not in map → Child[5]=8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Position 6: P2[6]=5 → 5 not in map → Child[6]=5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Position 7: P2[7]=7 → 7 maps to 6 → Child[7]=6</a:t>
            </a:r>
            <a:endParaRPr lang="en-US" b="1" dirty="0">
              <a:latin typeface="+mn-lt"/>
            </a:endParaRPr>
          </a:p>
          <a:p>
            <a:pPr>
              <a:buNone/>
            </a:pPr>
            <a:r>
              <a:rPr lang="en-US" b="1" dirty="0">
                <a:latin typeface="+mn-lt"/>
              </a:rPr>
              <a:t>Final Child: [3, 1, 4, 2, 7, 8, 5, 6]</a:t>
            </a:r>
            <a:endParaRPr lang="en-US" b="1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6431" y="468373"/>
            <a:ext cx="18115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Example PMX:</a:t>
            </a:r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4657" y="714606"/>
            <a:ext cx="86889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Selection</a:t>
            </a:r>
            <a:r>
              <a:rPr lang="en-US" dirty="0"/>
              <a:t> is the process of choosing individuals from the current population to serve as parents for the next generation. It's the driving force that pushes the population toward better solutions.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4658" y="406829"/>
            <a:ext cx="544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Selection</a:t>
            </a:r>
            <a:endParaRPr lang="en-US" sz="1800" dirty="0">
              <a:solidFill>
                <a:schemeClr val="tx2">
                  <a:lumMod val="5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2296" y="1545603"/>
            <a:ext cx="54475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Role of Selection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07033" y="1826416"/>
            <a:ext cx="904048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Population → [</a:t>
            </a:r>
            <a:r>
              <a:rPr lang="en-US" b="1" u="sng" dirty="0">
                <a:solidFill>
                  <a:srgbClr val="C00000"/>
                </a:solidFill>
                <a:latin typeface="Courier New" panose="02070309020205020404" pitchFamily="49" charset="0"/>
              </a:rPr>
              <a:t>SELECTION</a:t>
            </a:r>
            <a:r>
              <a:rPr lang="en-US" b="1" dirty="0">
                <a:latin typeface="Courier New" panose="02070309020205020404" pitchFamily="49" charset="0"/>
              </a:rPr>
              <a:t>] → Mating Pool → [Crossover/Mutation] → New Population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 ↑                                                              │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 └────────────────── REPLACEMENT ──────────────────────────────┘</a:t>
            </a:r>
            <a:endParaRPr lang="en-US" b="1" dirty="0">
              <a:latin typeface="Courier New" panose="020703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4991" y="2903635"/>
            <a:ext cx="6592738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Properties of Selection Methods</a:t>
            </a: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Selection Pressure</a:t>
            </a:r>
            <a:r>
              <a:rPr lang="en-US" dirty="0"/>
              <a:t>: How strongly better individuals are favored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Population Diversity</a:t>
            </a:r>
            <a:r>
              <a:rPr lang="en-US" dirty="0"/>
              <a:t>: How well less-fit individuals are preserved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Convergence Speed</a:t>
            </a:r>
            <a:r>
              <a:rPr lang="en-US" dirty="0"/>
              <a:t>: How quickly the population homogenizes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Computational Complexity</a:t>
            </a:r>
            <a:r>
              <a:rPr lang="en-US" dirty="0"/>
              <a:t>: Time required to perform selection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089" y="432708"/>
            <a:ext cx="544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Candara" panose="020E0502030303020204" pitchFamily="34" charset="0"/>
              </a:rPr>
              <a:t>Classification of Selection Methods</a:t>
            </a:r>
            <a:endParaRPr lang="en-US" sz="1800" b="1" dirty="0">
              <a:solidFill>
                <a:schemeClr val="tx2">
                  <a:lumMod val="50000"/>
                </a:schemeClr>
              </a:solidFill>
              <a:latin typeface="Candara" panose="020E0502030303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3412" y="1314553"/>
            <a:ext cx="730657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</a:rPr>
              <a:t>SELECTION METHODS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                        │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     ┌──────────────────┼────────────────── ─── ┐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     │                  │                       │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FITNESS-           RANK-BASED             TOURNAMENT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PROPORTIONATE           │                       │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     │             ┌────┴────┐             ┌────┴────┐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┌────┴────┐   Stochastic  Deterministic  Binary   Tournament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│Roulette │   Universal    (Elitism)              Size k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│Wheel    │   Sampling                    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│         │   (SUS)                        </a:t>
            </a:r>
            <a:endParaRPr lang="en-US" b="1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</a:rPr>
              <a:t>   └─────────┘                               </a:t>
            </a:r>
            <a:endParaRPr 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96" y="415455"/>
            <a:ext cx="54475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 Roulette Wheel Selection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72296" y="825318"/>
            <a:ext cx="86717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Also known as </a:t>
            </a:r>
            <a:r>
              <a:rPr lang="en-US" b="1" dirty="0"/>
              <a:t>Fitness-Proportionate Selection</a:t>
            </a:r>
            <a:r>
              <a:rPr lang="en-US" dirty="0"/>
              <a:t>. Individuals are selected with probability proportional to their fitness.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100" y="1450623"/>
            <a:ext cx="7163800" cy="32597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746" y="0"/>
            <a:ext cx="6763694" cy="21910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69" y="2191056"/>
            <a:ext cx="6716062" cy="27860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996" y="1299985"/>
            <a:ext cx="5792008" cy="25435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777" y="1976837"/>
            <a:ext cx="8048445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ar-EG" sz="2400" b="1" i="0" u="none" strike="noStrike" kern="0" cap="none" spc="0" normalizeH="0" baseline="0" noProof="0" dirty="0">
                <a:ln>
                  <a:noFill/>
                </a:ln>
                <a:solidFill>
                  <a:srgbClr val="D149CE">
                    <a:lumMod val="50000"/>
                  </a:srgbClr>
                </a:solidFill>
                <a:effectLst/>
                <a:uLnTx/>
                <a:uFillTx/>
                <a:latin typeface="Candara" panose="020E0502030303020204" pitchFamily="34" charset="0"/>
                <a:cs typeface="Arial" panose="020B0604020202020204"/>
                <a:sym typeface="Arial" panose="020B0604020202020204"/>
              </a:rPr>
              <a:t>جزاكم الله خيرا </a:t>
            </a:r>
            <a:endParaRPr kumimoji="0" lang="ar-EG" sz="2400" b="1" i="0" u="none" strike="noStrike" kern="0" cap="none" spc="0" normalizeH="0" baseline="0" noProof="0" dirty="0">
              <a:ln>
                <a:noFill/>
              </a:ln>
              <a:solidFill>
                <a:srgbClr val="D149CE">
                  <a:lumMod val="50000"/>
                </a:srgbClr>
              </a:solidFill>
              <a:effectLst/>
              <a:uLnTx/>
              <a:uFillTx/>
              <a:latin typeface="Candara" panose="020E0502030303020204" pitchFamily="34" charset="0"/>
              <a:cs typeface="Arial" panose="020B0604020202020204"/>
              <a:sym typeface="Arial" panose="020B060402020202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ar-EG" sz="2400" b="1" i="0" u="none" strike="noStrike" kern="0" cap="none" spc="0" normalizeH="0" baseline="0" noProof="0" dirty="0">
                <a:ln>
                  <a:noFill/>
                </a:ln>
                <a:solidFill>
                  <a:srgbClr val="D149CE">
                    <a:lumMod val="50000"/>
                  </a:srgbClr>
                </a:solidFill>
                <a:effectLst/>
                <a:uLnTx/>
                <a:uFillTx/>
                <a:latin typeface="Candara" panose="020E0502030303020204" pitchFamily="34" charset="0"/>
                <a:cs typeface="Arial" panose="020B0604020202020204"/>
                <a:sym typeface="Arial" panose="020B0604020202020204"/>
              </a:rPr>
              <a:t>وصل اللهم على سيدنا محمد وعلى اله وصحبه وسلم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D149CE">
                  <a:lumMod val="50000"/>
                </a:srgbClr>
              </a:solidFill>
              <a:effectLst/>
              <a:uLnTx/>
              <a:uFillTx/>
              <a:latin typeface="Candara" panose="020E0502030303020204" pitchFamily="34" charset="0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 Science &amp; Mathematics Major For College: Mathematics by Slidesgo">
  <a:themeElements>
    <a:clrScheme name="Simple Light">
      <a:dk1>
        <a:srgbClr val="FFFFFF"/>
      </a:dk1>
      <a:lt1>
        <a:srgbClr val="F3F3F3"/>
      </a:lt1>
      <a:dk2>
        <a:srgbClr val="666666"/>
      </a:dk2>
      <a:lt2>
        <a:srgbClr val="D149CE"/>
      </a:lt2>
      <a:accent1>
        <a:srgbClr val="43309F"/>
      </a:accent1>
      <a:accent2>
        <a:srgbClr val="00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666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omputer Science &amp; Mathematics Major For College: Mathematics by Slidesgo">
  <a:themeElements>
    <a:clrScheme name="Simple Light">
      <a:dk1>
        <a:srgbClr val="FFFFFF"/>
      </a:dk1>
      <a:lt1>
        <a:srgbClr val="F3F3F3"/>
      </a:lt1>
      <a:dk2>
        <a:srgbClr val="666666"/>
      </a:dk2>
      <a:lt2>
        <a:srgbClr val="D149CE"/>
      </a:lt2>
      <a:accent1>
        <a:srgbClr val="43309F"/>
      </a:accent1>
      <a:accent2>
        <a:srgbClr val="00000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666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5458</Words>
  <Application>WPS Presentation</Application>
  <PresentationFormat>On-screen Show (16:9)</PresentationFormat>
  <Paragraphs>182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SimSun</vt:lpstr>
      <vt:lpstr>Wingdings</vt:lpstr>
      <vt:lpstr>Arial</vt:lpstr>
      <vt:lpstr>Poppins SemiBold</vt:lpstr>
      <vt:lpstr>Poppins</vt:lpstr>
      <vt:lpstr>MS Reference Sans Serif</vt:lpstr>
      <vt:lpstr>Times New Roman</vt:lpstr>
      <vt:lpstr>Candara</vt:lpstr>
      <vt:lpstr>Courier New</vt:lpstr>
      <vt:lpstr>Microsoft YaHei</vt:lpstr>
      <vt:lpstr>Arial Unicode MS</vt:lpstr>
      <vt:lpstr>Computer Science &amp; Mathematics Major For College: Mathematics by Slidesgo</vt:lpstr>
      <vt:lpstr>1_Computer Science &amp; Mathematics Major For College: Mathematics by Slidesgo</vt:lpstr>
      <vt:lpstr>Assiut University  Faculty of Computers &amp; Information Computer Science Department  </vt:lpstr>
      <vt:lpstr>Grading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2025</cp:lastModifiedBy>
  <cp:revision>223</cp:revision>
  <dcterms:created xsi:type="dcterms:W3CDTF">2026-03-10T09:44:57Z</dcterms:created>
  <dcterms:modified xsi:type="dcterms:W3CDTF">2026-03-10T09:45:33Z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21F814EE3B89407EBCA0F4E53C11F8BD_12</vt:lpwstr>
  </property>
  <property fmtid="{D5CDD505-2E9C-101B-9397-08002B2CF9AE}" pid="3" name="KSOProductBuildVer">
    <vt:lpwstr>1033-12.2.0.21179</vt:lpwstr>
  </property>
</Properties>
</file>