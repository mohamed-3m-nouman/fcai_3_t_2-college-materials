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Masters/slideMaster1.xml" ContentType="application/vnd.openxmlformats-officedocument.presentationml.slideMaster+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1"/>
  </p:sldMasterIdLst>
  <p:notesMasterIdLst>
    <p:notesMasterId r:id="rId23"/>
  </p:notes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91" d="100"/>
          <a:sy n="91" d="100"/>
        </p:scale>
        <p:origin x="341"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 Id="rId30"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4B9F35-8E87-4C0A-8047-FE2E2097F0C0}" type="datetimeFigureOut">
              <a:rPr lang="en-US" smtClean="0"/>
              <a:t>2/24/2025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A1A5C6-80C6-4CBC-91CA-2A1F3B5DEA5E}" type="slidenum">
              <a:rPr lang="en-US" smtClean="0"/>
              <a:t>‹#›</a:t>
            </a:fld>
            <a:endParaRPr lang="en-US"/>
          </a:p>
        </p:txBody>
      </p:sp>
    </p:spTree>
    <p:extLst>
      <p:ext uri="{BB962C8B-B14F-4D97-AF65-F5344CB8AC3E}">
        <p14:creationId xmlns:p14="http://schemas.microsoft.com/office/powerpoint/2010/main" val="18123933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b="1" dirty="0"/>
              <a:t>Middleware</a:t>
            </a:r>
            <a:r>
              <a:rPr lang="en-US" dirty="0"/>
              <a:t> processes requests and responses.</a:t>
            </a:r>
          </a:p>
          <a:p>
            <a:pPr>
              <a:buFont typeface="Arial" panose="020B0604020202020204" pitchFamily="34" charset="0"/>
              <a:buChar char="•"/>
            </a:pPr>
            <a:r>
              <a:rPr lang="en-US" b="1" dirty="0"/>
              <a:t>Routing</a:t>
            </a:r>
            <a:r>
              <a:rPr lang="en-US" dirty="0"/>
              <a:t> maps requests to specific endpoints.</a:t>
            </a:r>
          </a:p>
          <a:p>
            <a:endParaRPr lang="en-US" dirty="0"/>
          </a:p>
        </p:txBody>
      </p:sp>
      <p:sp>
        <p:nvSpPr>
          <p:cNvPr id="4" name="Slide Number Placeholder 3"/>
          <p:cNvSpPr>
            <a:spLocks noGrp="1"/>
          </p:cNvSpPr>
          <p:nvPr>
            <p:ph type="sldNum" sz="quarter" idx="5"/>
          </p:nvPr>
        </p:nvSpPr>
        <p:spPr/>
        <p:txBody>
          <a:bodyPr/>
          <a:lstStyle/>
          <a:p>
            <a:fld id="{4BA1A5C6-80C6-4CBC-91CA-2A1F3B5DEA5E}" type="slidenum">
              <a:rPr lang="en-US" smtClean="0"/>
              <a:t>3</a:t>
            </a:fld>
            <a:endParaRPr lang="en-US"/>
          </a:p>
        </p:txBody>
      </p:sp>
    </p:spTree>
    <p:extLst>
      <p:ext uri="{BB962C8B-B14F-4D97-AF65-F5344CB8AC3E}">
        <p14:creationId xmlns:p14="http://schemas.microsoft.com/office/powerpoint/2010/main" val="1830848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640013" y="484479"/>
            <a:ext cx="6911974" cy="2954655"/>
          </a:xfrm>
        </p:spPr>
        <p:txBody>
          <a:bodyPr anchor="b">
            <a:normAutofit/>
          </a:bodyPr>
          <a:lstStyle>
            <a:lvl1pPr algn="ctr">
              <a:defRPr sz="5600" cap="all" spc="-100" baseline="0"/>
            </a:lvl1pPr>
          </a:lstStyle>
          <a:p>
            <a:r>
              <a:rPr lang="en-US"/>
              <a:t>Click to edit Master title style</a:t>
            </a:r>
            <a:endParaRPr lang="en-US" dirty="0"/>
          </a:p>
        </p:txBody>
      </p:sp>
      <p:sp>
        <p:nvSpPr>
          <p:cNvPr id="3" name="Subtitle 2"/>
          <p:cNvSpPr>
            <a:spLocks noGrp="1"/>
          </p:cNvSpPr>
          <p:nvPr>
            <p:ph type="subTitle" idx="1"/>
          </p:nvPr>
        </p:nvSpPr>
        <p:spPr>
          <a:xfrm>
            <a:off x="2640013" y="3799133"/>
            <a:ext cx="6911974" cy="1969841"/>
          </a:xfrm>
        </p:spPr>
        <p:txBody>
          <a:bodyPr>
            <a:normAutofit/>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31837" y="6138000"/>
            <a:ext cx="3095626" cy="720000"/>
          </a:xfrm>
          <a:prstGeom prst="rect">
            <a:avLst/>
          </a:prstGeom>
        </p:spPr>
        <p:txBody>
          <a:bodyPr/>
          <a:lstStyle/>
          <a:p>
            <a:fld id="{2395C5C9-164C-46B3-A87E-7660D39D3106}" type="datetime2">
              <a:rPr lang="en-US" smtClean="0"/>
              <a:t>Monday, February 24, 2025</a:t>
            </a:fld>
            <a:endParaRPr lang="en-US" dirty="0"/>
          </a:p>
        </p:txBody>
      </p:sp>
      <p:sp>
        <p:nvSpPr>
          <p:cNvPr id="5" name="Footer Placeholder 4"/>
          <p:cNvSpPr>
            <a:spLocks noGrp="1"/>
          </p:cNvSpPr>
          <p:nvPr>
            <p:ph type="ftr" sz="quarter" idx="11"/>
          </p:nvPr>
        </p:nvSpPr>
        <p:spPr>
          <a:xfrm>
            <a:off x="4548188" y="6138000"/>
            <a:ext cx="5003800" cy="720000"/>
          </a:xfrm>
          <a:prstGeom prst="rect">
            <a:avLst/>
          </a:prstGeom>
        </p:spPr>
        <p:txBody>
          <a:bodyPr/>
          <a:lstStyle/>
          <a:p>
            <a:pPr algn="l"/>
            <a:r>
              <a:rPr lang="en-US" dirty="0"/>
              <a:t>Sample Footer Text</a:t>
            </a:r>
          </a:p>
        </p:txBody>
      </p:sp>
      <p:sp>
        <p:nvSpPr>
          <p:cNvPr id="6" name="Slide Number Placeholder 5"/>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1840870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720000" y="2541600"/>
            <a:ext cx="10728325" cy="3227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1837" y="6138000"/>
            <a:ext cx="3095626" cy="720000"/>
          </a:xfrm>
          <a:prstGeom prst="rect">
            <a:avLst/>
          </a:prstGeom>
        </p:spPr>
        <p:txBody>
          <a:bodyPr/>
          <a:lstStyle/>
          <a:p>
            <a:fld id="{4DDCFF8A-AAF8-4A12-8A91-9CA0EAF6CBB9}" type="datetime2">
              <a:rPr lang="en-US" smtClean="0"/>
              <a:t>Monday, February 24, 2025</a:t>
            </a:fld>
            <a:endParaRPr lang="en-US" dirty="0"/>
          </a:p>
        </p:txBody>
      </p:sp>
      <p:sp>
        <p:nvSpPr>
          <p:cNvPr id="5" name="Footer Placeholder 4"/>
          <p:cNvSpPr>
            <a:spLocks noGrp="1"/>
          </p:cNvSpPr>
          <p:nvPr>
            <p:ph type="ftr" sz="quarter" idx="11"/>
          </p:nvPr>
        </p:nvSpPr>
        <p:spPr>
          <a:xfrm>
            <a:off x="4548188" y="6138000"/>
            <a:ext cx="5003800" cy="720000"/>
          </a:xfrm>
          <a:prstGeom prst="rect">
            <a:avLst/>
          </a:prstGeom>
        </p:spPr>
        <p:txBody>
          <a:bodyPr/>
          <a:lstStyle/>
          <a:p>
            <a:pPr algn="l"/>
            <a:r>
              <a:rPr lang="en-US" dirty="0"/>
              <a:t>Sample Footer Text</a:t>
            </a:r>
          </a:p>
        </p:txBody>
      </p:sp>
      <p:sp>
        <p:nvSpPr>
          <p:cNvPr id="6" name="Slide Number Placeholder 5"/>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243413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0000" y="619200"/>
            <a:ext cx="10728326" cy="2879724"/>
          </a:xfrm>
        </p:spPr>
        <p:txBody>
          <a:bodyPr anchor="b">
            <a:normAutofit/>
          </a:bodyPr>
          <a:lstStyle>
            <a:lvl1pPr>
              <a:defRPr sz="5600"/>
            </a:lvl1pPr>
          </a:lstStyle>
          <a:p>
            <a:r>
              <a:rPr lang="en-US"/>
              <a:t>Click to edit Master title style</a:t>
            </a:r>
            <a:endParaRPr lang="en-US" dirty="0"/>
          </a:p>
        </p:txBody>
      </p:sp>
      <p:sp>
        <p:nvSpPr>
          <p:cNvPr id="3" name="Text Placeholder 2"/>
          <p:cNvSpPr>
            <a:spLocks noGrp="1"/>
          </p:cNvSpPr>
          <p:nvPr>
            <p:ph type="body" idx="1"/>
          </p:nvPr>
        </p:nvSpPr>
        <p:spPr>
          <a:xfrm>
            <a:off x="719910" y="3858924"/>
            <a:ext cx="10728326" cy="1919076"/>
          </a:xfrm>
        </p:spPr>
        <p:txBody>
          <a:bodyPr>
            <a:normAutofit/>
          </a:bodyPr>
          <a:lstStyle>
            <a:lvl1pPr marL="0" indent="0">
              <a:buNone/>
              <a:defRPr sz="2800">
                <a:solidFill>
                  <a:schemeClr val="tx1">
                    <a:tint val="75000"/>
                    <a:alpha val="6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1837" y="6138000"/>
            <a:ext cx="3095626" cy="720000"/>
          </a:xfrm>
          <a:prstGeom prst="rect">
            <a:avLst/>
          </a:prstGeom>
        </p:spPr>
        <p:txBody>
          <a:bodyPr/>
          <a:lstStyle/>
          <a:p>
            <a:fld id="{ABCC25C3-021A-4B0B-8F70-0C181FE1CF45}" type="datetime2">
              <a:rPr lang="en-US" smtClean="0"/>
              <a:t>Monday, February 24, 2025</a:t>
            </a:fld>
            <a:endParaRPr lang="en-US"/>
          </a:p>
        </p:txBody>
      </p:sp>
      <p:sp>
        <p:nvSpPr>
          <p:cNvPr id="5" name="Footer Placeholder 4"/>
          <p:cNvSpPr>
            <a:spLocks noGrp="1"/>
          </p:cNvSpPr>
          <p:nvPr>
            <p:ph type="ftr" sz="quarter" idx="11"/>
          </p:nvPr>
        </p:nvSpPr>
        <p:spPr>
          <a:xfrm>
            <a:off x="4548188" y="6138000"/>
            <a:ext cx="5003800" cy="720000"/>
          </a:xfrm>
          <a:prstGeom prst="rect">
            <a:avLst/>
          </a:prstGeom>
        </p:spPr>
        <p:txBody>
          <a:bodyPr/>
          <a:lstStyle/>
          <a:p>
            <a:pPr algn="l"/>
            <a:r>
              <a:rPr lang="en-US" dirty="0"/>
              <a:t>Sample Footer Text</a:t>
            </a:r>
          </a:p>
        </p:txBody>
      </p:sp>
      <p:sp>
        <p:nvSpPr>
          <p:cNvPr id="6" name="Slide Number Placeholder 5"/>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23654278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720000" y="2541600"/>
            <a:ext cx="5003800" cy="3234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58400" y="2541600"/>
            <a:ext cx="5003801" cy="3234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731837" y="6138000"/>
            <a:ext cx="3095626" cy="720000"/>
          </a:xfrm>
          <a:prstGeom prst="rect">
            <a:avLst/>
          </a:prstGeom>
        </p:spPr>
        <p:txBody>
          <a:bodyPr/>
          <a:lstStyle/>
          <a:p>
            <a:fld id="{0C23D88D-8CEC-4ED9-A53B-5596187D9A16}" type="datetime2">
              <a:rPr lang="en-US" smtClean="0"/>
              <a:t>Monday, February 24, 2025</a:t>
            </a:fld>
            <a:endParaRPr lang="en-US"/>
          </a:p>
        </p:txBody>
      </p:sp>
      <p:sp>
        <p:nvSpPr>
          <p:cNvPr id="6" name="Footer Placeholder 5"/>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7" name="Slide Number Placeholder 6"/>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14202333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20000" y="619200"/>
            <a:ext cx="10728325" cy="673005"/>
          </a:xfrm>
        </p:spPr>
        <p:txBody>
          <a:bodyPr>
            <a:normAutofit/>
          </a:bodyPr>
          <a:lstStyle/>
          <a:p>
            <a:r>
              <a:rPr lang="en-US"/>
              <a:t>Click to edit Master title style</a:t>
            </a:r>
            <a:endParaRPr lang="en-US" dirty="0"/>
          </a:p>
        </p:txBody>
      </p:sp>
      <p:sp>
        <p:nvSpPr>
          <p:cNvPr id="3" name="Text Placeholder 2"/>
          <p:cNvSpPr>
            <a:spLocks noGrp="1"/>
          </p:cNvSpPr>
          <p:nvPr>
            <p:ph type="body" idx="1"/>
          </p:nvPr>
        </p:nvSpPr>
        <p:spPr>
          <a:xfrm>
            <a:off x="720000" y="1840698"/>
            <a:ext cx="5015638" cy="565796"/>
          </a:xfrm>
        </p:spPr>
        <p:txBody>
          <a:bodyPr wrap="square" anchor="b">
            <a:normAutofit/>
          </a:bodyPr>
          <a:lstStyle>
            <a:lvl1pPr marL="0" indent="0">
              <a:lnSpc>
                <a:spcPct val="120000"/>
              </a:lnSpc>
              <a:buNone/>
              <a:defRPr sz="16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20000" y="2541600"/>
            <a:ext cx="5003801" cy="3234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400" y="1840698"/>
            <a:ext cx="5015638" cy="565796"/>
          </a:xfrm>
        </p:spPr>
        <p:txBody>
          <a:bodyPr anchor="b">
            <a:normAutofit/>
          </a:bodyPr>
          <a:lstStyle>
            <a:lvl1pPr marL="0" indent="0">
              <a:lnSpc>
                <a:spcPct val="120000"/>
              </a:lnSpc>
              <a:buNone/>
              <a:defRPr sz="16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400" y="2541600"/>
            <a:ext cx="5003800" cy="3234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731837" y="6138000"/>
            <a:ext cx="3095626" cy="720000"/>
          </a:xfrm>
          <a:prstGeom prst="rect">
            <a:avLst/>
          </a:prstGeom>
        </p:spPr>
        <p:txBody>
          <a:bodyPr/>
          <a:lstStyle/>
          <a:p>
            <a:fld id="{D2CCD382-DFDA-4722-A27A-59C21AD112F2}" type="datetime2">
              <a:rPr lang="en-US" smtClean="0"/>
              <a:t>Monday, February 24, 2025</a:t>
            </a:fld>
            <a:endParaRPr lang="en-US"/>
          </a:p>
        </p:txBody>
      </p:sp>
      <p:sp>
        <p:nvSpPr>
          <p:cNvPr id="8" name="Footer Placeholder 7"/>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9" name="Slide Number Placeholder 8"/>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267878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731837" y="6138000"/>
            <a:ext cx="3095626" cy="720000"/>
          </a:xfrm>
          <a:prstGeom prst="rect">
            <a:avLst/>
          </a:prstGeom>
        </p:spPr>
        <p:txBody>
          <a:bodyPr/>
          <a:lstStyle/>
          <a:p>
            <a:fld id="{22F2A30D-1C09-413F-AAB1-38F366000715}" type="datetime2">
              <a:rPr lang="en-US" smtClean="0"/>
              <a:t>Monday, February 24, 2025</a:t>
            </a:fld>
            <a:endParaRPr lang="en-US"/>
          </a:p>
        </p:txBody>
      </p:sp>
      <p:sp>
        <p:nvSpPr>
          <p:cNvPr id="4" name="Footer Placeholder 3"/>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5" name="Slide Number Placeholder 4"/>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6153221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731837" y="6138000"/>
            <a:ext cx="3095626" cy="720000"/>
          </a:xfrm>
          <a:prstGeom prst="rect">
            <a:avLst/>
          </a:prstGeom>
        </p:spPr>
        <p:txBody>
          <a:bodyPr/>
          <a:lstStyle/>
          <a:p>
            <a:fld id="{6DB82B9C-D65E-4F64-95C3-B10F3B00F0D9}" type="datetime2">
              <a:rPr lang="en-US" smtClean="0"/>
              <a:t>Monday, February 24, 2025</a:t>
            </a:fld>
            <a:endParaRPr lang="en-US"/>
          </a:p>
        </p:txBody>
      </p:sp>
      <p:sp>
        <p:nvSpPr>
          <p:cNvPr id="3" name="Footer Placeholder 2"/>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4" name="Slide Number Placeholder 3"/>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21764193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20000" y="619200"/>
            <a:ext cx="3107463" cy="1477328"/>
          </a:xfrm>
        </p:spPr>
        <p:txBody>
          <a:bodyPr anchor="t" anchorCtr="0">
            <a:normAutofit/>
          </a:bodyPr>
          <a:lstStyle>
            <a:lvl1pPr>
              <a:lnSpc>
                <a:spcPct val="100000"/>
              </a:lnSpc>
              <a:defRPr sz="2800"/>
            </a:lvl1pPr>
          </a:lstStyle>
          <a:p>
            <a:r>
              <a:rPr lang="en-US"/>
              <a:t>Click to edit Master title style</a:t>
            </a:r>
            <a:endParaRPr lang="en-US" dirty="0"/>
          </a:p>
        </p:txBody>
      </p:sp>
      <p:sp>
        <p:nvSpPr>
          <p:cNvPr id="3" name="Content Placeholder 2"/>
          <p:cNvSpPr>
            <a:spLocks noGrp="1"/>
          </p:cNvSpPr>
          <p:nvPr>
            <p:ph idx="1"/>
          </p:nvPr>
        </p:nvSpPr>
        <p:spPr>
          <a:xfrm>
            <a:off x="4548188" y="584662"/>
            <a:ext cx="6911974" cy="5184313"/>
          </a:xfrm>
        </p:spPr>
        <p:txBody>
          <a:bodyPr/>
          <a:lstStyle>
            <a:lvl1pPr marL="0" indent="0">
              <a:lnSpc>
                <a:spcPct val="100000"/>
              </a:lnSpc>
              <a:buNone/>
              <a:defRPr sz="4800"/>
            </a:lvl1pPr>
            <a:lvl2pPr marL="914400" indent="-457200">
              <a:buFont typeface="Arial" panose="020B0604020202020204" pitchFamily="34" charset="0"/>
              <a:buChar char="•"/>
              <a:defRPr sz="2000"/>
            </a:lvl2pPr>
            <a:lvl3pPr marL="1257300" indent="-342900">
              <a:buFont typeface="Arial" panose="020B0604020202020204" pitchFamily="34" charset="0"/>
              <a:buChar char="•"/>
              <a:defRPr sz="2000"/>
            </a:lvl3pPr>
            <a:lvl4pPr marL="1714500" indent="-342900">
              <a:buFont typeface="Arial" panose="020B0604020202020204" pitchFamily="34" charset="0"/>
              <a:buChar char="•"/>
              <a:defRPr sz="2000"/>
            </a:lvl4pPr>
            <a:lvl5pPr marL="2171700" indent="-342900">
              <a:buFont typeface="Arial" panose="020B0604020202020204" pitchFamily="34" charset="0"/>
              <a:buChar cha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0000" y="2541600"/>
            <a:ext cx="3107463" cy="323183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31837" y="6138000"/>
            <a:ext cx="3095626" cy="720000"/>
          </a:xfrm>
          <a:prstGeom prst="rect">
            <a:avLst/>
          </a:prstGeom>
        </p:spPr>
        <p:txBody>
          <a:bodyPr/>
          <a:lstStyle/>
          <a:p>
            <a:fld id="{B7F5FDCC-6AAC-4A08-B9E0-3793AB5E64C3}" type="datetime2">
              <a:rPr lang="en-US" smtClean="0"/>
              <a:t>Monday, February 24, 2025</a:t>
            </a:fld>
            <a:endParaRPr lang="en-US"/>
          </a:p>
        </p:txBody>
      </p:sp>
      <p:sp>
        <p:nvSpPr>
          <p:cNvPr id="6" name="Footer Placeholder 5"/>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7" name="Slide Number Placeholder 6"/>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10396167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20000" y="619200"/>
            <a:ext cx="3095626" cy="1476000"/>
          </a:xfrm>
        </p:spPr>
        <p:txBody>
          <a:bodyPr anchor="t" anchorCtr="0">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548188" y="728664"/>
            <a:ext cx="6923812" cy="504031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0000" y="2541600"/>
            <a:ext cx="3095625" cy="323280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31837" y="6138000"/>
            <a:ext cx="3095626" cy="720000"/>
          </a:xfrm>
          <a:prstGeom prst="rect">
            <a:avLst/>
          </a:prstGeom>
        </p:spPr>
        <p:txBody>
          <a:bodyPr/>
          <a:lstStyle/>
          <a:p>
            <a:fld id="{349FE94D-439C-40F1-900E-BC07940E3988}" type="datetime2">
              <a:rPr lang="en-US" smtClean="0"/>
              <a:t>Monday, February 24, 2025</a:t>
            </a:fld>
            <a:endParaRPr lang="en-US"/>
          </a:p>
        </p:txBody>
      </p:sp>
      <p:sp>
        <p:nvSpPr>
          <p:cNvPr id="6" name="Footer Placeholder 5"/>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7" name="Slide Number Placeholder 6"/>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2122381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720000" y="2636838"/>
            <a:ext cx="10728325" cy="31321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1837" y="6138000"/>
            <a:ext cx="3095626" cy="720000"/>
          </a:xfrm>
          <a:prstGeom prst="rect">
            <a:avLst/>
          </a:prstGeom>
        </p:spPr>
        <p:txBody>
          <a:bodyPr/>
          <a:lstStyle/>
          <a:p>
            <a:fld id="{5B75179A-1E2B-41AB-B400-4F1B4022FAEE}" type="datetime2">
              <a:rPr lang="en-US" smtClean="0"/>
              <a:t>Monday, February 24, 2025</a:t>
            </a:fld>
            <a:endParaRPr lang="en-US"/>
          </a:p>
        </p:txBody>
      </p:sp>
      <p:sp>
        <p:nvSpPr>
          <p:cNvPr id="5" name="Footer Placeholder 4"/>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6" name="Slide Number Placeholder 5"/>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678185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140486" y="720000"/>
            <a:ext cx="1477328" cy="5048975"/>
          </a:xfrm>
        </p:spPr>
        <p:txBody>
          <a:bodyPr vert="eaVert">
            <a:normAutofit/>
          </a:bodyPr>
          <a:lstStyle>
            <a:lvl1pP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31838" y="720000"/>
            <a:ext cx="8929614" cy="50489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1837" y="6138000"/>
            <a:ext cx="3095626" cy="720000"/>
          </a:xfrm>
          <a:prstGeom prst="rect">
            <a:avLst/>
          </a:prstGeom>
        </p:spPr>
        <p:txBody>
          <a:bodyPr/>
          <a:lstStyle/>
          <a:p>
            <a:fld id="{05681D0F-6595-4F14-8EF3-954CD87C797B}" type="datetime2">
              <a:rPr lang="en-US" smtClean="0"/>
              <a:t>Monday, February 24, 2025</a:t>
            </a:fld>
            <a:endParaRPr lang="en-US"/>
          </a:p>
        </p:txBody>
      </p:sp>
      <p:sp>
        <p:nvSpPr>
          <p:cNvPr id="5" name="Footer Placeholder 4"/>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6" name="Slide Number Placeholder 5"/>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22845540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9646535-AEF6-4883-A4F9-EEC1F8B4319E}"/>
              </a:ext>
            </a:extLst>
          </p:cNvPr>
          <p:cNvSpPr/>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720000" y="619200"/>
            <a:ext cx="10728322" cy="1477328"/>
          </a:xfrm>
          <a:prstGeom prst="rect">
            <a:avLst/>
          </a:prstGeom>
        </p:spPr>
        <p:txBody>
          <a:bodyPr vert="horz" wrap="square" lIns="0" tIns="0" rIns="0" bIns="0" rtlCol="0" anchor="t" anchorCtr="0">
            <a:normAutofit/>
          </a:bodyPr>
          <a:lstStyle/>
          <a:p>
            <a:endParaRPr lang="en-US" dirty="0"/>
          </a:p>
        </p:txBody>
      </p:sp>
      <p:sp>
        <p:nvSpPr>
          <p:cNvPr id="3" name="Text Placeholder 2"/>
          <p:cNvSpPr>
            <a:spLocks noGrp="1"/>
          </p:cNvSpPr>
          <p:nvPr>
            <p:ph type="body" idx="1"/>
          </p:nvPr>
        </p:nvSpPr>
        <p:spPr>
          <a:xfrm>
            <a:off x="720000" y="2541600"/>
            <a:ext cx="10728325" cy="322737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1837" y="6138000"/>
            <a:ext cx="3095626" cy="720000"/>
          </a:xfrm>
          <a:prstGeom prst="rect">
            <a:avLst/>
          </a:prstGeom>
        </p:spPr>
        <p:txBody>
          <a:bodyPr vert="horz" lIns="0" tIns="180000" rIns="0" bIns="180000" rtlCol="0" anchor="ctr"/>
          <a:lstStyle>
            <a:lvl1pPr algn="l">
              <a:lnSpc>
                <a:spcPct val="120000"/>
              </a:lnSpc>
              <a:defRPr sz="1200" spc="20" baseline="0">
                <a:solidFill>
                  <a:schemeClr val="tx1"/>
                </a:solidFill>
                <a:latin typeface="+mn-lt"/>
              </a:defRPr>
            </a:lvl1pPr>
          </a:lstStyle>
          <a:p>
            <a:fld id="{8DEA2CF1-0EB2-4673-802D-3371233E4A77}" type="datetime2">
              <a:rPr lang="en-US" smtClean="0"/>
              <a:t>Monday, February 24, 2025</a:t>
            </a:fld>
            <a:endParaRPr lang="en-US" dirty="0"/>
          </a:p>
        </p:txBody>
      </p:sp>
      <p:sp>
        <p:nvSpPr>
          <p:cNvPr id="5" name="Footer Placeholder 4"/>
          <p:cNvSpPr>
            <a:spLocks noGrp="1"/>
          </p:cNvSpPr>
          <p:nvPr>
            <p:ph type="ftr" sz="quarter" idx="3"/>
          </p:nvPr>
        </p:nvSpPr>
        <p:spPr>
          <a:xfrm>
            <a:off x="4548188" y="6138000"/>
            <a:ext cx="5003800" cy="720000"/>
          </a:xfrm>
          <a:prstGeom prst="rect">
            <a:avLst/>
          </a:prstGeom>
        </p:spPr>
        <p:txBody>
          <a:bodyPr vert="horz" lIns="0" tIns="180000" rIns="0" bIns="180000" rtlCol="0" anchor="ctr"/>
          <a:lstStyle>
            <a:lvl1pPr algn="ctr">
              <a:lnSpc>
                <a:spcPct val="120000"/>
              </a:lnSpc>
              <a:defRPr sz="1200" spc="20" baseline="0">
                <a:solidFill>
                  <a:schemeClr val="tx1"/>
                </a:solidFill>
                <a:latin typeface="+mn-lt"/>
              </a:defRPr>
            </a:lvl1pPr>
          </a:lstStyle>
          <a:p>
            <a:pPr algn="l"/>
            <a:r>
              <a:rPr lang="en-US"/>
              <a:t>Sample Footer Text</a:t>
            </a:r>
            <a:endParaRPr lang="en-US" dirty="0"/>
          </a:p>
        </p:txBody>
      </p:sp>
      <p:sp>
        <p:nvSpPr>
          <p:cNvPr id="6" name="Slide Number Placeholder 5"/>
          <p:cNvSpPr>
            <a:spLocks noGrp="1"/>
          </p:cNvSpPr>
          <p:nvPr>
            <p:ph type="sldNum" sz="quarter" idx="4"/>
          </p:nvPr>
        </p:nvSpPr>
        <p:spPr>
          <a:xfrm>
            <a:off x="10272713" y="6138000"/>
            <a:ext cx="1187449" cy="720000"/>
          </a:xfrm>
          <a:prstGeom prst="rect">
            <a:avLst/>
          </a:prstGeom>
        </p:spPr>
        <p:txBody>
          <a:bodyPr vert="horz" lIns="0" tIns="180000" rIns="0" bIns="180000" rtlCol="0" anchor="ctr"/>
          <a:lstStyle>
            <a:lvl1pPr algn="r">
              <a:lnSpc>
                <a:spcPct val="120000"/>
              </a:lnSpc>
              <a:defRPr sz="1200" spc="20" baseline="0">
                <a:solidFill>
                  <a:schemeClr val="tx1"/>
                </a:solidFill>
                <a:latin typeface="+mn-lt"/>
              </a:defRPr>
            </a:lvl1p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1799742704"/>
      </p:ext>
    </p:extLst>
  </p:cSld>
  <p:clrMap bg1="dk1" tx1="lt1" bg2="dk2" tx2="lt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56" r:id="rId6"/>
    <p:sldLayoutId id="2147483752" r:id="rId7"/>
    <p:sldLayoutId id="2147483753" r:id="rId8"/>
    <p:sldLayoutId id="2147483754" r:id="rId9"/>
    <p:sldLayoutId id="2147483755" r:id="rId10"/>
    <p:sldLayoutId id="2147483757" r:id="rId11"/>
  </p:sldLayoutIdLst>
  <p:hf sldNum="0" hdr="0" ftr="0" dt="0"/>
  <p:txStyles>
    <p:titleStyle>
      <a:lvl1pPr algn="l" defTabSz="914400" rtl="0" eaLnBrk="1" latinLnBrk="0" hangingPunct="1">
        <a:lnSpc>
          <a:spcPct val="88000"/>
        </a:lnSpc>
        <a:spcBef>
          <a:spcPct val="0"/>
        </a:spcBef>
        <a:buNone/>
        <a:defRPr sz="4400" kern="1200" cap="none" spc="4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4"/>
        </a:buClr>
        <a:buFont typeface="The Hand Extrablack" panose="03070A02030502020204" pitchFamily="66" charset="0"/>
        <a:buChar char="•"/>
        <a:defRPr sz="2000" kern="1200" spc="20" baseline="0">
          <a:solidFill>
            <a:schemeClr val="tx1">
              <a:alpha val="58000"/>
            </a:schemeClr>
          </a:solidFill>
          <a:latin typeface="+mn-lt"/>
          <a:ea typeface="+mn-ea"/>
          <a:cs typeface="+mn-cs"/>
        </a:defRPr>
      </a:lvl1pPr>
      <a:lvl2pPr marL="685800" indent="-228600" algn="l" defTabSz="914400" rtl="0" eaLnBrk="1" latinLnBrk="0" hangingPunct="1">
        <a:lnSpc>
          <a:spcPct val="120000"/>
        </a:lnSpc>
        <a:spcBef>
          <a:spcPts val="500"/>
        </a:spcBef>
        <a:buClr>
          <a:schemeClr val="accent4"/>
        </a:buClr>
        <a:buFont typeface="The Hand Extrablack" panose="03070A02030502020204" pitchFamily="66" charset="0"/>
        <a:buChar char="•"/>
        <a:defRPr sz="2000" kern="1200" spc="20" baseline="0">
          <a:solidFill>
            <a:schemeClr val="tx1">
              <a:alpha val="58000"/>
            </a:schemeClr>
          </a:solidFill>
          <a:latin typeface="+mn-lt"/>
          <a:ea typeface="+mn-ea"/>
          <a:cs typeface="+mn-cs"/>
        </a:defRPr>
      </a:lvl2pPr>
      <a:lvl3pPr marL="1143000" indent="-228600" algn="l" defTabSz="914400" rtl="0" eaLnBrk="1" latinLnBrk="0" hangingPunct="1">
        <a:lnSpc>
          <a:spcPct val="120000"/>
        </a:lnSpc>
        <a:spcBef>
          <a:spcPts val="500"/>
        </a:spcBef>
        <a:buClr>
          <a:schemeClr val="accent4"/>
        </a:buClr>
        <a:buFont typeface="The Hand Extrablack" panose="03070A02030502020204" pitchFamily="66" charset="0"/>
        <a:buChar char="•"/>
        <a:defRPr sz="2000" kern="1200" spc="20" baseline="0">
          <a:solidFill>
            <a:schemeClr val="tx1">
              <a:alpha val="58000"/>
            </a:schemeClr>
          </a:solidFill>
          <a:latin typeface="+mn-lt"/>
          <a:ea typeface="+mn-ea"/>
          <a:cs typeface="+mn-cs"/>
        </a:defRPr>
      </a:lvl3pPr>
      <a:lvl4pPr marL="1600200" indent="-228600" algn="l" defTabSz="914400" rtl="0" eaLnBrk="1" latinLnBrk="0" hangingPunct="1">
        <a:lnSpc>
          <a:spcPct val="120000"/>
        </a:lnSpc>
        <a:spcBef>
          <a:spcPts val="500"/>
        </a:spcBef>
        <a:buClr>
          <a:schemeClr val="accent4"/>
        </a:buClr>
        <a:buFont typeface="The Hand Extrablack" panose="03070A02030502020204" pitchFamily="66" charset="0"/>
        <a:buChar char="•"/>
        <a:defRPr sz="2000" kern="1200" spc="20" baseline="0">
          <a:solidFill>
            <a:schemeClr val="tx1">
              <a:alpha val="58000"/>
            </a:schemeClr>
          </a:solidFill>
          <a:latin typeface="+mn-lt"/>
          <a:ea typeface="+mn-ea"/>
          <a:cs typeface="+mn-cs"/>
        </a:defRPr>
      </a:lvl4pPr>
      <a:lvl5pPr marL="2057400" indent="-228600" algn="l" defTabSz="914400" rtl="0" eaLnBrk="1" latinLnBrk="0" hangingPunct="1">
        <a:lnSpc>
          <a:spcPct val="120000"/>
        </a:lnSpc>
        <a:spcBef>
          <a:spcPts val="500"/>
        </a:spcBef>
        <a:buClr>
          <a:schemeClr val="accent4"/>
        </a:buClr>
        <a:buFont typeface="The Hand Extrablack" panose="03070A02030502020204" pitchFamily="66" charset="0"/>
        <a:buChar char="•"/>
        <a:defRPr sz="2000" kern="1200" spc="20" baseline="0">
          <a:solidFill>
            <a:schemeClr val="tx1">
              <a:alpha val="58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learn.microsoft.com/en-us/aspnet/core/mvc/views/razor?view=aspnetcore-7.0" TargetMode="Externa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learn.microsoft.com/en-us/ef/core" TargetMode="Externa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1F4D251-B7D8-402D-950A-F9D15396E9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40E390-FD91-48F0-8307-C97BC71AFAD5}"/>
              </a:ext>
            </a:extLst>
          </p:cNvPr>
          <p:cNvSpPr>
            <a:spLocks noGrp="1"/>
          </p:cNvSpPr>
          <p:nvPr>
            <p:ph type="ctrTitle"/>
          </p:nvPr>
        </p:nvSpPr>
        <p:spPr>
          <a:xfrm>
            <a:off x="6480000" y="728663"/>
            <a:ext cx="5015638" cy="2795737"/>
          </a:xfrm>
        </p:spPr>
        <p:txBody>
          <a:bodyPr>
            <a:normAutofit/>
          </a:bodyPr>
          <a:lstStyle/>
          <a:p>
            <a:r>
              <a:rPr lang="en-US" dirty="0"/>
              <a:t>ASP .NET </a:t>
            </a:r>
            <a:br>
              <a:rPr lang="en-US" dirty="0"/>
            </a:br>
            <a:r>
              <a:rPr lang="en-US" sz="4000" dirty="0"/>
              <a:t>MVC core </a:t>
            </a:r>
            <a:br>
              <a:rPr lang="ar-EG" sz="6000" dirty="0"/>
            </a:br>
            <a:endParaRPr lang="en-US" dirty="0"/>
          </a:p>
        </p:txBody>
      </p:sp>
      <p:sp>
        <p:nvSpPr>
          <p:cNvPr id="3" name="Subtitle 2">
            <a:extLst>
              <a:ext uri="{FF2B5EF4-FFF2-40B4-BE49-F238E27FC236}">
                <a16:creationId xmlns:a16="http://schemas.microsoft.com/office/drawing/2014/main" id="{E34F67DC-D157-E476-7CD4-73252B8971B3}"/>
              </a:ext>
            </a:extLst>
          </p:cNvPr>
          <p:cNvSpPr>
            <a:spLocks noGrp="1"/>
          </p:cNvSpPr>
          <p:nvPr>
            <p:ph type="subTitle" idx="1"/>
          </p:nvPr>
        </p:nvSpPr>
        <p:spPr>
          <a:xfrm>
            <a:off x="6480000" y="3830399"/>
            <a:ext cx="5015638" cy="2298938"/>
          </a:xfrm>
        </p:spPr>
        <p:txBody>
          <a:bodyPr>
            <a:normAutofit/>
          </a:bodyPr>
          <a:lstStyle/>
          <a:p>
            <a:r>
              <a:rPr lang="en-US" sz="2800" b="0" strike="noStrike" spc="-1" dirty="0">
                <a:solidFill>
                  <a:srgbClr val="FFFFFF"/>
                </a:solidFill>
                <a:latin typeface="Rockwell"/>
                <a:ea typeface="DejaVu Sans"/>
              </a:rPr>
              <a:t>overview on project</a:t>
            </a:r>
            <a:endParaRPr lang="en-US" dirty="0"/>
          </a:p>
        </p:txBody>
      </p:sp>
      <p:pic>
        <p:nvPicPr>
          <p:cNvPr id="16" name="Picture 15" descr="A blue abstract watercolor pattern on a white background">
            <a:extLst>
              <a:ext uri="{FF2B5EF4-FFF2-40B4-BE49-F238E27FC236}">
                <a16:creationId xmlns:a16="http://schemas.microsoft.com/office/drawing/2014/main" id="{F6BD15D1-9C06-B523-2C9A-8C7252EA6612}"/>
              </a:ext>
            </a:extLst>
          </p:cNvPr>
          <p:cNvPicPr>
            <a:picLocks noChangeAspect="1"/>
          </p:cNvPicPr>
          <p:nvPr/>
        </p:nvPicPr>
        <p:blipFill>
          <a:blip r:embed="rId2"/>
          <a:srcRect l="18823" r="26058" b="-1"/>
          <a:stretch/>
        </p:blipFill>
        <p:spPr>
          <a:xfrm>
            <a:off x="1" y="10"/>
            <a:ext cx="5662934" cy="6857990"/>
          </a:xfrm>
          <a:custGeom>
            <a:avLst/>
            <a:gdLst/>
            <a:ahLst/>
            <a:cxnLst/>
            <a:rect l="l" t="t" r="r" b="b"/>
            <a:pathLst>
              <a:path w="5662934" h="6858000">
                <a:moveTo>
                  <a:pt x="0" y="0"/>
                </a:moveTo>
                <a:lnTo>
                  <a:pt x="5064602" y="0"/>
                </a:lnTo>
                <a:lnTo>
                  <a:pt x="4889880" y="279455"/>
                </a:lnTo>
                <a:cubicBezTo>
                  <a:pt x="4472355" y="1021447"/>
                  <a:pt x="4263593" y="1948936"/>
                  <a:pt x="4263593" y="3061922"/>
                </a:cubicBezTo>
                <a:cubicBezTo>
                  <a:pt x="4263593" y="3516203"/>
                  <a:pt x="4324186" y="3970483"/>
                  <a:pt x="4445372" y="4515619"/>
                </a:cubicBezTo>
                <a:cubicBezTo>
                  <a:pt x="4596855" y="5030470"/>
                  <a:pt x="4748338" y="5515036"/>
                  <a:pt x="4990710" y="5969316"/>
                </a:cubicBezTo>
                <a:cubicBezTo>
                  <a:pt x="5172489" y="6275955"/>
                  <a:pt x="5371310" y="6544265"/>
                  <a:pt x="5583977" y="6777438"/>
                </a:cubicBezTo>
                <a:lnTo>
                  <a:pt x="5662934" y="6858000"/>
                </a:lnTo>
                <a:lnTo>
                  <a:pt x="0" y="6858000"/>
                </a:lnTo>
                <a:close/>
              </a:path>
            </a:pathLst>
          </a:custGeom>
        </p:spPr>
      </p:pic>
      <p:sp>
        <p:nvSpPr>
          <p:cNvPr id="17" name="Freeform 10">
            <a:extLst>
              <a:ext uri="{FF2B5EF4-FFF2-40B4-BE49-F238E27FC236}">
                <a16:creationId xmlns:a16="http://schemas.microsoft.com/office/drawing/2014/main" id="{E67870A8-BE17-461C-AD58-035AD7FA0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7291575">
            <a:off x="3479502" y="491434"/>
            <a:ext cx="2397877" cy="2244442"/>
          </a:xfrm>
          <a:custGeom>
            <a:avLst/>
            <a:gdLst>
              <a:gd name="T0" fmla="*/ 43 w 250"/>
              <a:gd name="T1" fmla="*/ 167 h 234"/>
              <a:gd name="T2" fmla="*/ 70 w 250"/>
              <a:gd name="T3" fmla="*/ 133 h 234"/>
              <a:gd name="T4" fmla="*/ 48 w 250"/>
              <a:gd name="T5" fmla="*/ 134 h 234"/>
              <a:gd name="T6" fmla="*/ 19 w 250"/>
              <a:gd name="T7" fmla="*/ 130 h 234"/>
              <a:gd name="T8" fmla="*/ 6 w 250"/>
              <a:gd name="T9" fmla="*/ 123 h 234"/>
              <a:gd name="T10" fmla="*/ 1 w 250"/>
              <a:gd name="T11" fmla="*/ 103 h 234"/>
              <a:gd name="T12" fmla="*/ 11 w 250"/>
              <a:gd name="T13" fmla="*/ 81 h 234"/>
              <a:gd name="T14" fmla="*/ 23 w 250"/>
              <a:gd name="T15" fmla="*/ 76 h 234"/>
              <a:gd name="T16" fmla="*/ 81 w 250"/>
              <a:gd name="T17" fmla="*/ 78 h 234"/>
              <a:gd name="T18" fmla="*/ 65 w 250"/>
              <a:gd name="T19" fmla="*/ 49 h 234"/>
              <a:gd name="T20" fmla="*/ 57 w 250"/>
              <a:gd name="T21" fmla="*/ 27 h 234"/>
              <a:gd name="T22" fmla="*/ 67 w 250"/>
              <a:gd name="T23" fmla="*/ 12 h 234"/>
              <a:gd name="T24" fmla="*/ 85 w 250"/>
              <a:gd name="T25" fmla="*/ 1 h 234"/>
              <a:gd name="T26" fmla="*/ 101 w 250"/>
              <a:gd name="T27" fmla="*/ 8 h 234"/>
              <a:gd name="T28" fmla="*/ 107 w 250"/>
              <a:gd name="T29" fmla="*/ 15 h 234"/>
              <a:gd name="T30" fmla="*/ 120 w 250"/>
              <a:gd name="T31" fmla="*/ 37 h 234"/>
              <a:gd name="T32" fmla="*/ 131 w 250"/>
              <a:gd name="T33" fmla="*/ 60 h 234"/>
              <a:gd name="T34" fmla="*/ 164 w 250"/>
              <a:gd name="T35" fmla="*/ 25 h 234"/>
              <a:gd name="T36" fmla="*/ 187 w 250"/>
              <a:gd name="T37" fmla="*/ 11 h 234"/>
              <a:gd name="T38" fmla="*/ 205 w 250"/>
              <a:gd name="T39" fmla="*/ 19 h 234"/>
              <a:gd name="T40" fmla="*/ 214 w 250"/>
              <a:gd name="T41" fmla="*/ 34 h 234"/>
              <a:gd name="T42" fmla="*/ 203 w 250"/>
              <a:gd name="T43" fmla="*/ 57 h 234"/>
              <a:gd name="T44" fmla="*/ 166 w 250"/>
              <a:gd name="T45" fmla="*/ 100 h 234"/>
              <a:gd name="T46" fmla="*/ 217 w 250"/>
              <a:gd name="T47" fmla="*/ 98 h 234"/>
              <a:gd name="T48" fmla="*/ 244 w 250"/>
              <a:gd name="T49" fmla="*/ 104 h 234"/>
              <a:gd name="T50" fmla="*/ 249 w 250"/>
              <a:gd name="T51" fmla="*/ 115 h 234"/>
              <a:gd name="T52" fmla="*/ 247 w 250"/>
              <a:gd name="T53" fmla="*/ 129 h 234"/>
              <a:gd name="T54" fmla="*/ 245 w 250"/>
              <a:gd name="T55" fmla="*/ 134 h 234"/>
              <a:gd name="T56" fmla="*/ 241 w 250"/>
              <a:gd name="T57" fmla="*/ 141 h 234"/>
              <a:gd name="T58" fmla="*/ 227 w 250"/>
              <a:gd name="T59" fmla="*/ 147 h 234"/>
              <a:gd name="T60" fmla="*/ 187 w 250"/>
              <a:gd name="T61" fmla="*/ 151 h 234"/>
              <a:gd name="T62" fmla="*/ 160 w 250"/>
              <a:gd name="T63" fmla="*/ 148 h 234"/>
              <a:gd name="T64" fmla="*/ 168 w 250"/>
              <a:gd name="T65" fmla="*/ 168 h 234"/>
              <a:gd name="T66" fmla="*/ 176 w 250"/>
              <a:gd name="T67" fmla="*/ 194 h 234"/>
              <a:gd name="T68" fmla="*/ 176 w 250"/>
              <a:gd name="T69" fmla="*/ 211 h 234"/>
              <a:gd name="T70" fmla="*/ 170 w 250"/>
              <a:gd name="T71" fmla="*/ 221 h 234"/>
              <a:gd name="T72" fmla="*/ 156 w 250"/>
              <a:gd name="T73" fmla="*/ 230 h 234"/>
              <a:gd name="T74" fmla="*/ 130 w 250"/>
              <a:gd name="T75" fmla="*/ 226 h 234"/>
              <a:gd name="T76" fmla="*/ 122 w 250"/>
              <a:gd name="T77" fmla="*/ 213 h 234"/>
              <a:gd name="T78" fmla="*/ 110 w 250"/>
              <a:gd name="T79" fmla="*/ 169 h 234"/>
              <a:gd name="T80" fmla="*/ 92 w 250"/>
              <a:gd name="T81" fmla="*/ 192 h 234"/>
              <a:gd name="T82" fmla="*/ 87 w 250"/>
              <a:gd name="T83" fmla="*/ 197 h 234"/>
              <a:gd name="T84" fmla="*/ 84 w 250"/>
              <a:gd name="T85" fmla="*/ 201 h 234"/>
              <a:gd name="T86" fmla="*/ 65 w 250"/>
              <a:gd name="T87" fmla="*/ 212 h 234"/>
              <a:gd name="T88" fmla="*/ 50 w 250"/>
              <a:gd name="T89" fmla="*/ 204 h 234"/>
              <a:gd name="T90" fmla="*/ 44 w 250"/>
              <a:gd name="T91" fmla="*/ 198 h 234"/>
              <a:gd name="T92" fmla="*/ 38 w 250"/>
              <a:gd name="T93" fmla="*/ 185 h 234"/>
              <a:gd name="T94" fmla="*/ 43 w 250"/>
              <a:gd name="T95" fmla="*/ 167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50" h="234">
                <a:moveTo>
                  <a:pt x="43" y="167"/>
                </a:moveTo>
                <a:cubicBezTo>
                  <a:pt x="70" y="133"/>
                  <a:pt x="70" y="133"/>
                  <a:pt x="70" y="133"/>
                </a:cubicBezTo>
                <a:cubicBezTo>
                  <a:pt x="60" y="134"/>
                  <a:pt x="61" y="134"/>
                  <a:pt x="48" y="134"/>
                </a:cubicBezTo>
                <a:cubicBezTo>
                  <a:pt x="34" y="133"/>
                  <a:pt x="24" y="132"/>
                  <a:pt x="19" y="130"/>
                </a:cubicBezTo>
                <a:cubicBezTo>
                  <a:pt x="13" y="128"/>
                  <a:pt x="9" y="126"/>
                  <a:pt x="6" y="123"/>
                </a:cubicBezTo>
                <a:cubicBezTo>
                  <a:pt x="1" y="119"/>
                  <a:pt x="0" y="112"/>
                  <a:pt x="1" y="103"/>
                </a:cubicBezTo>
                <a:cubicBezTo>
                  <a:pt x="2" y="93"/>
                  <a:pt x="6" y="86"/>
                  <a:pt x="11" y="81"/>
                </a:cubicBezTo>
                <a:cubicBezTo>
                  <a:pt x="15" y="77"/>
                  <a:pt x="18" y="76"/>
                  <a:pt x="23" y="76"/>
                </a:cubicBezTo>
                <a:cubicBezTo>
                  <a:pt x="81" y="78"/>
                  <a:pt x="81" y="78"/>
                  <a:pt x="81" y="78"/>
                </a:cubicBezTo>
                <a:cubicBezTo>
                  <a:pt x="65" y="49"/>
                  <a:pt x="65" y="49"/>
                  <a:pt x="65" y="49"/>
                </a:cubicBezTo>
                <a:cubicBezTo>
                  <a:pt x="58" y="40"/>
                  <a:pt x="56" y="33"/>
                  <a:pt x="57" y="27"/>
                </a:cubicBezTo>
                <a:cubicBezTo>
                  <a:pt x="58" y="21"/>
                  <a:pt x="62" y="16"/>
                  <a:pt x="67" y="12"/>
                </a:cubicBezTo>
                <a:cubicBezTo>
                  <a:pt x="74" y="6"/>
                  <a:pt x="80" y="2"/>
                  <a:pt x="85" y="1"/>
                </a:cubicBezTo>
                <a:cubicBezTo>
                  <a:pt x="90" y="0"/>
                  <a:pt x="95" y="2"/>
                  <a:pt x="101" y="8"/>
                </a:cubicBezTo>
                <a:cubicBezTo>
                  <a:pt x="104" y="11"/>
                  <a:pt x="106" y="13"/>
                  <a:pt x="107" y="15"/>
                </a:cubicBezTo>
                <a:cubicBezTo>
                  <a:pt x="110" y="19"/>
                  <a:pt x="112" y="20"/>
                  <a:pt x="120" y="37"/>
                </a:cubicBezTo>
                <a:cubicBezTo>
                  <a:pt x="129" y="55"/>
                  <a:pt x="128" y="51"/>
                  <a:pt x="131" y="60"/>
                </a:cubicBezTo>
                <a:cubicBezTo>
                  <a:pt x="164" y="25"/>
                  <a:pt x="164" y="25"/>
                  <a:pt x="164" y="25"/>
                </a:cubicBezTo>
                <a:cubicBezTo>
                  <a:pt x="173" y="16"/>
                  <a:pt x="180" y="11"/>
                  <a:pt x="187" y="11"/>
                </a:cubicBezTo>
                <a:cubicBezTo>
                  <a:pt x="193" y="10"/>
                  <a:pt x="200" y="13"/>
                  <a:pt x="205" y="19"/>
                </a:cubicBezTo>
                <a:cubicBezTo>
                  <a:pt x="210" y="24"/>
                  <a:pt x="213" y="29"/>
                  <a:pt x="214" y="34"/>
                </a:cubicBezTo>
                <a:cubicBezTo>
                  <a:pt x="214" y="39"/>
                  <a:pt x="211" y="47"/>
                  <a:pt x="203" y="57"/>
                </a:cubicBezTo>
                <a:cubicBezTo>
                  <a:pt x="166" y="100"/>
                  <a:pt x="166" y="100"/>
                  <a:pt x="166" y="100"/>
                </a:cubicBezTo>
                <a:cubicBezTo>
                  <a:pt x="217" y="98"/>
                  <a:pt x="217" y="98"/>
                  <a:pt x="217" y="98"/>
                </a:cubicBezTo>
                <a:cubicBezTo>
                  <a:pt x="229" y="96"/>
                  <a:pt x="238" y="98"/>
                  <a:pt x="244" y="104"/>
                </a:cubicBezTo>
                <a:cubicBezTo>
                  <a:pt x="247" y="107"/>
                  <a:pt x="249" y="111"/>
                  <a:pt x="249" y="115"/>
                </a:cubicBezTo>
                <a:cubicBezTo>
                  <a:pt x="250" y="120"/>
                  <a:pt x="249" y="124"/>
                  <a:pt x="247" y="129"/>
                </a:cubicBezTo>
                <a:cubicBezTo>
                  <a:pt x="247" y="130"/>
                  <a:pt x="246" y="132"/>
                  <a:pt x="245" y="134"/>
                </a:cubicBezTo>
                <a:cubicBezTo>
                  <a:pt x="244" y="137"/>
                  <a:pt x="243" y="140"/>
                  <a:pt x="241" y="141"/>
                </a:cubicBezTo>
                <a:cubicBezTo>
                  <a:pt x="239" y="144"/>
                  <a:pt x="234" y="146"/>
                  <a:pt x="227" y="147"/>
                </a:cubicBezTo>
                <a:cubicBezTo>
                  <a:pt x="221" y="149"/>
                  <a:pt x="207" y="150"/>
                  <a:pt x="187" y="151"/>
                </a:cubicBezTo>
                <a:cubicBezTo>
                  <a:pt x="175" y="152"/>
                  <a:pt x="161" y="148"/>
                  <a:pt x="160" y="148"/>
                </a:cubicBezTo>
                <a:cubicBezTo>
                  <a:pt x="161" y="151"/>
                  <a:pt x="165" y="161"/>
                  <a:pt x="168" y="168"/>
                </a:cubicBezTo>
                <a:cubicBezTo>
                  <a:pt x="168" y="171"/>
                  <a:pt x="173" y="181"/>
                  <a:pt x="176" y="194"/>
                </a:cubicBezTo>
                <a:cubicBezTo>
                  <a:pt x="179" y="206"/>
                  <a:pt x="176" y="203"/>
                  <a:pt x="176" y="211"/>
                </a:cubicBezTo>
                <a:cubicBezTo>
                  <a:pt x="176" y="214"/>
                  <a:pt x="174" y="217"/>
                  <a:pt x="170" y="221"/>
                </a:cubicBezTo>
                <a:cubicBezTo>
                  <a:pt x="166" y="226"/>
                  <a:pt x="161" y="228"/>
                  <a:pt x="156" y="230"/>
                </a:cubicBezTo>
                <a:cubicBezTo>
                  <a:pt x="147" y="234"/>
                  <a:pt x="137" y="233"/>
                  <a:pt x="130" y="226"/>
                </a:cubicBezTo>
                <a:cubicBezTo>
                  <a:pt x="127" y="223"/>
                  <a:pt x="125" y="219"/>
                  <a:pt x="122" y="213"/>
                </a:cubicBezTo>
                <a:cubicBezTo>
                  <a:pt x="118" y="188"/>
                  <a:pt x="117" y="189"/>
                  <a:pt x="110" y="169"/>
                </a:cubicBezTo>
                <a:cubicBezTo>
                  <a:pt x="92" y="192"/>
                  <a:pt x="92" y="192"/>
                  <a:pt x="92" y="192"/>
                </a:cubicBezTo>
                <a:cubicBezTo>
                  <a:pt x="90" y="193"/>
                  <a:pt x="88" y="195"/>
                  <a:pt x="87" y="197"/>
                </a:cubicBezTo>
                <a:cubicBezTo>
                  <a:pt x="86" y="198"/>
                  <a:pt x="85" y="200"/>
                  <a:pt x="84" y="201"/>
                </a:cubicBezTo>
                <a:cubicBezTo>
                  <a:pt x="76" y="209"/>
                  <a:pt x="70" y="212"/>
                  <a:pt x="65" y="212"/>
                </a:cubicBezTo>
                <a:cubicBezTo>
                  <a:pt x="60" y="211"/>
                  <a:pt x="55" y="209"/>
                  <a:pt x="50" y="204"/>
                </a:cubicBezTo>
                <a:cubicBezTo>
                  <a:pt x="50" y="203"/>
                  <a:pt x="48" y="202"/>
                  <a:pt x="44" y="198"/>
                </a:cubicBezTo>
                <a:cubicBezTo>
                  <a:pt x="41" y="195"/>
                  <a:pt x="39" y="191"/>
                  <a:pt x="38" y="185"/>
                </a:cubicBezTo>
                <a:cubicBezTo>
                  <a:pt x="37" y="179"/>
                  <a:pt x="39" y="173"/>
                  <a:pt x="43" y="167"/>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8300666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9646535-AEF6-4883-A4F9-EEC1F8B43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2A3E2477-CB24-4FE6-B9C0-F9800FF83E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965638C-2268-4A1B-96C3-95E79EF44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D0BE8C-1820-E1CE-4123-B7DDDF5F4F8F}"/>
              </a:ext>
            </a:extLst>
          </p:cNvPr>
          <p:cNvSpPr>
            <a:spLocks noGrp="1"/>
          </p:cNvSpPr>
          <p:nvPr>
            <p:ph type="title"/>
          </p:nvPr>
        </p:nvSpPr>
        <p:spPr>
          <a:xfrm>
            <a:off x="720000" y="619200"/>
            <a:ext cx="4991961" cy="1477328"/>
          </a:xfrm>
        </p:spPr>
        <p:txBody>
          <a:bodyPr vert="horz" wrap="square" lIns="0" tIns="0" rIns="0" bIns="0" rtlCol="0" anchor="ctr" anchorCtr="0">
            <a:normAutofit/>
          </a:bodyPr>
          <a:lstStyle/>
          <a:p>
            <a:r>
              <a:rPr lang="en-US" sz="3200" spc="-150" dirty="0"/>
              <a:t>Project :</a:t>
            </a:r>
            <a:br>
              <a:rPr lang="en-US" sz="3200" spc="-150" dirty="0"/>
            </a:br>
            <a:r>
              <a:rPr lang="en-US" sz="3200" spc="-150" dirty="0"/>
              <a:t>By default, the project content 3 main folder </a:t>
            </a:r>
            <a:br>
              <a:rPr lang="en-US" sz="3200" spc="-150" dirty="0"/>
            </a:br>
            <a:endParaRPr lang="en-US" sz="3200" dirty="0"/>
          </a:p>
        </p:txBody>
      </p:sp>
      <p:sp>
        <p:nvSpPr>
          <p:cNvPr id="4" name="Text Placeholder 3">
            <a:extLst>
              <a:ext uri="{FF2B5EF4-FFF2-40B4-BE49-F238E27FC236}">
                <a16:creationId xmlns:a16="http://schemas.microsoft.com/office/drawing/2014/main" id="{048B893B-8305-BAF8-854F-4ECC14238BA3}"/>
              </a:ext>
            </a:extLst>
          </p:cNvPr>
          <p:cNvSpPr>
            <a:spLocks noGrp="1"/>
          </p:cNvSpPr>
          <p:nvPr>
            <p:ph type="body" sz="half" idx="2"/>
          </p:nvPr>
        </p:nvSpPr>
        <p:spPr>
          <a:xfrm>
            <a:off x="720000" y="2541600"/>
            <a:ext cx="4991962" cy="3216273"/>
          </a:xfrm>
        </p:spPr>
        <p:txBody>
          <a:bodyPr vert="horz" lIns="0" tIns="0" rIns="0" bIns="0" rtlCol="0">
            <a:normAutofit/>
          </a:bodyPr>
          <a:lstStyle/>
          <a:p>
            <a:pPr marL="457200" indent="-228600">
              <a:buFont typeface="The Hand Extrablack" panose="03070A02030502020204" pitchFamily="66" charset="0"/>
              <a:buChar char="•"/>
            </a:pPr>
            <a:r>
              <a:rPr lang="en-US" dirty="0"/>
              <a:t>Model</a:t>
            </a:r>
          </a:p>
          <a:p>
            <a:pPr marL="457200" indent="-228600">
              <a:buFont typeface="The Hand Extrablack" panose="03070A02030502020204" pitchFamily="66" charset="0"/>
              <a:buChar char="•"/>
            </a:pPr>
            <a:r>
              <a:rPr lang="en-US" dirty="0"/>
              <a:t>View </a:t>
            </a:r>
          </a:p>
          <a:p>
            <a:pPr marL="457200" indent="-228600">
              <a:buFont typeface="The Hand Extrablack" panose="03070A02030502020204" pitchFamily="66" charset="0"/>
              <a:buChar char="•"/>
            </a:pPr>
            <a:r>
              <a:rPr lang="en-US" dirty="0" err="1"/>
              <a:t>conteroller</a:t>
            </a:r>
            <a:endParaRPr lang="en-US" dirty="0"/>
          </a:p>
          <a:p>
            <a:pPr indent="-228600">
              <a:buFont typeface="The Hand Extrablack" panose="03070A02030502020204" pitchFamily="66" charset="0"/>
              <a:buChar char="•"/>
            </a:pPr>
            <a:r>
              <a:rPr lang="en-US" dirty="0"/>
              <a:t>In addition, many configuration files.</a:t>
            </a:r>
          </a:p>
          <a:p>
            <a:pPr indent="-228600">
              <a:buFont typeface="The Hand Extrablack" panose="03070A02030502020204" pitchFamily="66" charset="0"/>
              <a:buChar char="•"/>
            </a:pPr>
            <a:endParaRPr lang="en-US" dirty="0"/>
          </a:p>
        </p:txBody>
      </p:sp>
      <p:sp useBgFill="1">
        <p:nvSpPr>
          <p:cNvPr id="17" name="Freeform: Shape 16">
            <a:extLst>
              <a:ext uri="{FF2B5EF4-FFF2-40B4-BE49-F238E27FC236}">
                <a16:creationId xmlns:a16="http://schemas.microsoft.com/office/drawing/2014/main" id="{97D0825D-5142-4F4A-A141-3CCD5E99C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5867335" y="533334"/>
            <a:ext cx="6858000" cy="5791331"/>
          </a:xfrm>
          <a:custGeom>
            <a:avLst/>
            <a:gdLst>
              <a:gd name="connsiteX0" fmla="*/ 6858000 w 6858000"/>
              <a:gd name="connsiteY0" fmla="*/ 14535 h 5791331"/>
              <a:gd name="connsiteX1" fmla="*/ 6858000 w 6858000"/>
              <a:gd name="connsiteY1" fmla="*/ 5791331 h 5791331"/>
              <a:gd name="connsiteX2" fmla="*/ 0 w 6858000"/>
              <a:gd name="connsiteY2" fmla="*/ 5791330 h 5791331"/>
              <a:gd name="connsiteX3" fmla="*/ 0 w 6858000"/>
              <a:gd name="connsiteY3" fmla="*/ 0 h 5791331"/>
              <a:gd name="connsiteX4" fmla="*/ 145832 w 6858000"/>
              <a:gd name="connsiteY4" fmla="*/ 1175 h 5791331"/>
              <a:gd name="connsiteX5" fmla="*/ 2611132 w 6858000"/>
              <a:gd name="connsiteY5" fmla="*/ 48625 h 5791331"/>
              <a:gd name="connsiteX6" fmla="*/ 6643031 w 6858000"/>
              <a:gd name="connsiteY6" fmla="*/ 15010 h 5791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0" h="5791331">
                <a:moveTo>
                  <a:pt x="6858000" y="14535"/>
                </a:moveTo>
                <a:lnTo>
                  <a:pt x="6858000" y="5791331"/>
                </a:lnTo>
                <a:lnTo>
                  <a:pt x="0" y="5791330"/>
                </a:lnTo>
                <a:lnTo>
                  <a:pt x="0" y="0"/>
                </a:lnTo>
                <a:lnTo>
                  <a:pt x="145832" y="1175"/>
                </a:lnTo>
                <a:cubicBezTo>
                  <a:pt x="886907" y="14750"/>
                  <a:pt x="2228596" y="125101"/>
                  <a:pt x="2611132" y="48625"/>
                </a:cubicBezTo>
                <a:cubicBezTo>
                  <a:pt x="2933352" y="-3056"/>
                  <a:pt x="5032814" y="16325"/>
                  <a:pt x="6643031" y="15010"/>
                </a:cubicBezTo>
                <a:close/>
              </a:path>
            </a:pathLst>
          </a:cu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pic>
        <p:nvPicPr>
          <p:cNvPr id="6" name="Content Placeholder 5" descr="A screenshot of a computer&#10;&#10;AI-generated content may be incorrect.">
            <a:extLst>
              <a:ext uri="{FF2B5EF4-FFF2-40B4-BE49-F238E27FC236}">
                <a16:creationId xmlns:a16="http://schemas.microsoft.com/office/drawing/2014/main" id="{8F196B18-8ECE-5576-8E65-2D7633B99733}"/>
              </a:ext>
            </a:extLst>
          </p:cNvPr>
          <p:cNvPicPr>
            <a:picLocks noGrp="1" noChangeAspect="1"/>
          </p:cNvPicPr>
          <p:nvPr>
            <p:ph idx="1"/>
          </p:nvPr>
        </p:nvPicPr>
        <p:blipFill>
          <a:blip r:embed="rId2"/>
          <a:stretch>
            <a:fillRect/>
          </a:stretch>
        </p:blipFill>
        <p:spPr>
          <a:xfrm>
            <a:off x="7176162" y="1051235"/>
            <a:ext cx="4284000" cy="4746868"/>
          </a:xfrm>
          <a:custGeom>
            <a:avLst/>
            <a:gdLst/>
            <a:ahLst/>
            <a:cxnLst/>
            <a:rect l="l" t="t" r="r" b="b"/>
            <a:pathLst>
              <a:path w="4284000" h="5409338">
                <a:moveTo>
                  <a:pt x="0" y="0"/>
                </a:moveTo>
                <a:lnTo>
                  <a:pt x="4284000" y="0"/>
                </a:lnTo>
                <a:lnTo>
                  <a:pt x="4284000" y="5409338"/>
                </a:lnTo>
                <a:lnTo>
                  <a:pt x="0" y="5409338"/>
                </a:lnTo>
                <a:close/>
              </a:path>
            </a:pathLst>
          </a:custGeom>
        </p:spPr>
      </p:pic>
    </p:spTree>
    <p:extLst>
      <p:ext uri="{BB962C8B-B14F-4D97-AF65-F5344CB8AC3E}">
        <p14:creationId xmlns:p14="http://schemas.microsoft.com/office/powerpoint/2010/main" val="1608102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94BB19-84D8-30DB-8775-68AAF31B7B4B}"/>
              </a:ext>
            </a:extLst>
          </p:cNvPr>
          <p:cNvSpPr>
            <a:spLocks noGrp="1"/>
          </p:cNvSpPr>
          <p:nvPr>
            <p:ph idx="1"/>
          </p:nvPr>
        </p:nvSpPr>
        <p:spPr>
          <a:xfrm>
            <a:off x="340873" y="1930400"/>
            <a:ext cx="10728325" cy="3755448"/>
          </a:xfrm>
        </p:spPr>
        <p:txBody>
          <a:bodyPr>
            <a:normAutofit fontScale="92500" lnSpcReduction="10000"/>
          </a:bodyPr>
          <a:lstStyle/>
          <a:p>
            <a:pPr marR="0" lvl="1" fontAlgn="base">
              <a:spcBef>
                <a:spcPct val="0"/>
              </a:spcBef>
              <a:spcAft>
                <a:spcPct val="0"/>
              </a:spcAft>
              <a:buSzTx/>
              <a:buFont typeface="Wingdings" panose="05000000000000000000" pitchFamily="2" charset="2"/>
              <a:buChar char="Ø"/>
              <a:tabLst/>
            </a:pPr>
            <a:r>
              <a:rPr lang="en-US" altLang="en-US" sz="1700" dirty="0"/>
              <a:t>It configures the web host and services, sets up dependency injection (DI), configures middleware, and initializes the application.</a:t>
            </a:r>
          </a:p>
          <a:p>
            <a:pPr marR="0" lvl="1" fontAlgn="base">
              <a:spcBef>
                <a:spcPct val="0"/>
              </a:spcBef>
              <a:spcAft>
                <a:spcPct val="0"/>
              </a:spcAft>
              <a:buSzTx/>
              <a:buFont typeface="Wingdings" panose="05000000000000000000" pitchFamily="2" charset="2"/>
              <a:buChar char="Ø"/>
              <a:tabLst/>
            </a:pPr>
            <a:endParaRPr lang="en-US" altLang="en-US" sz="1700" dirty="0"/>
          </a:p>
          <a:p>
            <a:pPr marR="0" lvl="1" fontAlgn="base">
              <a:spcBef>
                <a:spcPct val="0"/>
              </a:spcBef>
              <a:spcAft>
                <a:spcPct val="0"/>
              </a:spcAft>
              <a:buSzTx/>
              <a:buFont typeface="Wingdings" panose="05000000000000000000" pitchFamily="2" charset="2"/>
              <a:buChar char="Ø"/>
              <a:tabLst/>
            </a:pPr>
            <a:r>
              <a:rPr lang="en-US" altLang="en-US" sz="1700" dirty="0"/>
              <a:t>You can define environment-specific settings, logging, services, and more here.</a:t>
            </a:r>
          </a:p>
          <a:p>
            <a:pPr marR="0" lvl="1" fontAlgn="base">
              <a:spcBef>
                <a:spcPct val="0"/>
              </a:spcBef>
              <a:spcAft>
                <a:spcPct val="0"/>
              </a:spcAft>
              <a:buSzTx/>
              <a:buFont typeface="Wingdings" panose="05000000000000000000" pitchFamily="2" charset="2"/>
              <a:buChar char="Ø"/>
              <a:tabLst/>
            </a:pPr>
            <a:endParaRPr lang="en-US" sz="1700" dirty="0"/>
          </a:p>
          <a:p>
            <a:pPr marL="457200" lvl="1" indent="0" fontAlgn="base">
              <a:spcBef>
                <a:spcPct val="0"/>
              </a:spcBef>
              <a:spcAft>
                <a:spcPct val="0"/>
              </a:spcAft>
              <a:buNone/>
            </a:pPr>
            <a:r>
              <a:rPr lang="en-US" altLang="en-US" sz="1700" dirty="0"/>
              <a:t>Key points:</a:t>
            </a:r>
          </a:p>
          <a:p>
            <a:pPr marL="457200" lvl="1" indent="0" fontAlgn="base">
              <a:spcBef>
                <a:spcPct val="0"/>
              </a:spcBef>
              <a:spcAft>
                <a:spcPct val="0"/>
              </a:spcAft>
              <a:buNone/>
            </a:pPr>
            <a:endParaRPr lang="en-US" altLang="en-US" sz="1700" dirty="0"/>
          </a:p>
          <a:p>
            <a:pPr marL="1371600" lvl="2" indent="-457200" fontAlgn="base">
              <a:spcBef>
                <a:spcPct val="0"/>
              </a:spcBef>
              <a:spcAft>
                <a:spcPct val="0"/>
              </a:spcAft>
              <a:buFont typeface="+mj-lt"/>
              <a:buAutoNum type="arabicPeriod"/>
            </a:pPr>
            <a:r>
              <a:rPr lang="en-US" altLang="en-US" sz="1700" dirty="0" err="1"/>
              <a:t>builder.Services</a:t>
            </a:r>
            <a:r>
              <a:rPr lang="en-US" altLang="en-US" sz="1700" dirty="0"/>
              <a:t>: Where you add services to the application’s DI container (e.g., MVC, Entity Framework, etc.).</a:t>
            </a:r>
          </a:p>
          <a:p>
            <a:pPr marL="1371600" lvl="2" indent="-457200" fontAlgn="base">
              <a:spcBef>
                <a:spcPct val="0"/>
              </a:spcBef>
              <a:spcAft>
                <a:spcPct val="0"/>
              </a:spcAft>
              <a:buFont typeface="+mj-lt"/>
              <a:buAutoNum type="arabicPeriod"/>
            </a:pPr>
            <a:endParaRPr lang="en-US" altLang="en-US" sz="1700" dirty="0"/>
          </a:p>
          <a:p>
            <a:pPr marL="1371600" lvl="2" indent="-457200" fontAlgn="base">
              <a:spcBef>
                <a:spcPct val="0"/>
              </a:spcBef>
              <a:spcAft>
                <a:spcPct val="0"/>
              </a:spcAft>
              <a:buFont typeface="+mj-lt"/>
              <a:buAutoNum type="arabicPeriod"/>
            </a:pPr>
            <a:r>
              <a:rPr lang="en-US" altLang="en-US" sz="1700" dirty="0" err="1"/>
              <a:t>app.UseRouting</a:t>
            </a:r>
            <a:r>
              <a:rPr lang="en-US" altLang="en-US" sz="1700" dirty="0"/>
              <a:t>(), </a:t>
            </a:r>
            <a:r>
              <a:rPr lang="en-US" altLang="en-US" sz="1700" dirty="0" err="1"/>
              <a:t>app.UseEndpoints</a:t>
            </a:r>
            <a:r>
              <a:rPr lang="en-US" altLang="en-US" sz="1700" dirty="0"/>
              <a:t>(), etc.: Set up middleware and routing.</a:t>
            </a:r>
          </a:p>
          <a:p>
            <a:pPr marL="1371600" lvl="2" indent="-457200" fontAlgn="base">
              <a:spcBef>
                <a:spcPct val="0"/>
              </a:spcBef>
              <a:spcAft>
                <a:spcPct val="0"/>
              </a:spcAft>
              <a:buFont typeface="+mj-lt"/>
              <a:buAutoNum type="arabicPeriod"/>
            </a:pPr>
            <a:endParaRPr lang="en-US" altLang="en-US" sz="1700" dirty="0"/>
          </a:p>
          <a:p>
            <a:pPr marL="1371600" lvl="2" indent="-457200" fontAlgn="base">
              <a:spcBef>
                <a:spcPct val="0"/>
              </a:spcBef>
              <a:spcAft>
                <a:spcPct val="0"/>
              </a:spcAft>
              <a:buFont typeface="+mj-lt"/>
              <a:buAutoNum type="arabicPeriod"/>
            </a:pPr>
            <a:r>
              <a:rPr lang="en-US" altLang="en-US" sz="1700" dirty="0" err="1"/>
              <a:t>app.MapControllerRoute</a:t>
            </a:r>
            <a:r>
              <a:rPr lang="en-US" altLang="en-US" sz="1700" dirty="0"/>
              <a:t>(): Defines routing for MVC controllers</a:t>
            </a:r>
            <a:r>
              <a:rPr lang="en-US" altLang="en-US" sz="2100" dirty="0">
                <a:solidFill>
                  <a:schemeClr val="tx1"/>
                </a:solidFill>
                <a:latin typeface="Arial" panose="020B0604020202020204" pitchFamily="34" charset="0"/>
              </a:rPr>
              <a:t>.</a:t>
            </a:r>
          </a:p>
          <a:p>
            <a:pPr marR="0" lvl="1"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dirty="0">
              <a:solidFill>
                <a:schemeClr val="tx1"/>
              </a:solidFill>
              <a:latin typeface="Arial" panose="020B0604020202020204" pitchFamily="34" charset="0"/>
            </a:endParaRPr>
          </a:p>
          <a:p>
            <a:pPr marR="0" lvl="1"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dirty="0"/>
          </a:p>
        </p:txBody>
      </p:sp>
      <p:sp>
        <p:nvSpPr>
          <p:cNvPr id="4" name="Rectangle 1">
            <a:extLst>
              <a:ext uri="{FF2B5EF4-FFF2-40B4-BE49-F238E27FC236}">
                <a16:creationId xmlns:a16="http://schemas.microsoft.com/office/drawing/2014/main" id="{3ED40D04-6E9E-818F-F41B-97A89214AB07}"/>
              </a:ext>
            </a:extLst>
          </p:cNvPr>
          <p:cNvSpPr>
            <a:spLocks noGrp="1" noChangeArrowheads="1"/>
          </p:cNvSpPr>
          <p:nvPr>
            <p:ph type="title"/>
          </p:nvPr>
        </p:nvSpPr>
        <p:spPr bwMode="auto">
          <a:xfrm>
            <a:off x="720000" y="875263"/>
            <a:ext cx="3233164" cy="965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fontAlgn="base">
              <a:spcAft>
                <a:spcPct val="0"/>
              </a:spcAft>
              <a:buClrTx/>
              <a:buSzTx/>
              <a:tabLst/>
            </a:pPr>
            <a:r>
              <a:rPr lang="en-US" altLang="en-US" dirty="0"/>
              <a:t>1. </a:t>
            </a:r>
            <a:r>
              <a:rPr lang="en-US" altLang="en-US" dirty="0" err="1"/>
              <a:t>Program.cs</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393040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C463A-9349-51CB-E06C-6C26099FCB7B}"/>
              </a:ext>
            </a:extLst>
          </p:cNvPr>
          <p:cNvSpPr>
            <a:spLocks noGrp="1"/>
          </p:cNvSpPr>
          <p:nvPr>
            <p:ph type="title"/>
          </p:nvPr>
        </p:nvSpPr>
        <p:spPr/>
        <p:txBody>
          <a:bodyPr/>
          <a:lstStyle/>
          <a:p>
            <a:r>
              <a:rPr lang="en-US" dirty="0"/>
              <a:t>2. </a:t>
            </a:r>
            <a:r>
              <a:rPr lang="en-US" b="1" dirty="0" err="1"/>
              <a:t>appsettings.json</a:t>
            </a:r>
            <a:endParaRPr lang="en-US" dirty="0"/>
          </a:p>
        </p:txBody>
      </p:sp>
      <p:sp>
        <p:nvSpPr>
          <p:cNvPr id="3" name="Content Placeholder 2">
            <a:extLst>
              <a:ext uri="{FF2B5EF4-FFF2-40B4-BE49-F238E27FC236}">
                <a16:creationId xmlns:a16="http://schemas.microsoft.com/office/drawing/2014/main" id="{BDC6ACEF-D501-41C8-5647-5E3E9AEE8C29}"/>
              </a:ext>
            </a:extLst>
          </p:cNvPr>
          <p:cNvSpPr>
            <a:spLocks noGrp="1"/>
          </p:cNvSpPr>
          <p:nvPr>
            <p:ph idx="1"/>
          </p:nvPr>
        </p:nvSpPr>
        <p:spPr>
          <a:xfrm>
            <a:off x="720000" y="1514764"/>
            <a:ext cx="10728325" cy="4254211"/>
          </a:xfrm>
        </p:spPr>
        <p:txBody>
          <a:bodyPr>
            <a:normAutofit fontScale="85000" lnSpcReduction="10000"/>
          </a:bodyPr>
          <a:lstStyle/>
          <a:p>
            <a:r>
              <a:rPr lang="en-US" dirty="0"/>
              <a:t>used to </a:t>
            </a:r>
            <a:r>
              <a:rPr lang="en-US" dirty="0">
                <a:solidFill>
                  <a:srgbClr val="FFC000">
                    <a:alpha val="58000"/>
                  </a:srgbClr>
                </a:solidFill>
              </a:rPr>
              <a:t>store configuration settings in a key-value format.</a:t>
            </a:r>
          </a:p>
          <a:p>
            <a:endParaRPr lang="en-US" dirty="0"/>
          </a:p>
          <a:p>
            <a:pPr marR="0" lvl="0" fontAlgn="base">
              <a:spcAft>
                <a:spcPct val="0"/>
              </a:spcAft>
              <a:buSzTx/>
              <a:buFont typeface="Wingdings" panose="05000000000000000000" pitchFamily="2" charset="2"/>
              <a:buChar char="Ø"/>
              <a:tabLst/>
            </a:pPr>
            <a:r>
              <a:rPr lang="en-US" altLang="en-US" dirty="0"/>
              <a:t>Stores settings like connection strings, logging configuration, application-specific settings, etc.</a:t>
            </a:r>
          </a:p>
          <a:p>
            <a:pPr marR="0" lvl="0" fontAlgn="base">
              <a:spcAft>
                <a:spcPct val="0"/>
              </a:spcAft>
              <a:buSzTx/>
              <a:buFont typeface="Wingdings" panose="05000000000000000000" pitchFamily="2" charset="2"/>
              <a:buChar char="Ø"/>
              <a:tabLst/>
            </a:pPr>
            <a:r>
              <a:rPr lang="en-US" altLang="en-US" dirty="0"/>
              <a:t>Supports JSON format, typically used for production and development environments. </a:t>
            </a:r>
          </a:p>
          <a:p>
            <a:pPr marR="0" lvl="0" fontAlgn="base">
              <a:spcAft>
                <a:spcPct val="0"/>
              </a:spcAft>
              <a:buSzTx/>
              <a:tabLst/>
            </a:pPr>
            <a:endParaRPr lang="en-US" altLang="en-US" dirty="0"/>
          </a:p>
          <a:p>
            <a:pPr marR="0" lvl="0" fontAlgn="base">
              <a:spcAft>
                <a:spcPct val="0"/>
              </a:spcAft>
              <a:buSzTx/>
              <a:tabLst/>
            </a:pPr>
            <a:r>
              <a:rPr lang="en-US" dirty="0"/>
              <a:t>Key points:</a:t>
            </a:r>
          </a:p>
          <a:p>
            <a:pPr marR="0" lvl="0" fontAlgn="base">
              <a:spcAft>
                <a:spcPct val="0"/>
              </a:spcAft>
              <a:buSzTx/>
              <a:tabLst/>
            </a:pPr>
            <a:endParaRPr lang="en-US" dirty="0"/>
          </a:p>
          <a:p>
            <a:pPr marL="914400" lvl="1" indent="-457200" fontAlgn="base">
              <a:spcAft>
                <a:spcPct val="0"/>
              </a:spcAft>
              <a:buFont typeface="+mj-lt"/>
              <a:buAutoNum type="arabicParenR"/>
            </a:pPr>
            <a:r>
              <a:rPr lang="en-US" dirty="0" err="1"/>
              <a:t>ConnectionStrings</a:t>
            </a:r>
            <a:r>
              <a:rPr lang="en-US" dirty="0"/>
              <a:t>: Holds database connection strings.</a:t>
            </a:r>
          </a:p>
          <a:p>
            <a:pPr marL="914400" lvl="1" indent="-457200" fontAlgn="base">
              <a:spcAft>
                <a:spcPct val="0"/>
              </a:spcAft>
              <a:buFont typeface="+mj-lt"/>
              <a:buAutoNum type="arabicParenR"/>
            </a:pPr>
            <a:r>
              <a:rPr lang="en-US" dirty="0"/>
              <a:t>Logging: Configures logging behavior.</a:t>
            </a:r>
          </a:p>
          <a:p>
            <a:pPr marL="914400" lvl="1" indent="-457200" fontAlgn="base">
              <a:spcAft>
                <a:spcPct val="0"/>
              </a:spcAft>
              <a:buFont typeface="+mj-lt"/>
              <a:buAutoNum type="arabicParenR"/>
            </a:pPr>
            <a:r>
              <a:rPr lang="en-US" dirty="0" err="1"/>
              <a:t>AllowedHosts</a:t>
            </a:r>
            <a:r>
              <a:rPr lang="en-US" dirty="0"/>
              <a:t>: Restricts the allowed hostnames from accessing the application (helpful for security).</a:t>
            </a:r>
          </a:p>
          <a:p>
            <a:pPr marL="914400" lvl="1" indent="-457200" eaLnBrk="0" fontAlgn="base" hangingPunct="0">
              <a:lnSpc>
                <a:spcPct val="100000"/>
              </a:lnSpc>
              <a:spcBef>
                <a:spcPct val="0"/>
              </a:spcBef>
              <a:spcAft>
                <a:spcPct val="0"/>
              </a:spcAft>
              <a:buClrTx/>
              <a:buFont typeface="+mj-lt"/>
              <a:buAutoNum type="arabicParenR"/>
            </a:pPr>
            <a:endParaRPr kumimoji="0" lang="en-US" altLang="en-US"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dirty="0">
              <a:solidFill>
                <a:schemeClr val="tx1"/>
              </a:solidFill>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endParaRPr lang="en-US" dirty="0"/>
          </a:p>
        </p:txBody>
      </p:sp>
    </p:spTree>
    <p:extLst>
      <p:ext uri="{BB962C8B-B14F-4D97-AF65-F5344CB8AC3E}">
        <p14:creationId xmlns:p14="http://schemas.microsoft.com/office/powerpoint/2010/main" val="10616174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9646535-AEF6-4883-A4F9-EEC1F8B43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2A3E2477-CB24-4FE6-B9C0-F9800FF83E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965638C-2268-4A1B-96C3-95E79EF44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267240-0E41-499B-20FB-5EFBE19D6D25}"/>
              </a:ext>
            </a:extLst>
          </p:cNvPr>
          <p:cNvSpPr>
            <a:spLocks noGrp="1"/>
          </p:cNvSpPr>
          <p:nvPr>
            <p:ph type="title"/>
          </p:nvPr>
        </p:nvSpPr>
        <p:spPr>
          <a:xfrm>
            <a:off x="720000" y="619200"/>
            <a:ext cx="4991961" cy="1477328"/>
          </a:xfrm>
        </p:spPr>
        <p:txBody>
          <a:bodyPr vert="horz" wrap="square" lIns="0" tIns="0" rIns="0" bIns="0" rtlCol="0" anchor="ctr" anchorCtr="0">
            <a:normAutofit/>
          </a:bodyPr>
          <a:lstStyle/>
          <a:p>
            <a:pPr>
              <a:lnSpc>
                <a:spcPct val="100000"/>
              </a:lnSpc>
            </a:pPr>
            <a:r>
              <a:rPr lang="en-US" sz="3200" dirty="0"/>
              <a:t>The 3-Folder MVC</a:t>
            </a:r>
          </a:p>
        </p:txBody>
      </p:sp>
      <p:sp>
        <p:nvSpPr>
          <p:cNvPr id="4" name="Text Placeholder 3">
            <a:extLst>
              <a:ext uri="{FF2B5EF4-FFF2-40B4-BE49-F238E27FC236}">
                <a16:creationId xmlns:a16="http://schemas.microsoft.com/office/drawing/2014/main" id="{AC7377E0-C62A-DF39-15F9-04C091E963CE}"/>
              </a:ext>
            </a:extLst>
          </p:cNvPr>
          <p:cNvSpPr>
            <a:spLocks noGrp="1"/>
          </p:cNvSpPr>
          <p:nvPr>
            <p:ph type="body" sz="half" idx="2"/>
          </p:nvPr>
        </p:nvSpPr>
        <p:spPr>
          <a:xfrm>
            <a:off x="720000" y="2541600"/>
            <a:ext cx="4991962" cy="3216273"/>
          </a:xfrm>
        </p:spPr>
        <p:txBody>
          <a:bodyPr vert="horz" lIns="0" tIns="0" rIns="0" bIns="0" rtlCol="0">
            <a:normAutofit/>
          </a:bodyPr>
          <a:lstStyle/>
          <a:p>
            <a:pPr marL="114300" indent="-228600">
              <a:buFont typeface="The Hand Extrablack" panose="03070A02030502020204" pitchFamily="66" charset="0"/>
              <a:buChar char="•"/>
            </a:pPr>
            <a:r>
              <a:rPr lang="en-US" dirty="0"/>
              <a:t>In the Model-View-Controller (MVC) pattern, the view handles the app's data presentation and user interaction. A view is an HTML template with embedded </a:t>
            </a:r>
            <a:r>
              <a:rPr lang="en-US" dirty="0">
                <a:solidFill>
                  <a:srgbClr val="FF0000">
                    <a:alpha val="58000"/>
                  </a:srgbClr>
                </a:solidFill>
                <a:hlinkClick r:id="rId2">
                  <a:extLst>
                    <a:ext uri="{A12FA001-AC4F-418D-AE19-62706E023703}">
                      <ahyp:hlinkClr xmlns:ahyp="http://schemas.microsoft.com/office/drawing/2018/hyperlinkcolor" val="tx"/>
                    </a:ext>
                  </a:extLst>
                </a:hlinkClick>
              </a:rPr>
              <a:t>Razor markup</a:t>
            </a:r>
            <a:r>
              <a:rPr lang="en-US" dirty="0"/>
              <a:t>. </a:t>
            </a:r>
          </a:p>
          <a:p>
            <a:pPr marL="114300" indent="-228600">
              <a:buFont typeface="The Hand Extrablack" panose="03070A02030502020204" pitchFamily="66" charset="0"/>
              <a:buChar char="•"/>
            </a:pPr>
            <a:r>
              <a:rPr lang="en-US" dirty="0"/>
              <a:t>Razor markup is code that interacts with HTML markup to produce a webpage that's sent to the client.</a:t>
            </a:r>
          </a:p>
          <a:p>
            <a:pPr indent="-228600">
              <a:buFont typeface="The Hand Extrablack" panose="03070A02030502020204" pitchFamily="66" charset="0"/>
              <a:buChar char="•"/>
            </a:pPr>
            <a:endParaRPr lang="en-US" dirty="0"/>
          </a:p>
        </p:txBody>
      </p:sp>
      <p:sp useBgFill="1">
        <p:nvSpPr>
          <p:cNvPr id="17" name="Freeform: Shape 16">
            <a:extLst>
              <a:ext uri="{FF2B5EF4-FFF2-40B4-BE49-F238E27FC236}">
                <a16:creationId xmlns:a16="http://schemas.microsoft.com/office/drawing/2014/main" id="{97D0825D-5142-4F4A-A141-3CCD5E99C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5867335" y="533334"/>
            <a:ext cx="6858000" cy="5791331"/>
          </a:xfrm>
          <a:custGeom>
            <a:avLst/>
            <a:gdLst>
              <a:gd name="connsiteX0" fmla="*/ 6858000 w 6858000"/>
              <a:gd name="connsiteY0" fmla="*/ 14535 h 5791331"/>
              <a:gd name="connsiteX1" fmla="*/ 6858000 w 6858000"/>
              <a:gd name="connsiteY1" fmla="*/ 5791331 h 5791331"/>
              <a:gd name="connsiteX2" fmla="*/ 0 w 6858000"/>
              <a:gd name="connsiteY2" fmla="*/ 5791330 h 5791331"/>
              <a:gd name="connsiteX3" fmla="*/ 0 w 6858000"/>
              <a:gd name="connsiteY3" fmla="*/ 0 h 5791331"/>
              <a:gd name="connsiteX4" fmla="*/ 145832 w 6858000"/>
              <a:gd name="connsiteY4" fmla="*/ 1175 h 5791331"/>
              <a:gd name="connsiteX5" fmla="*/ 2611132 w 6858000"/>
              <a:gd name="connsiteY5" fmla="*/ 48625 h 5791331"/>
              <a:gd name="connsiteX6" fmla="*/ 6643031 w 6858000"/>
              <a:gd name="connsiteY6" fmla="*/ 15010 h 5791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0" h="5791331">
                <a:moveTo>
                  <a:pt x="6858000" y="14535"/>
                </a:moveTo>
                <a:lnTo>
                  <a:pt x="6858000" y="5791331"/>
                </a:lnTo>
                <a:lnTo>
                  <a:pt x="0" y="5791330"/>
                </a:lnTo>
                <a:lnTo>
                  <a:pt x="0" y="0"/>
                </a:lnTo>
                <a:lnTo>
                  <a:pt x="145832" y="1175"/>
                </a:lnTo>
                <a:cubicBezTo>
                  <a:pt x="886907" y="14750"/>
                  <a:pt x="2228596" y="125101"/>
                  <a:pt x="2611132" y="48625"/>
                </a:cubicBezTo>
                <a:cubicBezTo>
                  <a:pt x="2933352" y="-3056"/>
                  <a:pt x="5032814" y="16325"/>
                  <a:pt x="6643031" y="15010"/>
                </a:cubicBezTo>
                <a:close/>
              </a:path>
            </a:pathLst>
          </a:cu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pic>
        <p:nvPicPr>
          <p:cNvPr id="6" name="Picture Placeholder 5" descr="A screenshot of a computer&#10;&#10;AI-generated content may be incorrect.">
            <a:extLst>
              <a:ext uri="{FF2B5EF4-FFF2-40B4-BE49-F238E27FC236}">
                <a16:creationId xmlns:a16="http://schemas.microsoft.com/office/drawing/2014/main" id="{2DF8F27D-FCED-A557-D7E1-1D9E60D39E20}"/>
              </a:ext>
            </a:extLst>
          </p:cNvPr>
          <p:cNvPicPr>
            <a:picLocks noGrp="1" noChangeAspect="1"/>
          </p:cNvPicPr>
          <p:nvPr>
            <p:ph type="pic" idx="1"/>
          </p:nvPr>
        </p:nvPicPr>
        <p:blipFill>
          <a:blip r:embed="rId3"/>
          <a:srcRect t="1591" b="1591"/>
          <a:stretch/>
        </p:blipFill>
        <p:spPr>
          <a:xfrm>
            <a:off x="7176162" y="1159248"/>
            <a:ext cx="4284000" cy="4530841"/>
          </a:xfrm>
          <a:custGeom>
            <a:avLst/>
            <a:gdLst/>
            <a:ahLst/>
            <a:cxnLst/>
            <a:rect l="l" t="t" r="r" b="b"/>
            <a:pathLst>
              <a:path w="4284000" h="5409338">
                <a:moveTo>
                  <a:pt x="0" y="0"/>
                </a:moveTo>
                <a:lnTo>
                  <a:pt x="4284000" y="0"/>
                </a:lnTo>
                <a:lnTo>
                  <a:pt x="4284000" y="5409338"/>
                </a:lnTo>
                <a:lnTo>
                  <a:pt x="0" y="5409338"/>
                </a:lnTo>
                <a:close/>
              </a:path>
            </a:pathLst>
          </a:custGeom>
        </p:spPr>
      </p:pic>
    </p:spTree>
    <p:extLst>
      <p:ext uri="{BB962C8B-B14F-4D97-AF65-F5344CB8AC3E}">
        <p14:creationId xmlns:p14="http://schemas.microsoft.com/office/powerpoint/2010/main" val="2212893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9646535-AEF6-4883-A4F9-EEC1F8B43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2A3E2477-CB24-4FE6-B9C0-F9800FF83E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965638C-2268-4A1B-96C3-95E79EF44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29627C-FC3E-363C-1E82-DD025FF625A9}"/>
              </a:ext>
            </a:extLst>
          </p:cNvPr>
          <p:cNvSpPr>
            <a:spLocks noGrp="1"/>
          </p:cNvSpPr>
          <p:nvPr>
            <p:ph type="title"/>
          </p:nvPr>
        </p:nvSpPr>
        <p:spPr>
          <a:xfrm>
            <a:off x="720000" y="619200"/>
            <a:ext cx="4991961" cy="1477328"/>
          </a:xfrm>
        </p:spPr>
        <p:txBody>
          <a:bodyPr vert="horz" wrap="square" lIns="0" tIns="0" rIns="0" bIns="0" rtlCol="0" anchor="ctr" anchorCtr="0">
            <a:normAutofit/>
          </a:bodyPr>
          <a:lstStyle/>
          <a:p>
            <a:r>
              <a:rPr lang="en-US" sz="3200" dirty="0"/>
              <a:t>view</a:t>
            </a:r>
          </a:p>
        </p:txBody>
      </p:sp>
      <p:sp>
        <p:nvSpPr>
          <p:cNvPr id="4" name="Text Placeholder 3">
            <a:extLst>
              <a:ext uri="{FF2B5EF4-FFF2-40B4-BE49-F238E27FC236}">
                <a16:creationId xmlns:a16="http://schemas.microsoft.com/office/drawing/2014/main" id="{F9DEF59B-A545-B64B-3BB5-CCF0012461E1}"/>
              </a:ext>
            </a:extLst>
          </p:cNvPr>
          <p:cNvSpPr>
            <a:spLocks noGrp="1"/>
          </p:cNvSpPr>
          <p:nvPr>
            <p:ph type="body" sz="half" idx="2"/>
          </p:nvPr>
        </p:nvSpPr>
        <p:spPr>
          <a:xfrm>
            <a:off x="720000" y="2361460"/>
            <a:ext cx="4991962" cy="3396413"/>
          </a:xfrm>
        </p:spPr>
        <p:txBody>
          <a:bodyPr vert="horz" lIns="0" tIns="0" rIns="0" bIns="0" rtlCol="0">
            <a:normAutofit fontScale="92500" lnSpcReduction="20000"/>
          </a:bodyPr>
          <a:lstStyle/>
          <a:p>
            <a:r>
              <a:rPr lang="en-US" sz="1500" dirty="0"/>
              <a:t>In ASP.NET Core MVC, views are .</a:t>
            </a:r>
            <a:r>
              <a:rPr lang="en-US" sz="1500" dirty="0" err="1"/>
              <a:t>cshtml</a:t>
            </a:r>
            <a:r>
              <a:rPr lang="en-US" sz="1500" dirty="0"/>
              <a:t> files that use the C# programming language in Razor markup. Usually, view files are grouped into folders named for each of the app's controllers. The folders are stored in a Views folder at the root of the app:</a:t>
            </a:r>
          </a:p>
          <a:p>
            <a:endParaRPr lang="en-US" sz="1500" dirty="0"/>
          </a:p>
          <a:p>
            <a:r>
              <a:rPr lang="en-US" sz="1500" dirty="0"/>
              <a:t>The Home controller is represented by a Home folder inside the Views folder. The Home folder contains the views for the Privacy and Index (homepage) webpages. </a:t>
            </a:r>
          </a:p>
          <a:p>
            <a:r>
              <a:rPr lang="en-US" sz="1500" dirty="0"/>
              <a:t>When a user requests one of these tow web pages, controller actions in the Home controller determine which of the three views is used to build and return a webpage to the user.</a:t>
            </a:r>
          </a:p>
          <a:p>
            <a:pPr indent="-228600">
              <a:lnSpc>
                <a:spcPct val="110000"/>
              </a:lnSpc>
              <a:buFont typeface="The Hand Extrablack" panose="03070A02030502020204" pitchFamily="66" charset="0"/>
              <a:buChar char="•"/>
            </a:pPr>
            <a:endParaRPr lang="en-US" sz="1300" dirty="0"/>
          </a:p>
        </p:txBody>
      </p:sp>
      <p:sp useBgFill="1">
        <p:nvSpPr>
          <p:cNvPr id="17" name="Freeform: Shape 16">
            <a:extLst>
              <a:ext uri="{FF2B5EF4-FFF2-40B4-BE49-F238E27FC236}">
                <a16:creationId xmlns:a16="http://schemas.microsoft.com/office/drawing/2014/main" id="{97D0825D-5142-4F4A-A141-3CCD5E99C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5867335" y="533334"/>
            <a:ext cx="6858000" cy="5791331"/>
          </a:xfrm>
          <a:custGeom>
            <a:avLst/>
            <a:gdLst>
              <a:gd name="connsiteX0" fmla="*/ 6858000 w 6858000"/>
              <a:gd name="connsiteY0" fmla="*/ 14535 h 5791331"/>
              <a:gd name="connsiteX1" fmla="*/ 6858000 w 6858000"/>
              <a:gd name="connsiteY1" fmla="*/ 5791331 h 5791331"/>
              <a:gd name="connsiteX2" fmla="*/ 0 w 6858000"/>
              <a:gd name="connsiteY2" fmla="*/ 5791330 h 5791331"/>
              <a:gd name="connsiteX3" fmla="*/ 0 w 6858000"/>
              <a:gd name="connsiteY3" fmla="*/ 0 h 5791331"/>
              <a:gd name="connsiteX4" fmla="*/ 145832 w 6858000"/>
              <a:gd name="connsiteY4" fmla="*/ 1175 h 5791331"/>
              <a:gd name="connsiteX5" fmla="*/ 2611132 w 6858000"/>
              <a:gd name="connsiteY5" fmla="*/ 48625 h 5791331"/>
              <a:gd name="connsiteX6" fmla="*/ 6643031 w 6858000"/>
              <a:gd name="connsiteY6" fmla="*/ 15010 h 5791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0" h="5791331">
                <a:moveTo>
                  <a:pt x="6858000" y="14535"/>
                </a:moveTo>
                <a:lnTo>
                  <a:pt x="6858000" y="5791331"/>
                </a:lnTo>
                <a:lnTo>
                  <a:pt x="0" y="5791330"/>
                </a:lnTo>
                <a:lnTo>
                  <a:pt x="0" y="0"/>
                </a:lnTo>
                <a:lnTo>
                  <a:pt x="145832" y="1175"/>
                </a:lnTo>
                <a:cubicBezTo>
                  <a:pt x="886907" y="14750"/>
                  <a:pt x="2228596" y="125101"/>
                  <a:pt x="2611132" y="48625"/>
                </a:cubicBezTo>
                <a:cubicBezTo>
                  <a:pt x="2933352" y="-3056"/>
                  <a:pt x="5032814" y="16325"/>
                  <a:pt x="6643031" y="15010"/>
                </a:cubicBezTo>
                <a:close/>
              </a:path>
            </a:pathLst>
          </a:cu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pic>
        <p:nvPicPr>
          <p:cNvPr id="6" name="Content Placeholder 5" descr="A screenshot of a computer&#10;&#10;AI-generated content may be incorrect.">
            <a:extLst>
              <a:ext uri="{FF2B5EF4-FFF2-40B4-BE49-F238E27FC236}">
                <a16:creationId xmlns:a16="http://schemas.microsoft.com/office/drawing/2014/main" id="{6914382E-FAA8-E82A-DE23-D1655640F069}"/>
              </a:ext>
            </a:extLst>
          </p:cNvPr>
          <p:cNvPicPr>
            <a:picLocks noGrp="1" noChangeAspect="1"/>
          </p:cNvPicPr>
          <p:nvPr>
            <p:ph idx="1"/>
          </p:nvPr>
        </p:nvPicPr>
        <p:blipFill>
          <a:blip r:embed="rId2"/>
          <a:stretch>
            <a:fillRect/>
          </a:stretch>
        </p:blipFill>
        <p:spPr>
          <a:xfrm>
            <a:off x="7343753" y="720000"/>
            <a:ext cx="3948817" cy="5409338"/>
          </a:xfrm>
          <a:custGeom>
            <a:avLst/>
            <a:gdLst/>
            <a:ahLst/>
            <a:cxnLst/>
            <a:rect l="l" t="t" r="r" b="b"/>
            <a:pathLst>
              <a:path w="4284000" h="5409338">
                <a:moveTo>
                  <a:pt x="0" y="0"/>
                </a:moveTo>
                <a:lnTo>
                  <a:pt x="4284000" y="0"/>
                </a:lnTo>
                <a:lnTo>
                  <a:pt x="4284000" y="5409338"/>
                </a:lnTo>
                <a:lnTo>
                  <a:pt x="0" y="5409338"/>
                </a:lnTo>
                <a:close/>
              </a:path>
            </a:pathLst>
          </a:custGeom>
        </p:spPr>
      </p:pic>
    </p:spTree>
    <p:extLst>
      <p:ext uri="{BB962C8B-B14F-4D97-AF65-F5344CB8AC3E}">
        <p14:creationId xmlns:p14="http://schemas.microsoft.com/office/powerpoint/2010/main" val="2859567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B84255A-1731-37BC-F99B-C8198470D279}"/>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09646535-AEF6-4883-A4F9-EEC1F8B43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2A3E2477-CB24-4FE6-B9C0-F9800FF83E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965638C-2268-4A1B-96C3-95E79EF44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343917-0CEE-2B7C-24E4-F4FC9876664C}"/>
              </a:ext>
            </a:extLst>
          </p:cNvPr>
          <p:cNvSpPr>
            <a:spLocks noGrp="1"/>
          </p:cNvSpPr>
          <p:nvPr>
            <p:ph type="title"/>
          </p:nvPr>
        </p:nvSpPr>
        <p:spPr>
          <a:xfrm>
            <a:off x="720000" y="619200"/>
            <a:ext cx="4991961" cy="1477328"/>
          </a:xfrm>
        </p:spPr>
        <p:txBody>
          <a:bodyPr vert="horz" wrap="square" lIns="0" tIns="0" rIns="0" bIns="0" rtlCol="0" anchor="ctr" anchorCtr="0">
            <a:normAutofit/>
          </a:bodyPr>
          <a:lstStyle/>
          <a:p>
            <a:r>
              <a:rPr lang="en-US" sz="3200" dirty="0"/>
              <a:t>model</a:t>
            </a:r>
          </a:p>
        </p:txBody>
      </p:sp>
      <p:sp>
        <p:nvSpPr>
          <p:cNvPr id="4" name="Text Placeholder 3">
            <a:extLst>
              <a:ext uri="{FF2B5EF4-FFF2-40B4-BE49-F238E27FC236}">
                <a16:creationId xmlns:a16="http://schemas.microsoft.com/office/drawing/2014/main" id="{3507DA39-E971-010E-D990-A6AEAA2D7274}"/>
              </a:ext>
            </a:extLst>
          </p:cNvPr>
          <p:cNvSpPr>
            <a:spLocks noGrp="1"/>
          </p:cNvSpPr>
          <p:nvPr>
            <p:ph type="body" sz="half" idx="2"/>
          </p:nvPr>
        </p:nvSpPr>
        <p:spPr>
          <a:xfrm>
            <a:off x="720000" y="2541600"/>
            <a:ext cx="4991962" cy="3216273"/>
          </a:xfrm>
        </p:spPr>
        <p:txBody>
          <a:bodyPr vert="horz" lIns="0" tIns="0" rIns="0" bIns="0" rtlCol="0">
            <a:normAutofit/>
          </a:bodyPr>
          <a:lstStyle/>
          <a:p>
            <a:pPr indent="-228600">
              <a:lnSpc>
                <a:spcPct val="110000"/>
              </a:lnSpc>
              <a:buFont typeface="The Hand Extrablack" panose="03070A02030502020204" pitchFamily="66" charset="0"/>
              <a:buChar char="•"/>
            </a:pPr>
            <a:r>
              <a:rPr lang="en-US" sz="1400" dirty="0"/>
              <a:t>These model classes are used with </a:t>
            </a:r>
            <a:r>
              <a:rPr lang="en-US" sz="1400" dirty="0">
                <a:solidFill>
                  <a:srgbClr val="C00000">
                    <a:alpha val="58000"/>
                  </a:srgbClr>
                </a:solidFill>
                <a:hlinkClick r:id="rId2">
                  <a:extLst>
                    <a:ext uri="{A12FA001-AC4F-418D-AE19-62706E023703}">
                      <ahyp:hlinkClr xmlns:ahyp="http://schemas.microsoft.com/office/drawing/2018/hyperlinkcolor" val="tx"/>
                    </a:ext>
                  </a:extLst>
                </a:hlinkClick>
              </a:rPr>
              <a:t>Entity Framework Core</a:t>
            </a:r>
            <a:r>
              <a:rPr lang="en-US" sz="1400" dirty="0">
                <a:solidFill>
                  <a:srgbClr val="C00000">
                    <a:alpha val="58000"/>
                  </a:srgbClr>
                </a:solidFill>
              </a:rPr>
              <a:t> </a:t>
            </a:r>
            <a:r>
              <a:rPr lang="en-US" sz="1400" dirty="0"/>
              <a:t>(EF Core) to work with a database. EF Core is an object-relational mapping (ORM) framework that simplifies the data access code that you have to write.</a:t>
            </a:r>
          </a:p>
          <a:p>
            <a:pPr indent="-228600">
              <a:lnSpc>
                <a:spcPct val="110000"/>
              </a:lnSpc>
              <a:buFont typeface="The Hand Extrablack" panose="03070A02030502020204" pitchFamily="66" charset="0"/>
              <a:buChar char="•"/>
            </a:pPr>
            <a:r>
              <a:rPr lang="en-US" sz="1400" dirty="0"/>
              <a:t>The model classes created are  POCO classes, from Plain Old CLR Objects. POCO classes don't have any dependency on EF Core. They only define the properties of the data to be stored in the database.</a:t>
            </a:r>
          </a:p>
          <a:p>
            <a:pPr indent="-228600">
              <a:lnSpc>
                <a:spcPct val="110000"/>
              </a:lnSpc>
              <a:buFont typeface="The Hand Extrablack" panose="03070A02030502020204" pitchFamily="66" charset="0"/>
              <a:buChar char="•"/>
            </a:pPr>
            <a:r>
              <a:rPr lang="en-US" sz="1400" dirty="0"/>
              <a:t>In this tutorial, model classes are created first, and EF Core creates the database.</a:t>
            </a:r>
          </a:p>
          <a:p>
            <a:pPr indent="-228600">
              <a:lnSpc>
                <a:spcPct val="110000"/>
              </a:lnSpc>
              <a:buFont typeface="The Hand Extrablack" panose="03070A02030502020204" pitchFamily="66" charset="0"/>
              <a:buChar char="•"/>
            </a:pPr>
            <a:endParaRPr lang="en-US" sz="1400" dirty="0"/>
          </a:p>
        </p:txBody>
      </p:sp>
      <p:sp useBgFill="1">
        <p:nvSpPr>
          <p:cNvPr id="19" name="Freeform: Shape 18">
            <a:extLst>
              <a:ext uri="{FF2B5EF4-FFF2-40B4-BE49-F238E27FC236}">
                <a16:creationId xmlns:a16="http://schemas.microsoft.com/office/drawing/2014/main" id="{97D0825D-5142-4F4A-A141-3CCD5E99C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5867335" y="533334"/>
            <a:ext cx="6858000" cy="5791331"/>
          </a:xfrm>
          <a:custGeom>
            <a:avLst/>
            <a:gdLst>
              <a:gd name="connsiteX0" fmla="*/ 6858000 w 6858000"/>
              <a:gd name="connsiteY0" fmla="*/ 14535 h 5791331"/>
              <a:gd name="connsiteX1" fmla="*/ 6858000 w 6858000"/>
              <a:gd name="connsiteY1" fmla="*/ 5791331 h 5791331"/>
              <a:gd name="connsiteX2" fmla="*/ 0 w 6858000"/>
              <a:gd name="connsiteY2" fmla="*/ 5791330 h 5791331"/>
              <a:gd name="connsiteX3" fmla="*/ 0 w 6858000"/>
              <a:gd name="connsiteY3" fmla="*/ 0 h 5791331"/>
              <a:gd name="connsiteX4" fmla="*/ 145832 w 6858000"/>
              <a:gd name="connsiteY4" fmla="*/ 1175 h 5791331"/>
              <a:gd name="connsiteX5" fmla="*/ 2611132 w 6858000"/>
              <a:gd name="connsiteY5" fmla="*/ 48625 h 5791331"/>
              <a:gd name="connsiteX6" fmla="*/ 6643031 w 6858000"/>
              <a:gd name="connsiteY6" fmla="*/ 15010 h 5791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0" h="5791331">
                <a:moveTo>
                  <a:pt x="6858000" y="14535"/>
                </a:moveTo>
                <a:lnTo>
                  <a:pt x="6858000" y="5791331"/>
                </a:lnTo>
                <a:lnTo>
                  <a:pt x="0" y="5791330"/>
                </a:lnTo>
                <a:lnTo>
                  <a:pt x="0" y="0"/>
                </a:lnTo>
                <a:lnTo>
                  <a:pt x="145832" y="1175"/>
                </a:lnTo>
                <a:cubicBezTo>
                  <a:pt x="886907" y="14750"/>
                  <a:pt x="2228596" y="125101"/>
                  <a:pt x="2611132" y="48625"/>
                </a:cubicBezTo>
                <a:cubicBezTo>
                  <a:pt x="2933352" y="-3056"/>
                  <a:pt x="5032814" y="16325"/>
                  <a:pt x="6643031" y="15010"/>
                </a:cubicBezTo>
                <a:close/>
              </a:path>
            </a:pathLst>
          </a:cu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pic>
        <p:nvPicPr>
          <p:cNvPr id="8" name="Content Placeholder 7" descr="A screenshot of a computer&#10;&#10;AI-generated content may be incorrect.">
            <a:extLst>
              <a:ext uri="{FF2B5EF4-FFF2-40B4-BE49-F238E27FC236}">
                <a16:creationId xmlns:a16="http://schemas.microsoft.com/office/drawing/2014/main" id="{5D0804C8-C6BF-22C0-F8A0-3706DAF28E69}"/>
              </a:ext>
            </a:extLst>
          </p:cNvPr>
          <p:cNvPicPr>
            <a:picLocks noGrp="1" noChangeAspect="1"/>
          </p:cNvPicPr>
          <p:nvPr>
            <p:ph idx="1"/>
          </p:nvPr>
        </p:nvPicPr>
        <p:blipFill>
          <a:blip r:embed="rId3"/>
          <a:stretch>
            <a:fillRect/>
          </a:stretch>
        </p:blipFill>
        <p:spPr>
          <a:xfrm>
            <a:off x="7176162" y="1077272"/>
            <a:ext cx="4284000" cy="4694794"/>
          </a:xfrm>
          <a:custGeom>
            <a:avLst/>
            <a:gdLst/>
            <a:ahLst/>
            <a:cxnLst/>
            <a:rect l="l" t="t" r="r" b="b"/>
            <a:pathLst>
              <a:path w="4284000" h="5409338">
                <a:moveTo>
                  <a:pt x="0" y="0"/>
                </a:moveTo>
                <a:lnTo>
                  <a:pt x="4284000" y="0"/>
                </a:lnTo>
                <a:lnTo>
                  <a:pt x="4284000" y="5409338"/>
                </a:lnTo>
                <a:lnTo>
                  <a:pt x="0" y="5409338"/>
                </a:lnTo>
                <a:close/>
              </a:path>
            </a:pathLst>
          </a:custGeom>
        </p:spPr>
      </p:pic>
    </p:spTree>
    <p:extLst>
      <p:ext uri="{BB962C8B-B14F-4D97-AF65-F5344CB8AC3E}">
        <p14:creationId xmlns:p14="http://schemas.microsoft.com/office/powerpoint/2010/main" val="23444258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D1FAE-93B9-E690-2AB5-076AD61DDB8A}"/>
              </a:ext>
            </a:extLst>
          </p:cNvPr>
          <p:cNvSpPr>
            <a:spLocks noGrp="1"/>
          </p:cNvSpPr>
          <p:nvPr>
            <p:ph type="title"/>
          </p:nvPr>
        </p:nvSpPr>
        <p:spPr/>
        <p:txBody>
          <a:bodyPr/>
          <a:lstStyle/>
          <a:p>
            <a:r>
              <a:rPr lang="en-US" dirty="0"/>
              <a:t>Controller</a:t>
            </a:r>
          </a:p>
        </p:txBody>
      </p:sp>
      <p:sp>
        <p:nvSpPr>
          <p:cNvPr id="3" name="Content Placeholder 2">
            <a:extLst>
              <a:ext uri="{FF2B5EF4-FFF2-40B4-BE49-F238E27FC236}">
                <a16:creationId xmlns:a16="http://schemas.microsoft.com/office/drawing/2014/main" id="{7FC293F2-DFD6-6414-277B-E9AB82DDB8C1}"/>
              </a:ext>
            </a:extLst>
          </p:cNvPr>
          <p:cNvSpPr>
            <a:spLocks noGrp="1"/>
          </p:cNvSpPr>
          <p:nvPr>
            <p:ph idx="1"/>
          </p:nvPr>
        </p:nvSpPr>
        <p:spPr/>
        <p:txBody>
          <a:bodyPr/>
          <a:lstStyle/>
          <a:p>
            <a:pPr algn="l">
              <a:buFont typeface="Arial" panose="020B0604020202020204" pitchFamily="34" charset="0"/>
              <a:buChar char="•"/>
            </a:pPr>
            <a:r>
              <a:rPr lang="en-US" sz="3200" b="1" i="0" dirty="0">
                <a:solidFill>
                  <a:schemeClr val="tx1">
                    <a:lumMod val="85000"/>
                  </a:schemeClr>
                </a:solidFill>
                <a:effectLst/>
                <a:latin typeface="Segoe UI" panose="020B0502040204020203" pitchFamily="34" charset="0"/>
              </a:rPr>
              <a:t>C</a:t>
            </a:r>
            <a:r>
              <a:rPr lang="en-US" sz="3200" b="0" i="0" dirty="0">
                <a:solidFill>
                  <a:schemeClr val="tx1">
                    <a:lumMod val="85000"/>
                  </a:schemeClr>
                </a:solidFill>
                <a:effectLst/>
                <a:latin typeface="Segoe UI" panose="020B0502040204020203" pitchFamily="34" charset="0"/>
              </a:rPr>
              <a:t>ontrollers: Classes that:</a:t>
            </a:r>
          </a:p>
          <a:p>
            <a:pPr marL="971550" lvl="1" indent="-514350" algn="l">
              <a:buFont typeface="+mj-lt"/>
              <a:buAutoNum type="arabicParenR"/>
            </a:pPr>
            <a:r>
              <a:rPr lang="en-US" sz="2800" b="0" i="0" dirty="0">
                <a:solidFill>
                  <a:schemeClr val="tx1">
                    <a:lumMod val="85000"/>
                  </a:schemeClr>
                </a:solidFill>
                <a:effectLst/>
                <a:latin typeface="Segoe UI" panose="020B0502040204020203" pitchFamily="34" charset="0"/>
              </a:rPr>
              <a:t>Handle browser requests.</a:t>
            </a:r>
          </a:p>
          <a:p>
            <a:pPr marL="971550" lvl="1" indent="-514350" algn="l">
              <a:buFont typeface="+mj-lt"/>
              <a:buAutoNum type="arabicParenR"/>
            </a:pPr>
            <a:r>
              <a:rPr lang="en-US" sz="2800" b="0" i="0" dirty="0">
                <a:solidFill>
                  <a:schemeClr val="tx1">
                    <a:lumMod val="85000"/>
                  </a:schemeClr>
                </a:solidFill>
                <a:effectLst/>
                <a:latin typeface="Segoe UI" panose="020B0502040204020203" pitchFamily="34" charset="0"/>
              </a:rPr>
              <a:t>Retrieve model data.</a:t>
            </a:r>
          </a:p>
          <a:p>
            <a:pPr marL="971550" lvl="1" indent="-514350" algn="l">
              <a:buFont typeface="+mj-lt"/>
              <a:buAutoNum type="arabicParenR"/>
            </a:pPr>
            <a:r>
              <a:rPr lang="en-US" sz="2800" b="0" i="0" dirty="0">
                <a:solidFill>
                  <a:schemeClr val="tx1">
                    <a:lumMod val="85000"/>
                  </a:schemeClr>
                </a:solidFill>
                <a:effectLst/>
                <a:latin typeface="Segoe UI" panose="020B0502040204020203" pitchFamily="34" charset="0"/>
              </a:rPr>
              <a:t>Call view templates that return a response.</a:t>
            </a:r>
          </a:p>
          <a:p>
            <a:endParaRPr lang="en-US" dirty="0"/>
          </a:p>
        </p:txBody>
      </p:sp>
    </p:spTree>
    <p:extLst>
      <p:ext uri="{BB962C8B-B14F-4D97-AF65-F5344CB8AC3E}">
        <p14:creationId xmlns:p14="http://schemas.microsoft.com/office/powerpoint/2010/main" val="3089353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9646535-AEF6-4883-A4F9-EEC1F8B43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2A3E2477-CB24-4FE6-B9C0-F9800FF83E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965638C-2268-4A1B-96C3-95E79EF44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742F89-3696-E1DF-B91E-82F20D8445BE}"/>
              </a:ext>
            </a:extLst>
          </p:cNvPr>
          <p:cNvSpPr>
            <a:spLocks noGrp="1"/>
          </p:cNvSpPr>
          <p:nvPr>
            <p:ph type="title"/>
          </p:nvPr>
        </p:nvSpPr>
        <p:spPr>
          <a:xfrm>
            <a:off x="720000" y="619200"/>
            <a:ext cx="4991961" cy="1477328"/>
          </a:xfrm>
        </p:spPr>
        <p:txBody>
          <a:bodyPr vert="horz" wrap="square" lIns="0" tIns="0" rIns="0" bIns="0" rtlCol="0" anchor="ctr" anchorCtr="0">
            <a:normAutofit/>
          </a:bodyPr>
          <a:lstStyle/>
          <a:p>
            <a:pPr>
              <a:lnSpc>
                <a:spcPct val="100000"/>
              </a:lnSpc>
            </a:pPr>
            <a:br>
              <a:rPr lang="en-US" sz="3200"/>
            </a:br>
            <a:r>
              <a:rPr lang="en-US" sz="3200"/>
              <a:t>Controller</a:t>
            </a:r>
          </a:p>
        </p:txBody>
      </p:sp>
      <p:sp>
        <p:nvSpPr>
          <p:cNvPr id="4" name="Text Placeholder 3">
            <a:extLst>
              <a:ext uri="{FF2B5EF4-FFF2-40B4-BE49-F238E27FC236}">
                <a16:creationId xmlns:a16="http://schemas.microsoft.com/office/drawing/2014/main" id="{B748439C-B5D0-9CE2-3019-A800B9FCC063}"/>
              </a:ext>
            </a:extLst>
          </p:cNvPr>
          <p:cNvSpPr>
            <a:spLocks noGrp="1"/>
          </p:cNvSpPr>
          <p:nvPr>
            <p:ph type="body" sz="half" idx="2"/>
          </p:nvPr>
        </p:nvSpPr>
        <p:spPr>
          <a:xfrm>
            <a:off x="720000" y="2541600"/>
            <a:ext cx="4991962" cy="3216273"/>
          </a:xfrm>
        </p:spPr>
        <p:txBody>
          <a:bodyPr vert="horz" lIns="0" tIns="0" rIns="0" bIns="0" rtlCol="0">
            <a:normAutofit/>
          </a:bodyPr>
          <a:lstStyle/>
          <a:p>
            <a:pPr marL="228600" marR="0" lvl="0" indent="-228600" fontAlgn="auto">
              <a:lnSpc>
                <a:spcPct val="110000"/>
              </a:lnSpc>
              <a:spcBef>
                <a:spcPts val="1000"/>
              </a:spcBef>
              <a:spcAft>
                <a:spcPts val="0"/>
              </a:spcAft>
              <a:buSzTx/>
              <a:buFont typeface="The Hand Extrablack" panose="03070A02030502020204" pitchFamily="66" charset="0"/>
              <a:buChar char="•"/>
              <a:tabLst/>
              <a:defRPr/>
            </a:pPr>
            <a:r>
              <a:rPr kumimoji="0" lang="en-US" sz="1600" b="0" i="0" u="none" strike="noStrike" cap="none" normalizeH="0" noProof="0" dirty="0">
                <a:ln>
                  <a:noFill/>
                </a:ln>
                <a:effectLst/>
                <a:uLnTx/>
                <a:uFillTx/>
              </a:rPr>
              <a:t>In an MVC app, the view only displays information. The controller handles and responds to user input and interaction. For example, the controller handles URL segments and query-string values and passes these values to the model. The model might use these values to query the database. For example:</a:t>
            </a:r>
          </a:p>
          <a:p>
            <a:pPr marL="228600" marR="0" lvl="0" indent="-228600" fontAlgn="auto">
              <a:lnSpc>
                <a:spcPct val="110000"/>
              </a:lnSpc>
              <a:spcBef>
                <a:spcPts val="1000"/>
              </a:spcBef>
              <a:spcAft>
                <a:spcPts val="0"/>
              </a:spcAft>
              <a:buSzTx/>
              <a:buFont typeface="The Hand Extrablack" panose="03070A02030502020204" pitchFamily="66" charset="0"/>
              <a:buChar char="•"/>
              <a:tabLst/>
              <a:defRPr/>
            </a:pPr>
            <a:r>
              <a:rPr kumimoji="0" lang="en-US" sz="1600" b="0" i="0" u="none" strike="noStrike" cap="none" normalizeH="0" noProof="0" dirty="0">
                <a:ln>
                  <a:noFill/>
                </a:ln>
                <a:effectLst/>
                <a:uLnTx/>
                <a:uFillTx/>
              </a:rPr>
              <a:t>https://localhost:7263/Home/Privacy: specifies the Home controller and the Privacy action.</a:t>
            </a:r>
          </a:p>
          <a:p>
            <a:pPr indent="-228600">
              <a:lnSpc>
                <a:spcPct val="110000"/>
              </a:lnSpc>
              <a:buFont typeface="The Hand Extrablack" panose="03070A02030502020204" pitchFamily="66" charset="0"/>
              <a:buChar char="•"/>
            </a:pPr>
            <a:endParaRPr lang="en-US" sz="1600" dirty="0"/>
          </a:p>
        </p:txBody>
      </p:sp>
      <p:sp useBgFill="1">
        <p:nvSpPr>
          <p:cNvPr id="17" name="Freeform: Shape 16">
            <a:extLst>
              <a:ext uri="{FF2B5EF4-FFF2-40B4-BE49-F238E27FC236}">
                <a16:creationId xmlns:a16="http://schemas.microsoft.com/office/drawing/2014/main" id="{97D0825D-5142-4F4A-A141-3CCD5E99C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5867335" y="533334"/>
            <a:ext cx="6858000" cy="5791331"/>
          </a:xfrm>
          <a:custGeom>
            <a:avLst/>
            <a:gdLst>
              <a:gd name="connsiteX0" fmla="*/ 6858000 w 6858000"/>
              <a:gd name="connsiteY0" fmla="*/ 14535 h 5791331"/>
              <a:gd name="connsiteX1" fmla="*/ 6858000 w 6858000"/>
              <a:gd name="connsiteY1" fmla="*/ 5791331 h 5791331"/>
              <a:gd name="connsiteX2" fmla="*/ 0 w 6858000"/>
              <a:gd name="connsiteY2" fmla="*/ 5791330 h 5791331"/>
              <a:gd name="connsiteX3" fmla="*/ 0 w 6858000"/>
              <a:gd name="connsiteY3" fmla="*/ 0 h 5791331"/>
              <a:gd name="connsiteX4" fmla="*/ 145832 w 6858000"/>
              <a:gd name="connsiteY4" fmla="*/ 1175 h 5791331"/>
              <a:gd name="connsiteX5" fmla="*/ 2611132 w 6858000"/>
              <a:gd name="connsiteY5" fmla="*/ 48625 h 5791331"/>
              <a:gd name="connsiteX6" fmla="*/ 6643031 w 6858000"/>
              <a:gd name="connsiteY6" fmla="*/ 15010 h 5791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0" h="5791331">
                <a:moveTo>
                  <a:pt x="6858000" y="14535"/>
                </a:moveTo>
                <a:lnTo>
                  <a:pt x="6858000" y="5791331"/>
                </a:lnTo>
                <a:lnTo>
                  <a:pt x="0" y="5791330"/>
                </a:lnTo>
                <a:lnTo>
                  <a:pt x="0" y="0"/>
                </a:lnTo>
                <a:lnTo>
                  <a:pt x="145832" y="1175"/>
                </a:lnTo>
                <a:cubicBezTo>
                  <a:pt x="886907" y="14750"/>
                  <a:pt x="2228596" y="125101"/>
                  <a:pt x="2611132" y="48625"/>
                </a:cubicBezTo>
                <a:cubicBezTo>
                  <a:pt x="2933352" y="-3056"/>
                  <a:pt x="5032814" y="16325"/>
                  <a:pt x="6643031" y="15010"/>
                </a:cubicBezTo>
                <a:close/>
              </a:path>
            </a:pathLst>
          </a:cu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pic>
        <p:nvPicPr>
          <p:cNvPr id="6" name="Picture Placeholder 5" descr="A screenshot of a computer&#10;&#10;AI-generated content may be incorrect.">
            <a:extLst>
              <a:ext uri="{FF2B5EF4-FFF2-40B4-BE49-F238E27FC236}">
                <a16:creationId xmlns:a16="http://schemas.microsoft.com/office/drawing/2014/main" id="{8124A507-C2DD-C582-A02D-AD0A16E9A1F4}"/>
              </a:ext>
            </a:extLst>
          </p:cNvPr>
          <p:cNvPicPr>
            <a:picLocks noGrp="1" noChangeAspect="1"/>
          </p:cNvPicPr>
          <p:nvPr>
            <p:ph type="pic" idx="1"/>
          </p:nvPr>
        </p:nvPicPr>
        <p:blipFill>
          <a:blip r:embed="rId2"/>
          <a:srcRect t="22507" b="22507"/>
          <a:stretch/>
        </p:blipFill>
        <p:spPr>
          <a:xfrm>
            <a:off x="7176162" y="1865175"/>
            <a:ext cx="4284000" cy="3118988"/>
          </a:xfrm>
          <a:custGeom>
            <a:avLst/>
            <a:gdLst/>
            <a:ahLst/>
            <a:cxnLst/>
            <a:rect l="l" t="t" r="r" b="b"/>
            <a:pathLst>
              <a:path w="4284000" h="5409338">
                <a:moveTo>
                  <a:pt x="0" y="0"/>
                </a:moveTo>
                <a:lnTo>
                  <a:pt x="4284000" y="0"/>
                </a:lnTo>
                <a:lnTo>
                  <a:pt x="4284000" y="5409338"/>
                </a:lnTo>
                <a:lnTo>
                  <a:pt x="0" y="5409338"/>
                </a:lnTo>
                <a:close/>
              </a:path>
            </a:pathLst>
          </a:custGeom>
        </p:spPr>
      </p:pic>
    </p:spTree>
    <p:extLst>
      <p:ext uri="{BB962C8B-B14F-4D97-AF65-F5344CB8AC3E}">
        <p14:creationId xmlns:p14="http://schemas.microsoft.com/office/powerpoint/2010/main" val="26052559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7895C-9F3B-6D6B-BFF9-8D088FCFF070}"/>
              </a:ext>
            </a:extLst>
          </p:cNvPr>
          <p:cNvSpPr>
            <a:spLocks noGrp="1"/>
          </p:cNvSpPr>
          <p:nvPr>
            <p:ph type="title"/>
          </p:nvPr>
        </p:nvSpPr>
        <p:spPr/>
        <p:txBody>
          <a:bodyPr/>
          <a:lstStyle/>
          <a:p>
            <a:r>
              <a:rPr lang="en-US" dirty="0" err="1"/>
              <a:t>wwwroot</a:t>
            </a:r>
            <a:r>
              <a:rPr lang="en-US" dirty="0"/>
              <a:t> folder</a:t>
            </a:r>
          </a:p>
        </p:txBody>
      </p:sp>
      <p:sp>
        <p:nvSpPr>
          <p:cNvPr id="3" name="Content Placeholder 2">
            <a:extLst>
              <a:ext uri="{FF2B5EF4-FFF2-40B4-BE49-F238E27FC236}">
                <a16:creationId xmlns:a16="http://schemas.microsoft.com/office/drawing/2014/main" id="{D2AD9B25-BC45-671E-5764-B6F32362C670}"/>
              </a:ext>
            </a:extLst>
          </p:cNvPr>
          <p:cNvSpPr>
            <a:spLocks noGrp="1"/>
          </p:cNvSpPr>
          <p:nvPr>
            <p:ph idx="1"/>
          </p:nvPr>
        </p:nvSpPr>
        <p:spPr/>
        <p:txBody>
          <a:bodyPr>
            <a:normAutofit lnSpcReduction="10000"/>
          </a:bodyPr>
          <a:lstStyle/>
          <a:p>
            <a:r>
              <a:rPr lang="en-US" dirty="0">
                <a:solidFill>
                  <a:srgbClr val="FFC000">
                    <a:alpha val="58000"/>
                  </a:srgbClr>
                </a:solidFill>
              </a:rPr>
              <a:t>Static files</a:t>
            </a:r>
            <a:r>
              <a:rPr lang="en-US" dirty="0"/>
              <a:t>, such as HTML, CSS, images, and JavaScript, are assets an ASP.NET Core app serves directly to clients by default.</a:t>
            </a:r>
          </a:p>
          <a:p>
            <a:r>
              <a:rPr lang="en-US" dirty="0"/>
              <a:t>Static files are accessible via a path relative to the web root. For example, the Web Application project templates contain several folders within the </a:t>
            </a:r>
            <a:r>
              <a:rPr lang="en-US" dirty="0" err="1"/>
              <a:t>wwwroot</a:t>
            </a:r>
            <a:r>
              <a:rPr lang="en-US" dirty="0"/>
              <a:t> folder:</a:t>
            </a:r>
          </a:p>
          <a:p>
            <a:pPr>
              <a:buFont typeface="Wingdings" panose="05000000000000000000" pitchFamily="2" charset="2"/>
              <a:buChar char="Ø"/>
            </a:pPr>
            <a:r>
              <a:rPr lang="en-US" dirty="0" err="1"/>
              <a:t>wwwroot</a:t>
            </a:r>
            <a:endParaRPr lang="en-US" dirty="0"/>
          </a:p>
          <a:p>
            <a:pPr lvl="1">
              <a:buFont typeface="Wingdings" panose="05000000000000000000" pitchFamily="2" charset="2"/>
              <a:buChar char="§"/>
            </a:pPr>
            <a:r>
              <a:rPr lang="en-US" dirty="0" err="1"/>
              <a:t>css</a:t>
            </a:r>
            <a:endParaRPr lang="en-US" dirty="0"/>
          </a:p>
          <a:p>
            <a:pPr lvl="1">
              <a:buFont typeface="Wingdings" panose="05000000000000000000" pitchFamily="2" charset="2"/>
              <a:buChar char="§"/>
            </a:pPr>
            <a:r>
              <a:rPr lang="en-US" dirty="0" err="1"/>
              <a:t>js</a:t>
            </a:r>
            <a:endParaRPr lang="en-US" dirty="0"/>
          </a:p>
          <a:p>
            <a:pPr lvl="1">
              <a:buFont typeface="Wingdings" panose="05000000000000000000" pitchFamily="2" charset="2"/>
              <a:buChar char="§"/>
            </a:pPr>
            <a:r>
              <a:rPr lang="en-US" dirty="0">
                <a:solidFill>
                  <a:srgbClr val="FFFF00">
                    <a:alpha val="58000"/>
                  </a:srgbClr>
                </a:solidFill>
              </a:rPr>
              <a:t>lib</a:t>
            </a:r>
            <a:endParaRPr lang="ar-EG" dirty="0">
              <a:solidFill>
                <a:srgbClr val="FFFF00">
                  <a:alpha val="58000"/>
                </a:srgbClr>
              </a:solidFill>
            </a:endParaRPr>
          </a:p>
          <a:p>
            <a:endParaRPr lang="en-US" dirty="0"/>
          </a:p>
        </p:txBody>
      </p:sp>
    </p:spTree>
    <p:extLst>
      <p:ext uri="{BB962C8B-B14F-4D97-AF65-F5344CB8AC3E}">
        <p14:creationId xmlns:p14="http://schemas.microsoft.com/office/powerpoint/2010/main" val="42770951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09646535-AEF6-4883-A4F9-EEC1F8B43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8" name="Rectangle 27">
            <a:extLst>
              <a:ext uri="{FF2B5EF4-FFF2-40B4-BE49-F238E27FC236}">
                <a16:creationId xmlns:a16="http://schemas.microsoft.com/office/drawing/2014/main" id="{2A3E2477-CB24-4FE6-B9C0-F9800FF83E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B965638C-2268-4A1B-96C3-95E79EF44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FBC50A-9228-8C1A-E65A-DD017270B785}"/>
              </a:ext>
            </a:extLst>
          </p:cNvPr>
          <p:cNvSpPr>
            <a:spLocks noGrp="1"/>
          </p:cNvSpPr>
          <p:nvPr>
            <p:ph type="title"/>
          </p:nvPr>
        </p:nvSpPr>
        <p:spPr>
          <a:xfrm>
            <a:off x="720000" y="619200"/>
            <a:ext cx="4991961" cy="1477328"/>
          </a:xfrm>
        </p:spPr>
        <p:txBody>
          <a:bodyPr vert="horz" wrap="square" lIns="0" tIns="0" rIns="0" bIns="0" rtlCol="0" anchor="ctr" anchorCtr="0">
            <a:normAutofit/>
          </a:bodyPr>
          <a:lstStyle/>
          <a:p>
            <a:pPr>
              <a:lnSpc>
                <a:spcPct val="100000"/>
              </a:lnSpc>
            </a:pPr>
            <a:r>
              <a:rPr lang="en-US" sz="3200"/>
              <a:t>Properties folder</a:t>
            </a:r>
          </a:p>
        </p:txBody>
      </p:sp>
      <p:sp>
        <p:nvSpPr>
          <p:cNvPr id="4" name="Text Placeholder 3">
            <a:extLst>
              <a:ext uri="{FF2B5EF4-FFF2-40B4-BE49-F238E27FC236}">
                <a16:creationId xmlns:a16="http://schemas.microsoft.com/office/drawing/2014/main" id="{BA8667D2-1811-FDF3-7FF3-4E79ADA6D645}"/>
              </a:ext>
            </a:extLst>
          </p:cNvPr>
          <p:cNvSpPr>
            <a:spLocks noGrp="1"/>
          </p:cNvSpPr>
          <p:nvPr>
            <p:ph type="body" sz="half" idx="2"/>
          </p:nvPr>
        </p:nvSpPr>
        <p:spPr>
          <a:xfrm>
            <a:off x="720000" y="2541600"/>
            <a:ext cx="4991962" cy="3216273"/>
          </a:xfrm>
        </p:spPr>
        <p:txBody>
          <a:bodyPr vert="horz" lIns="0" tIns="0" rIns="0" bIns="0" rtlCol="0">
            <a:normAutofit/>
          </a:bodyPr>
          <a:lstStyle/>
          <a:p>
            <a:pPr indent="-228600">
              <a:lnSpc>
                <a:spcPct val="110000"/>
              </a:lnSpc>
              <a:buFont typeface="The Hand Extrablack" panose="03070A02030502020204" pitchFamily="66" charset="0"/>
              <a:buChar char="•"/>
            </a:pPr>
            <a:r>
              <a:rPr lang="en-US" dirty="0"/>
              <a:t>The properties folder contains a </a:t>
            </a:r>
            <a:r>
              <a:rPr lang="en-US" dirty="0" err="1"/>
              <a:t>launchSettings.json</a:t>
            </a:r>
            <a:r>
              <a:rPr lang="en-US" dirty="0"/>
              <a:t> file, which </a:t>
            </a:r>
            <a:r>
              <a:rPr lang="en-US" dirty="0">
                <a:solidFill>
                  <a:srgbClr val="FFC000">
                    <a:alpha val="58000"/>
                  </a:srgbClr>
                </a:solidFill>
              </a:rPr>
              <a:t>contains all the information required to launch the application</a:t>
            </a:r>
            <a:r>
              <a:rPr lang="en-US" dirty="0"/>
              <a:t>. Configuration details about what action to perform when the application is executed and contains details like </a:t>
            </a:r>
            <a:r>
              <a:rPr lang="en-US" dirty="0">
                <a:solidFill>
                  <a:srgbClr val="FFFF00">
                    <a:alpha val="58000"/>
                  </a:srgbClr>
                </a:solidFill>
              </a:rPr>
              <a:t>IIS settings</a:t>
            </a:r>
            <a:r>
              <a:rPr lang="en-US" dirty="0"/>
              <a:t>, application URLs, authentication, SSL port details, etc.</a:t>
            </a:r>
          </a:p>
          <a:p>
            <a:pPr indent="-228600">
              <a:lnSpc>
                <a:spcPct val="110000"/>
              </a:lnSpc>
              <a:buFont typeface="The Hand Extrablack" panose="03070A02030502020204" pitchFamily="66" charset="0"/>
              <a:buChar char="•"/>
            </a:pPr>
            <a:endParaRPr lang="en-US" dirty="0"/>
          </a:p>
        </p:txBody>
      </p:sp>
      <p:sp useBgFill="1">
        <p:nvSpPr>
          <p:cNvPr id="32" name="Freeform: Shape 31">
            <a:extLst>
              <a:ext uri="{FF2B5EF4-FFF2-40B4-BE49-F238E27FC236}">
                <a16:creationId xmlns:a16="http://schemas.microsoft.com/office/drawing/2014/main" id="{97D0825D-5142-4F4A-A141-3CCD5E99C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5867335" y="533334"/>
            <a:ext cx="6858000" cy="5791331"/>
          </a:xfrm>
          <a:custGeom>
            <a:avLst/>
            <a:gdLst>
              <a:gd name="connsiteX0" fmla="*/ 6858000 w 6858000"/>
              <a:gd name="connsiteY0" fmla="*/ 14535 h 5791331"/>
              <a:gd name="connsiteX1" fmla="*/ 6858000 w 6858000"/>
              <a:gd name="connsiteY1" fmla="*/ 5791331 h 5791331"/>
              <a:gd name="connsiteX2" fmla="*/ 0 w 6858000"/>
              <a:gd name="connsiteY2" fmla="*/ 5791330 h 5791331"/>
              <a:gd name="connsiteX3" fmla="*/ 0 w 6858000"/>
              <a:gd name="connsiteY3" fmla="*/ 0 h 5791331"/>
              <a:gd name="connsiteX4" fmla="*/ 145832 w 6858000"/>
              <a:gd name="connsiteY4" fmla="*/ 1175 h 5791331"/>
              <a:gd name="connsiteX5" fmla="*/ 2611132 w 6858000"/>
              <a:gd name="connsiteY5" fmla="*/ 48625 h 5791331"/>
              <a:gd name="connsiteX6" fmla="*/ 6643031 w 6858000"/>
              <a:gd name="connsiteY6" fmla="*/ 15010 h 5791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0" h="5791331">
                <a:moveTo>
                  <a:pt x="6858000" y="14535"/>
                </a:moveTo>
                <a:lnTo>
                  <a:pt x="6858000" y="5791331"/>
                </a:lnTo>
                <a:lnTo>
                  <a:pt x="0" y="5791330"/>
                </a:lnTo>
                <a:lnTo>
                  <a:pt x="0" y="0"/>
                </a:lnTo>
                <a:lnTo>
                  <a:pt x="145832" y="1175"/>
                </a:lnTo>
                <a:cubicBezTo>
                  <a:pt x="886907" y="14750"/>
                  <a:pt x="2228596" y="125101"/>
                  <a:pt x="2611132" y="48625"/>
                </a:cubicBezTo>
                <a:cubicBezTo>
                  <a:pt x="2933352" y="-3056"/>
                  <a:pt x="5032814" y="16325"/>
                  <a:pt x="6643031" y="15010"/>
                </a:cubicBezTo>
                <a:close/>
              </a:path>
            </a:pathLst>
          </a:cu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pic>
        <p:nvPicPr>
          <p:cNvPr id="14" name="Picture 13" descr="A screenshot of a computer&#10;&#10;AI-generated content may be incorrect.">
            <a:extLst>
              <a:ext uri="{FF2B5EF4-FFF2-40B4-BE49-F238E27FC236}">
                <a16:creationId xmlns:a16="http://schemas.microsoft.com/office/drawing/2014/main" id="{E90239AA-9705-E490-EB93-855224B8D4B2}"/>
              </a:ext>
            </a:extLst>
          </p:cNvPr>
          <p:cNvPicPr>
            <a:picLocks noChangeAspect="1"/>
          </p:cNvPicPr>
          <p:nvPr/>
        </p:nvPicPr>
        <p:blipFill>
          <a:blip r:embed="rId2"/>
          <a:stretch>
            <a:fillRect/>
          </a:stretch>
        </p:blipFill>
        <p:spPr>
          <a:xfrm>
            <a:off x="7308059" y="720000"/>
            <a:ext cx="4020206" cy="5409338"/>
          </a:xfrm>
          <a:custGeom>
            <a:avLst/>
            <a:gdLst/>
            <a:ahLst/>
            <a:cxnLst/>
            <a:rect l="l" t="t" r="r" b="b"/>
            <a:pathLst>
              <a:path w="4284000" h="5409338">
                <a:moveTo>
                  <a:pt x="0" y="0"/>
                </a:moveTo>
                <a:lnTo>
                  <a:pt x="4284000" y="0"/>
                </a:lnTo>
                <a:lnTo>
                  <a:pt x="4284000" y="5409338"/>
                </a:lnTo>
                <a:lnTo>
                  <a:pt x="0" y="5409338"/>
                </a:lnTo>
                <a:close/>
              </a:path>
            </a:pathLst>
          </a:custGeom>
        </p:spPr>
      </p:pic>
    </p:spTree>
    <p:extLst>
      <p:ext uri="{BB962C8B-B14F-4D97-AF65-F5344CB8AC3E}">
        <p14:creationId xmlns:p14="http://schemas.microsoft.com/office/powerpoint/2010/main" val="35686545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09646535-AEF6-4883-A4F9-EEC1F8B43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5" name="Rectangle 34">
            <a:extLst>
              <a:ext uri="{FF2B5EF4-FFF2-40B4-BE49-F238E27FC236}">
                <a16:creationId xmlns:a16="http://schemas.microsoft.com/office/drawing/2014/main" id="{2A3E2477-CB24-4FE6-B9C0-F9800FF83E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B965638C-2268-4A1B-96C3-95E79EF44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60DF18-49EA-A075-9C79-450D96E7650B}"/>
              </a:ext>
            </a:extLst>
          </p:cNvPr>
          <p:cNvSpPr>
            <a:spLocks noGrp="1"/>
          </p:cNvSpPr>
          <p:nvPr>
            <p:ph type="title"/>
          </p:nvPr>
        </p:nvSpPr>
        <p:spPr>
          <a:xfrm>
            <a:off x="720000" y="619200"/>
            <a:ext cx="4991961" cy="1477328"/>
          </a:xfrm>
        </p:spPr>
        <p:txBody>
          <a:bodyPr vert="horz" wrap="square" lIns="0" tIns="0" rIns="0" bIns="0" rtlCol="0" anchor="ctr" anchorCtr="0">
            <a:normAutofit/>
          </a:bodyPr>
          <a:lstStyle/>
          <a:p>
            <a:pPr>
              <a:lnSpc>
                <a:spcPct val="100000"/>
              </a:lnSpc>
            </a:pPr>
            <a:r>
              <a:rPr lang="en-US" sz="3200"/>
              <a:t>Dependencies</a:t>
            </a:r>
          </a:p>
        </p:txBody>
      </p:sp>
      <p:sp>
        <p:nvSpPr>
          <p:cNvPr id="4" name="Text Placeholder 3">
            <a:extLst>
              <a:ext uri="{FF2B5EF4-FFF2-40B4-BE49-F238E27FC236}">
                <a16:creationId xmlns:a16="http://schemas.microsoft.com/office/drawing/2014/main" id="{5C195579-EF6A-CFB3-86DD-E995280CB025}"/>
              </a:ext>
            </a:extLst>
          </p:cNvPr>
          <p:cNvSpPr>
            <a:spLocks noGrp="1"/>
          </p:cNvSpPr>
          <p:nvPr>
            <p:ph type="body" sz="half" idx="2"/>
          </p:nvPr>
        </p:nvSpPr>
        <p:spPr>
          <a:xfrm>
            <a:off x="720000" y="2541600"/>
            <a:ext cx="4991962" cy="3216273"/>
          </a:xfrm>
        </p:spPr>
        <p:txBody>
          <a:bodyPr vert="horz" lIns="0" tIns="0" rIns="0" bIns="0" rtlCol="0">
            <a:normAutofit/>
          </a:bodyPr>
          <a:lstStyle/>
          <a:p>
            <a:pPr indent="-228600">
              <a:buFont typeface="The Hand Extrablack" panose="03070A02030502020204" pitchFamily="66" charset="0"/>
              <a:buChar char="•"/>
            </a:pPr>
            <a:r>
              <a:rPr lang="en-US" dirty="0"/>
              <a:t>The Dependencies node </a:t>
            </a:r>
            <a:r>
              <a:rPr lang="en-US" dirty="0">
                <a:solidFill>
                  <a:srgbClr val="FFC000">
                    <a:alpha val="58000"/>
                  </a:srgbClr>
                </a:solidFill>
              </a:rPr>
              <a:t>contains all the references of the packages </a:t>
            </a:r>
            <a:r>
              <a:rPr lang="en-US" dirty="0"/>
              <a:t>used in the project. Here the Frameworks node contains reference two most important dotnet core runtime and asp.net core runtime libraries. </a:t>
            </a:r>
          </a:p>
          <a:p>
            <a:pPr indent="-228600">
              <a:buFont typeface="The Hand Extrablack" panose="03070A02030502020204" pitchFamily="66" charset="0"/>
              <a:buChar char="•"/>
            </a:pPr>
            <a:endParaRPr lang="en-US" dirty="0"/>
          </a:p>
        </p:txBody>
      </p:sp>
      <p:sp useBgFill="1">
        <p:nvSpPr>
          <p:cNvPr id="39" name="Freeform: Shape 38">
            <a:extLst>
              <a:ext uri="{FF2B5EF4-FFF2-40B4-BE49-F238E27FC236}">
                <a16:creationId xmlns:a16="http://schemas.microsoft.com/office/drawing/2014/main" id="{97D0825D-5142-4F4A-A141-3CCD5E99C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5867335" y="533334"/>
            <a:ext cx="6858000" cy="5791331"/>
          </a:xfrm>
          <a:custGeom>
            <a:avLst/>
            <a:gdLst>
              <a:gd name="connsiteX0" fmla="*/ 6858000 w 6858000"/>
              <a:gd name="connsiteY0" fmla="*/ 14535 h 5791331"/>
              <a:gd name="connsiteX1" fmla="*/ 6858000 w 6858000"/>
              <a:gd name="connsiteY1" fmla="*/ 5791331 h 5791331"/>
              <a:gd name="connsiteX2" fmla="*/ 0 w 6858000"/>
              <a:gd name="connsiteY2" fmla="*/ 5791330 h 5791331"/>
              <a:gd name="connsiteX3" fmla="*/ 0 w 6858000"/>
              <a:gd name="connsiteY3" fmla="*/ 0 h 5791331"/>
              <a:gd name="connsiteX4" fmla="*/ 145832 w 6858000"/>
              <a:gd name="connsiteY4" fmla="*/ 1175 h 5791331"/>
              <a:gd name="connsiteX5" fmla="*/ 2611132 w 6858000"/>
              <a:gd name="connsiteY5" fmla="*/ 48625 h 5791331"/>
              <a:gd name="connsiteX6" fmla="*/ 6643031 w 6858000"/>
              <a:gd name="connsiteY6" fmla="*/ 15010 h 5791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0" h="5791331">
                <a:moveTo>
                  <a:pt x="6858000" y="14535"/>
                </a:moveTo>
                <a:lnTo>
                  <a:pt x="6858000" y="5791331"/>
                </a:lnTo>
                <a:lnTo>
                  <a:pt x="0" y="5791330"/>
                </a:lnTo>
                <a:lnTo>
                  <a:pt x="0" y="0"/>
                </a:lnTo>
                <a:lnTo>
                  <a:pt x="145832" y="1175"/>
                </a:lnTo>
                <a:cubicBezTo>
                  <a:pt x="886907" y="14750"/>
                  <a:pt x="2228596" y="125101"/>
                  <a:pt x="2611132" y="48625"/>
                </a:cubicBezTo>
                <a:cubicBezTo>
                  <a:pt x="2933352" y="-3056"/>
                  <a:pt x="5032814" y="16325"/>
                  <a:pt x="6643031" y="15010"/>
                </a:cubicBezTo>
                <a:close/>
              </a:path>
            </a:pathLst>
          </a:cu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pic>
        <p:nvPicPr>
          <p:cNvPr id="18" name="Picture Placeholder 17" descr="A screenshot of a computer&#10;&#10;AI-generated content may be incorrect.">
            <a:extLst>
              <a:ext uri="{FF2B5EF4-FFF2-40B4-BE49-F238E27FC236}">
                <a16:creationId xmlns:a16="http://schemas.microsoft.com/office/drawing/2014/main" id="{C4CB6330-E68A-BE48-4564-8E35E3512B72}"/>
              </a:ext>
            </a:extLst>
          </p:cNvPr>
          <p:cNvPicPr>
            <a:picLocks noGrp="1" noChangeAspect="1"/>
          </p:cNvPicPr>
          <p:nvPr>
            <p:ph type="pic" idx="1"/>
          </p:nvPr>
        </p:nvPicPr>
        <p:blipFill>
          <a:blip r:embed="rId2"/>
          <a:srcRect t="26456" b="26456"/>
          <a:stretch/>
        </p:blipFill>
        <p:spPr>
          <a:xfrm>
            <a:off x="7176162" y="1866947"/>
            <a:ext cx="4284000" cy="3115444"/>
          </a:xfrm>
          <a:custGeom>
            <a:avLst/>
            <a:gdLst/>
            <a:ahLst/>
            <a:cxnLst/>
            <a:rect l="l" t="t" r="r" b="b"/>
            <a:pathLst>
              <a:path w="4284000" h="5409338">
                <a:moveTo>
                  <a:pt x="0" y="0"/>
                </a:moveTo>
                <a:lnTo>
                  <a:pt x="4284000" y="0"/>
                </a:lnTo>
                <a:lnTo>
                  <a:pt x="4284000" y="5409338"/>
                </a:lnTo>
                <a:lnTo>
                  <a:pt x="0" y="5409338"/>
                </a:lnTo>
                <a:close/>
              </a:path>
            </a:pathLst>
          </a:custGeom>
        </p:spPr>
      </p:pic>
    </p:spTree>
    <p:extLst>
      <p:ext uri="{BB962C8B-B14F-4D97-AF65-F5344CB8AC3E}">
        <p14:creationId xmlns:p14="http://schemas.microsoft.com/office/powerpoint/2010/main" val="23175274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9646535-AEF6-4883-A4F9-EEC1F8B43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2A3E2477-CB24-4FE6-B9C0-F9800FF83E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965638C-2268-4A1B-96C3-95E79EF44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8DDC2A-C4E1-3749-A8C1-B53F1084011B}"/>
              </a:ext>
            </a:extLst>
          </p:cNvPr>
          <p:cNvSpPr>
            <a:spLocks noGrp="1"/>
          </p:cNvSpPr>
          <p:nvPr>
            <p:ph type="title"/>
          </p:nvPr>
        </p:nvSpPr>
        <p:spPr>
          <a:xfrm>
            <a:off x="720000" y="619200"/>
            <a:ext cx="4991961" cy="1477328"/>
          </a:xfrm>
        </p:spPr>
        <p:txBody>
          <a:bodyPr vert="horz" wrap="square" lIns="0" tIns="0" rIns="0" bIns="0" rtlCol="0" anchor="ctr" anchorCtr="0">
            <a:normAutofit/>
          </a:bodyPr>
          <a:lstStyle/>
          <a:p>
            <a:pPr>
              <a:lnSpc>
                <a:spcPct val="100000"/>
              </a:lnSpc>
            </a:pPr>
            <a:r>
              <a:rPr lang="en-US" sz="3200"/>
              <a:t>Connected Services</a:t>
            </a:r>
          </a:p>
        </p:txBody>
      </p:sp>
      <p:sp>
        <p:nvSpPr>
          <p:cNvPr id="4" name="Text Placeholder 3">
            <a:extLst>
              <a:ext uri="{FF2B5EF4-FFF2-40B4-BE49-F238E27FC236}">
                <a16:creationId xmlns:a16="http://schemas.microsoft.com/office/drawing/2014/main" id="{68EBD6F6-7F4F-5052-C2F2-451172759077}"/>
              </a:ext>
            </a:extLst>
          </p:cNvPr>
          <p:cNvSpPr>
            <a:spLocks noGrp="1"/>
          </p:cNvSpPr>
          <p:nvPr>
            <p:ph type="body" sz="half" idx="2"/>
          </p:nvPr>
        </p:nvSpPr>
        <p:spPr>
          <a:xfrm>
            <a:off x="720000" y="2541600"/>
            <a:ext cx="4991962" cy="3216273"/>
          </a:xfrm>
        </p:spPr>
        <p:txBody>
          <a:bodyPr vert="horz" lIns="0" tIns="0" rIns="0" bIns="0" rtlCol="0">
            <a:normAutofit/>
          </a:bodyPr>
          <a:lstStyle/>
          <a:p>
            <a:pPr indent="-228600">
              <a:buFont typeface="The Hand Extrablack" panose="03070A02030502020204" pitchFamily="66" charset="0"/>
              <a:buChar char="•"/>
            </a:pPr>
            <a:r>
              <a:rPr lang="en-US" dirty="0"/>
              <a:t>It contains the details about all the service references added to the project. A new service can be added here, for example, if you want to </a:t>
            </a:r>
            <a:r>
              <a:rPr lang="en-US" dirty="0">
                <a:solidFill>
                  <a:srgbClr val="FFC000">
                    <a:alpha val="58000"/>
                  </a:srgbClr>
                </a:solidFill>
              </a:rPr>
              <a:t>add access to Cloud Storage of Azure Storage </a:t>
            </a:r>
            <a:r>
              <a:rPr lang="en-US" dirty="0"/>
              <a:t>you can add the service here</a:t>
            </a:r>
          </a:p>
          <a:p>
            <a:pPr indent="-228600">
              <a:buFont typeface="The Hand Extrablack" panose="03070A02030502020204" pitchFamily="66" charset="0"/>
              <a:buChar char="•"/>
            </a:pPr>
            <a:endParaRPr lang="en-US" dirty="0"/>
          </a:p>
        </p:txBody>
      </p:sp>
      <p:sp useBgFill="1">
        <p:nvSpPr>
          <p:cNvPr id="17" name="Freeform: Shape 16">
            <a:extLst>
              <a:ext uri="{FF2B5EF4-FFF2-40B4-BE49-F238E27FC236}">
                <a16:creationId xmlns:a16="http://schemas.microsoft.com/office/drawing/2014/main" id="{97D0825D-5142-4F4A-A141-3CCD5E99C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5867335" y="533334"/>
            <a:ext cx="6858000" cy="5791331"/>
          </a:xfrm>
          <a:custGeom>
            <a:avLst/>
            <a:gdLst>
              <a:gd name="connsiteX0" fmla="*/ 6858000 w 6858000"/>
              <a:gd name="connsiteY0" fmla="*/ 14535 h 5791331"/>
              <a:gd name="connsiteX1" fmla="*/ 6858000 w 6858000"/>
              <a:gd name="connsiteY1" fmla="*/ 5791331 h 5791331"/>
              <a:gd name="connsiteX2" fmla="*/ 0 w 6858000"/>
              <a:gd name="connsiteY2" fmla="*/ 5791330 h 5791331"/>
              <a:gd name="connsiteX3" fmla="*/ 0 w 6858000"/>
              <a:gd name="connsiteY3" fmla="*/ 0 h 5791331"/>
              <a:gd name="connsiteX4" fmla="*/ 145832 w 6858000"/>
              <a:gd name="connsiteY4" fmla="*/ 1175 h 5791331"/>
              <a:gd name="connsiteX5" fmla="*/ 2611132 w 6858000"/>
              <a:gd name="connsiteY5" fmla="*/ 48625 h 5791331"/>
              <a:gd name="connsiteX6" fmla="*/ 6643031 w 6858000"/>
              <a:gd name="connsiteY6" fmla="*/ 15010 h 5791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0" h="5791331">
                <a:moveTo>
                  <a:pt x="6858000" y="14535"/>
                </a:moveTo>
                <a:lnTo>
                  <a:pt x="6858000" y="5791331"/>
                </a:lnTo>
                <a:lnTo>
                  <a:pt x="0" y="5791330"/>
                </a:lnTo>
                <a:lnTo>
                  <a:pt x="0" y="0"/>
                </a:lnTo>
                <a:lnTo>
                  <a:pt x="145832" y="1175"/>
                </a:lnTo>
                <a:cubicBezTo>
                  <a:pt x="886907" y="14750"/>
                  <a:pt x="2228596" y="125101"/>
                  <a:pt x="2611132" y="48625"/>
                </a:cubicBezTo>
                <a:cubicBezTo>
                  <a:pt x="2933352" y="-3056"/>
                  <a:pt x="5032814" y="16325"/>
                  <a:pt x="6643031" y="15010"/>
                </a:cubicBezTo>
                <a:close/>
              </a:path>
            </a:pathLst>
          </a:cu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pic>
        <p:nvPicPr>
          <p:cNvPr id="6" name="Picture Placeholder 5" descr="A screenshot of a computer&#10;&#10;AI-generated content may be incorrect.">
            <a:extLst>
              <a:ext uri="{FF2B5EF4-FFF2-40B4-BE49-F238E27FC236}">
                <a16:creationId xmlns:a16="http://schemas.microsoft.com/office/drawing/2014/main" id="{35106325-AF2E-1980-8632-00FC84A2AC34}"/>
              </a:ext>
            </a:extLst>
          </p:cNvPr>
          <p:cNvPicPr>
            <a:picLocks noGrp="1" noChangeAspect="1"/>
          </p:cNvPicPr>
          <p:nvPr>
            <p:ph type="pic" idx="1"/>
          </p:nvPr>
        </p:nvPicPr>
        <p:blipFill>
          <a:blip r:embed="rId2"/>
          <a:srcRect t="17276" b="17276"/>
          <a:stretch/>
        </p:blipFill>
        <p:spPr>
          <a:xfrm>
            <a:off x="7176162" y="1865221"/>
            <a:ext cx="4284000" cy="3118896"/>
          </a:xfrm>
          <a:custGeom>
            <a:avLst/>
            <a:gdLst/>
            <a:ahLst/>
            <a:cxnLst/>
            <a:rect l="l" t="t" r="r" b="b"/>
            <a:pathLst>
              <a:path w="4284000" h="5409338">
                <a:moveTo>
                  <a:pt x="0" y="0"/>
                </a:moveTo>
                <a:lnTo>
                  <a:pt x="4284000" y="0"/>
                </a:lnTo>
                <a:lnTo>
                  <a:pt x="4284000" y="5409338"/>
                </a:lnTo>
                <a:lnTo>
                  <a:pt x="0" y="5409338"/>
                </a:lnTo>
                <a:close/>
              </a:path>
            </a:pathLst>
          </a:custGeom>
        </p:spPr>
      </p:pic>
    </p:spTree>
    <p:extLst>
      <p:ext uri="{BB962C8B-B14F-4D97-AF65-F5344CB8AC3E}">
        <p14:creationId xmlns:p14="http://schemas.microsoft.com/office/powerpoint/2010/main" val="14676923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23D4B-7E04-9A7A-C96F-3A1F7971004E}"/>
              </a:ext>
            </a:extLst>
          </p:cNvPr>
          <p:cNvSpPr>
            <a:spLocks noGrp="1"/>
          </p:cNvSpPr>
          <p:nvPr>
            <p:ph type="title"/>
          </p:nvPr>
        </p:nvSpPr>
        <p:spPr/>
        <p:txBody>
          <a:bodyPr/>
          <a:lstStyle/>
          <a:p>
            <a:r>
              <a:rPr lang="en-US" dirty="0"/>
              <a:t>Implementation - Controller</a:t>
            </a:r>
          </a:p>
        </p:txBody>
      </p:sp>
      <p:sp>
        <p:nvSpPr>
          <p:cNvPr id="3" name="Content Placeholder 2">
            <a:extLst>
              <a:ext uri="{FF2B5EF4-FFF2-40B4-BE49-F238E27FC236}">
                <a16:creationId xmlns:a16="http://schemas.microsoft.com/office/drawing/2014/main" id="{3043AC09-0CDF-A675-9C3F-9DF460968BDB}"/>
              </a:ext>
            </a:extLst>
          </p:cNvPr>
          <p:cNvSpPr>
            <a:spLocks noGrp="1"/>
          </p:cNvSpPr>
          <p:nvPr>
            <p:ph idx="1"/>
          </p:nvPr>
        </p:nvSpPr>
        <p:spPr>
          <a:xfrm>
            <a:off x="720000" y="2441360"/>
            <a:ext cx="10728325" cy="3327616"/>
          </a:xfrm>
        </p:spPr>
        <p:txBody>
          <a:bodyPr>
            <a:normAutofit fontScale="92500"/>
          </a:bodyPr>
          <a:lstStyle/>
          <a:p>
            <a:r>
              <a:rPr lang="en-US" dirty="0"/>
              <a:t>This is the part responsible for processing requests and giving responses.</a:t>
            </a:r>
            <a:endParaRPr lang="ar-EG" dirty="0"/>
          </a:p>
          <a:p>
            <a:r>
              <a:rPr lang="en-US" dirty="0"/>
              <a:t>It is represented as a class</a:t>
            </a:r>
            <a:r>
              <a:rPr lang="ar-EG" dirty="0"/>
              <a:t>.</a:t>
            </a:r>
          </a:p>
          <a:p>
            <a:r>
              <a:rPr lang="en-US" dirty="0"/>
              <a:t>This class is inherited from a parent class called Controller</a:t>
            </a:r>
            <a:r>
              <a:rPr lang="ar-EG" dirty="0"/>
              <a:t>.</a:t>
            </a:r>
          </a:p>
          <a:p>
            <a:r>
              <a:rPr lang="en-US" dirty="0"/>
              <a:t>Any new controller must be added inside the controller folder</a:t>
            </a:r>
            <a:r>
              <a:rPr lang="ar-EG" dirty="0"/>
              <a:t>.</a:t>
            </a:r>
          </a:p>
          <a:p>
            <a:r>
              <a:rPr lang="en-US" dirty="0"/>
              <a:t>It should be named as class name + controller</a:t>
            </a:r>
            <a:r>
              <a:rPr lang="ar-EG" dirty="0"/>
              <a:t>.</a:t>
            </a:r>
          </a:p>
          <a:p>
            <a:r>
              <a:rPr lang="en-US" dirty="0"/>
              <a:t>It contains inside it a set of functions called actions.</a:t>
            </a:r>
            <a:endParaRPr lang="ar-EG" dirty="0"/>
          </a:p>
          <a:p>
            <a:r>
              <a:rPr lang="en-US" dirty="0"/>
              <a:t>There must be a separate folder with the name of this controller inside the View folder.</a:t>
            </a:r>
          </a:p>
        </p:txBody>
      </p:sp>
    </p:spTree>
    <p:extLst>
      <p:ext uri="{BB962C8B-B14F-4D97-AF65-F5344CB8AC3E}">
        <p14:creationId xmlns:p14="http://schemas.microsoft.com/office/powerpoint/2010/main" val="1199966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9646535-AEF6-4883-A4F9-EEC1F8B43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2A3E2477-CB24-4FE6-B9C0-F9800FF83E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965638C-2268-4A1B-96C3-95E79EF44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3BA073-5057-5DA9-8768-48E43BB6456B}"/>
              </a:ext>
            </a:extLst>
          </p:cNvPr>
          <p:cNvSpPr>
            <a:spLocks noGrp="1"/>
          </p:cNvSpPr>
          <p:nvPr>
            <p:ph type="title"/>
          </p:nvPr>
        </p:nvSpPr>
        <p:spPr>
          <a:xfrm>
            <a:off x="720000" y="619200"/>
            <a:ext cx="4991961" cy="1477328"/>
          </a:xfrm>
        </p:spPr>
        <p:txBody>
          <a:bodyPr vert="horz" wrap="square" lIns="0" tIns="0" rIns="0" bIns="0" rtlCol="0" anchor="ctr" anchorCtr="0">
            <a:normAutofit/>
          </a:bodyPr>
          <a:lstStyle/>
          <a:p>
            <a:r>
              <a:rPr lang="en-US" sz="3200"/>
              <a:t>Implementation - Controller</a:t>
            </a:r>
          </a:p>
        </p:txBody>
      </p:sp>
      <p:sp>
        <p:nvSpPr>
          <p:cNvPr id="4" name="Text Placeholder 3">
            <a:extLst>
              <a:ext uri="{FF2B5EF4-FFF2-40B4-BE49-F238E27FC236}">
                <a16:creationId xmlns:a16="http://schemas.microsoft.com/office/drawing/2014/main" id="{FF8C0097-A60A-25E7-682D-C069EDC0D240}"/>
              </a:ext>
            </a:extLst>
          </p:cNvPr>
          <p:cNvSpPr>
            <a:spLocks noGrp="1"/>
          </p:cNvSpPr>
          <p:nvPr>
            <p:ph type="body" sz="half" idx="2"/>
          </p:nvPr>
        </p:nvSpPr>
        <p:spPr>
          <a:xfrm>
            <a:off x="720000" y="2541600"/>
            <a:ext cx="4991962" cy="3216273"/>
          </a:xfrm>
        </p:spPr>
        <p:txBody>
          <a:bodyPr vert="horz" lIns="0" tIns="0" rIns="0" bIns="0" rtlCol="0">
            <a:normAutofit/>
          </a:bodyPr>
          <a:lstStyle/>
          <a:p>
            <a:pPr indent="-228600">
              <a:buFont typeface="The Hand Extrablack" panose="03070A02030502020204" pitchFamily="66" charset="0"/>
              <a:buChar char="•"/>
            </a:pPr>
            <a:r>
              <a:rPr lang="en-US" b="1" dirty="0"/>
              <a:t>Action Methods:</a:t>
            </a:r>
          </a:p>
          <a:p>
            <a:pPr lvl="1" indent="-228600">
              <a:buFont typeface="The Hand Extrablack" panose="03070A02030502020204" pitchFamily="66" charset="0"/>
              <a:buChar char="•"/>
            </a:pPr>
            <a:r>
              <a:rPr lang="en-US" sz="2000" dirty="0"/>
              <a:t>Action must be public</a:t>
            </a:r>
          </a:p>
          <a:p>
            <a:pPr lvl="1" indent="-228600">
              <a:buFont typeface="The Hand Extrablack" panose="03070A02030502020204" pitchFamily="66" charset="0"/>
              <a:buChar char="•"/>
            </a:pPr>
            <a:r>
              <a:rPr lang="en-US" sz="2000" dirty="0"/>
              <a:t>Action can not be </a:t>
            </a:r>
            <a:r>
              <a:rPr lang="en-US" sz="2000" dirty="0">
                <a:solidFill>
                  <a:srgbClr val="FFFF00">
                    <a:alpha val="58000"/>
                  </a:srgbClr>
                </a:solidFill>
              </a:rPr>
              <a:t>overloaded</a:t>
            </a:r>
          </a:p>
          <a:p>
            <a:pPr lvl="1" indent="-228600">
              <a:buFont typeface="The Hand Extrablack" panose="03070A02030502020204" pitchFamily="66" charset="0"/>
              <a:buChar char="•"/>
            </a:pPr>
            <a:r>
              <a:rPr lang="en-US" sz="2000" dirty="0"/>
              <a:t>Action can not be </a:t>
            </a:r>
            <a:r>
              <a:rPr lang="en-US" sz="2000" dirty="0">
                <a:solidFill>
                  <a:srgbClr val="FFFF00">
                    <a:alpha val="58000"/>
                  </a:srgbClr>
                </a:solidFill>
              </a:rPr>
              <a:t>static method</a:t>
            </a:r>
          </a:p>
          <a:p>
            <a:pPr indent="-228600">
              <a:buFont typeface="The Hand Extrablack" panose="03070A02030502020204" pitchFamily="66" charset="0"/>
              <a:buChar char="•"/>
            </a:pPr>
            <a:endParaRPr lang="en-US" dirty="0"/>
          </a:p>
        </p:txBody>
      </p:sp>
      <p:sp useBgFill="1">
        <p:nvSpPr>
          <p:cNvPr id="17" name="Freeform: Shape 16">
            <a:extLst>
              <a:ext uri="{FF2B5EF4-FFF2-40B4-BE49-F238E27FC236}">
                <a16:creationId xmlns:a16="http://schemas.microsoft.com/office/drawing/2014/main" id="{97D0825D-5142-4F4A-A141-3CCD5E99C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5867335" y="533334"/>
            <a:ext cx="6858000" cy="5791331"/>
          </a:xfrm>
          <a:custGeom>
            <a:avLst/>
            <a:gdLst>
              <a:gd name="connsiteX0" fmla="*/ 6858000 w 6858000"/>
              <a:gd name="connsiteY0" fmla="*/ 14535 h 5791331"/>
              <a:gd name="connsiteX1" fmla="*/ 6858000 w 6858000"/>
              <a:gd name="connsiteY1" fmla="*/ 5791331 h 5791331"/>
              <a:gd name="connsiteX2" fmla="*/ 0 w 6858000"/>
              <a:gd name="connsiteY2" fmla="*/ 5791330 h 5791331"/>
              <a:gd name="connsiteX3" fmla="*/ 0 w 6858000"/>
              <a:gd name="connsiteY3" fmla="*/ 0 h 5791331"/>
              <a:gd name="connsiteX4" fmla="*/ 145832 w 6858000"/>
              <a:gd name="connsiteY4" fmla="*/ 1175 h 5791331"/>
              <a:gd name="connsiteX5" fmla="*/ 2611132 w 6858000"/>
              <a:gd name="connsiteY5" fmla="*/ 48625 h 5791331"/>
              <a:gd name="connsiteX6" fmla="*/ 6643031 w 6858000"/>
              <a:gd name="connsiteY6" fmla="*/ 15010 h 5791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0" h="5791331">
                <a:moveTo>
                  <a:pt x="6858000" y="14535"/>
                </a:moveTo>
                <a:lnTo>
                  <a:pt x="6858000" y="5791331"/>
                </a:lnTo>
                <a:lnTo>
                  <a:pt x="0" y="5791330"/>
                </a:lnTo>
                <a:lnTo>
                  <a:pt x="0" y="0"/>
                </a:lnTo>
                <a:lnTo>
                  <a:pt x="145832" y="1175"/>
                </a:lnTo>
                <a:cubicBezTo>
                  <a:pt x="886907" y="14750"/>
                  <a:pt x="2228596" y="125101"/>
                  <a:pt x="2611132" y="48625"/>
                </a:cubicBezTo>
                <a:cubicBezTo>
                  <a:pt x="2933352" y="-3056"/>
                  <a:pt x="5032814" y="16325"/>
                  <a:pt x="6643031" y="15010"/>
                </a:cubicBezTo>
                <a:close/>
              </a:path>
            </a:pathLst>
          </a:cu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pic>
        <p:nvPicPr>
          <p:cNvPr id="6" name="Content Placeholder 5" descr="A screenshot of a computer code&#10;&#10;AI-generated content may be incorrect.">
            <a:extLst>
              <a:ext uri="{FF2B5EF4-FFF2-40B4-BE49-F238E27FC236}">
                <a16:creationId xmlns:a16="http://schemas.microsoft.com/office/drawing/2014/main" id="{9A8F41E5-A293-771F-B024-42DBA683FC6B}"/>
              </a:ext>
            </a:extLst>
          </p:cNvPr>
          <p:cNvPicPr>
            <a:picLocks noGrp="1" noChangeAspect="1"/>
          </p:cNvPicPr>
          <p:nvPr>
            <p:ph idx="1"/>
          </p:nvPr>
        </p:nvPicPr>
        <p:blipFill>
          <a:blip r:embed="rId2"/>
          <a:stretch>
            <a:fillRect/>
          </a:stretch>
        </p:blipFill>
        <p:spPr>
          <a:xfrm>
            <a:off x="7176162" y="2401864"/>
            <a:ext cx="4284000" cy="2045609"/>
          </a:xfrm>
          <a:custGeom>
            <a:avLst/>
            <a:gdLst/>
            <a:ahLst/>
            <a:cxnLst/>
            <a:rect l="l" t="t" r="r" b="b"/>
            <a:pathLst>
              <a:path w="4284000" h="5409338">
                <a:moveTo>
                  <a:pt x="0" y="0"/>
                </a:moveTo>
                <a:lnTo>
                  <a:pt x="4284000" y="0"/>
                </a:lnTo>
                <a:lnTo>
                  <a:pt x="4284000" y="5409338"/>
                </a:lnTo>
                <a:lnTo>
                  <a:pt x="0" y="5409338"/>
                </a:lnTo>
                <a:close/>
              </a:path>
            </a:pathLst>
          </a:custGeom>
        </p:spPr>
      </p:pic>
    </p:spTree>
    <p:extLst>
      <p:ext uri="{BB962C8B-B14F-4D97-AF65-F5344CB8AC3E}">
        <p14:creationId xmlns:p14="http://schemas.microsoft.com/office/powerpoint/2010/main" val="2101700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9646535-AEF6-4883-A4F9-EEC1F8B43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2A3E2477-CB24-4FE6-B9C0-F9800FF83E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965638C-2268-4A1B-96C3-95E79EF44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0AC7E6-3094-7FDA-0498-E7782BD77583}"/>
              </a:ext>
            </a:extLst>
          </p:cNvPr>
          <p:cNvSpPr>
            <a:spLocks noGrp="1"/>
          </p:cNvSpPr>
          <p:nvPr>
            <p:ph type="title"/>
          </p:nvPr>
        </p:nvSpPr>
        <p:spPr>
          <a:xfrm>
            <a:off x="720000" y="619200"/>
            <a:ext cx="4991961" cy="1477328"/>
          </a:xfrm>
        </p:spPr>
        <p:txBody>
          <a:bodyPr vert="horz" wrap="square" lIns="0" tIns="0" rIns="0" bIns="0" rtlCol="0" anchor="ctr" anchorCtr="0">
            <a:normAutofit/>
          </a:bodyPr>
          <a:lstStyle/>
          <a:p>
            <a:pPr>
              <a:lnSpc>
                <a:spcPct val="100000"/>
              </a:lnSpc>
            </a:pPr>
            <a:r>
              <a:rPr lang="en-US" sz="3200"/>
              <a:t>Implementation - Controller</a:t>
            </a:r>
          </a:p>
        </p:txBody>
      </p:sp>
      <p:sp>
        <p:nvSpPr>
          <p:cNvPr id="4" name="Text Placeholder 3">
            <a:extLst>
              <a:ext uri="{FF2B5EF4-FFF2-40B4-BE49-F238E27FC236}">
                <a16:creationId xmlns:a16="http://schemas.microsoft.com/office/drawing/2014/main" id="{86F407C3-0014-E7C0-374E-CFB5DD5D1C97}"/>
              </a:ext>
            </a:extLst>
          </p:cNvPr>
          <p:cNvSpPr>
            <a:spLocks noGrp="1"/>
          </p:cNvSpPr>
          <p:nvPr>
            <p:ph type="body" sz="half" idx="2"/>
          </p:nvPr>
        </p:nvSpPr>
        <p:spPr>
          <a:xfrm>
            <a:off x="720000" y="2541600"/>
            <a:ext cx="6117028" cy="3216273"/>
          </a:xfrm>
        </p:spPr>
        <p:txBody>
          <a:bodyPr vert="horz" lIns="0" tIns="0" rIns="0" bIns="0" rtlCol="0">
            <a:normAutofit/>
          </a:bodyPr>
          <a:lstStyle/>
          <a:p>
            <a:pPr indent="-228600">
              <a:buFont typeface="The Hand Extrablack" panose="03070A02030502020204" pitchFamily="66" charset="0"/>
              <a:buChar char="•"/>
            </a:pPr>
            <a:r>
              <a:rPr lang="en-US" b="1" dirty="0"/>
              <a:t>Return data types:</a:t>
            </a:r>
          </a:p>
          <a:p>
            <a:pPr lvl="1" indent="-228600">
              <a:buFont typeface="The Hand Extrablack" panose="03070A02030502020204" pitchFamily="66" charset="0"/>
              <a:buChar char="•"/>
            </a:pPr>
            <a:r>
              <a:rPr lang="en-US" sz="2000" dirty="0" err="1"/>
              <a:t>ActionResult</a:t>
            </a:r>
            <a:r>
              <a:rPr lang="en-US" sz="2000" dirty="0"/>
              <a:t> </a:t>
            </a:r>
            <a:r>
              <a:rPr lang="en-US" sz="2000" dirty="0">
                <a:sym typeface="Wingdings" panose="05000000000000000000" pitchFamily="2" charset="2"/>
              </a:rPr>
              <a:t> is a general class</a:t>
            </a:r>
          </a:p>
          <a:p>
            <a:pPr lvl="1" indent="-228600">
              <a:buFont typeface="The Hand Extrablack" panose="03070A02030502020204" pitchFamily="66" charset="0"/>
              <a:buChar char="•"/>
            </a:pPr>
            <a:r>
              <a:rPr lang="en-US" sz="2000" dirty="0" err="1">
                <a:sym typeface="Wingdings" panose="05000000000000000000" pitchFamily="2" charset="2"/>
              </a:rPr>
              <a:t>ViewResult</a:t>
            </a:r>
            <a:r>
              <a:rPr lang="en-US" sz="2000" dirty="0">
                <a:sym typeface="Wingdings" panose="05000000000000000000" pitchFamily="2" charset="2"/>
              </a:rPr>
              <a:t>  </a:t>
            </a:r>
            <a:r>
              <a:rPr lang="en-US" sz="2000" dirty="0"/>
              <a:t>return View();</a:t>
            </a:r>
          </a:p>
          <a:p>
            <a:pPr lvl="1" indent="-228600">
              <a:buFont typeface="The Hand Extrablack" panose="03070A02030502020204" pitchFamily="66" charset="0"/>
              <a:buChar char="•"/>
            </a:pPr>
            <a:r>
              <a:rPr lang="en-US" sz="2000" dirty="0" err="1"/>
              <a:t>EmptyResult</a:t>
            </a:r>
            <a:r>
              <a:rPr lang="en-US" sz="2000" dirty="0">
                <a:sym typeface="Wingdings" panose="05000000000000000000" pitchFamily="2" charset="2"/>
              </a:rPr>
              <a:t>  </a:t>
            </a:r>
            <a:r>
              <a:rPr lang="en-US" sz="2000" dirty="0"/>
              <a:t>return new </a:t>
            </a:r>
            <a:r>
              <a:rPr lang="en-US" sz="2000" dirty="0" err="1"/>
              <a:t>EmptyResult</a:t>
            </a:r>
            <a:r>
              <a:rPr lang="en-US" sz="2000" dirty="0"/>
              <a:t>();</a:t>
            </a:r>
          </a:p>
          <a:p>
            <a:pPr lvl="1" indent="-228600">
              <a:buFont typeface="The Hand Extrablack" panose="03070A02030502020204" pitchFamily="66" charset="0"/>
              <a:buChar char="•"/>
            </a:pPr>
            <a:endParaRPr lang="en-US" sz="2000" dirty="0"/>
          </a:p>
          <a:p>
            <a:pPr marL="571500" lvl="1" indent="-342900">
              <a:buFont typeface="Wingdings" panose="05000000000000000000" pitchFamily="2" charset="2"/>
              <a:buChar char="Ø"/>
            </a:pPr>
            <a:r>
              <a:rPr lang="en-US" altLang="en-US" sz="2000" dirty="0" err="1"/>
              <a:t>ViewResult</a:t>
            </a:r>
            <a:r>
              <a:rPr lang="en-US" altLang="en-US" sz="2000" dirty="0"/>
              <a:t> is a subclass of </a:t>
            </a:r>
            <a:r>
              <a:rPr lang="en-US" altLang="en-US" sz="2000" dirty="0" err="1"/>
              <a:t>ActionResult</a:t>
            </a:r>
            <a:r>
              <a:rPr lang="en-US" altLang="en-US" sz="2000" dirty="0"/>
              <a:t> </a:t>
            </a:r>
          </a:p>
          <a:p>
            <a:pPr indent="-228600">
              <a:buFont typeface="The Hand Extrablack" panose="03070A02030502020204" pitchFamily="66" charset="0"/>
              <a:buChar char="•"/>
            </a:pPr>
            <a:endParaRPr lang="en-US" dirty="0"/>
          </a:p>
        </p:txBody>
      </p:sp>
      <p:sp useBgFill="1">
        <p:nvSpPr>
          <p:cNvPr id="17" name="Freeform: Shape 16">
            <a:extLst>
              <a:ext uri="{FF2B5EF4-FFF2-40B4-BE49-F238E27FC236}">
                <a16:creationId xmlns:a16="http://schemas.microsoft.com/office/drawing/2014/main" id="{97D0825D-5142-4F4A-A141-3CCD5E99C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5867335" y="533334"/>
            <a:ext cx="6858000" cy="5791331"/>
          </a:xfrm>
          <a:custGeom>
            <a:avLst/>
            <a:gdLst>
              <a:gd name="connsiteX0" fmla="*/ 6858000 w 6858000"/>
              <a:gd name="connsiteY0" fmla="*/ 14535 h 5791331"/>
              <a:gd name="connsiteX1" fmla="*/ 6858000 w 6858000"/>
              <a:gd name="connsiteY1" fmla="*/ 5791331 h 5791331"/>
              <a:gd name="connsiteX2" fmla="*/ 0 w 6858000"/>
              <a:gd name="connsiteY2" fmla="*/ 5791330 h 5791331"/>
              <a:gd name="connsiteX3" fmla="*/ 0 w 6858000"/>
              <a:gd name="connsiteY3" fmla="*/ 0 h 5791331"/>
              <a:gd name="connsiteX4" fmla="*/ 145832 w 6858000"/>
              <a:gd name="connsiteY4" fmla="*/ 1175 h 5791331"/>
              <a:gd name="connsiteX5" fmla="*/ 2611132 w 6858000"/>
              <a:gd name="connsiteY5" fmla="*/ 48625 h 5791331"/>
              <a:gd name="connsiteX6" fmla="*/ 6643031 w 6858000"/>
              <a:gd name="connsiteY6" fmla="*/ 15010 h 5791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0" h="5791331">
                <a:moveTo>
                  <a:pt x="6858000" y="14535"/>
                </a:moveTo>
                <a:lnTo>
                  <a:pt x="6858000" y="5791331"/>
                </a:lnTo>
                <a:lnTo>
                  <a:pt x="0" y="5791330"/>
                </a:lnTo>
                <a:lnTo>
                  <a:pt x="0" y="0"/>
                </a:lnTo>
                <a:lnTo>
                  <a:pt x="145832" y="1175"/>
                </a:lnTo>
                <a:cubicBezTo>
                  <a:pt x="886907" y="14750"/>
                  <a:pt x="2228596" y="125101"/>
                  <a:pt x="2611132" y="48625"/>
                </a:cubicBezTo>
                <a:cubicBezTo>
                  <a:pt x="2933352" y="-3056"/>
                  <a:pt x="5032814" y="16325"/>
                  <a:pt x="6643031" y="15010"/>
                </a:cubicBezTo>
                <a:close/>
              </a:path>
            </a:pathLst>
          </a:cu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pic>
        <p:nvPicPr>
          <p:cNvPr id="6" name="Picture Placeholder 5" descr="A screenshot of a computer code&#10;&#10;AI-generated content may be incorrect.">
            <a:extLst>
              <a:ext uri="{FF2B5EF4-FFF2-40B4-BE49-F238E27FC236}">
                <a16:creationId xmlns:a16="http://schemas.microsoft.com/office/drawing/2014/main" id="{28111A7F-1481-2CD4-1605-4E7056E8529F}"/>
              </a:ext>
            </a:extLst>
          </p:cNvPr>
          <p:cNvPicPr>
            <a:picLocks noGrp="1" noChangeAspect="1"/>
          </p:cNvPicPr>
          <p:nvPr>
            <p:ph type="pic" idx="1"/>
          </p:nvPr>
        </p:nvPicPr>
        <p:blipFill>
          <a:blip r:embed="rId2"/>
          <a:srcRect t="13418" b="13418"/>
          <a:stretch/>
        </p:blipFill>
        <p:spPr>
          <a:xfrm>
            <a:off x="7176162" y="1865332"/>
            <a:ext cx="4284000" cy="3118673"/>
          </a:xfrm>
          <a:custGeom>
            <a:avLst/>
            <a:gdLst/>
            <a:ahLst/>
            <a:cxnLst/>
            <a:rect l="l" t="t" r="r" b="b"/>
            <a:pathLst>
              <a:path w="4284000" h="5409338">
                <a:moveTo>
                  <a:pt x="0" y="0"/>
                </a:moveTo>
                <a:lnTo>
                  <a:pt x="4284000" y="0"/>
                </a:lnTo>
                <a:lnTo>
                  <a:pt x="4284000" y="5409338"/>
                </a:lnTo>
                <a:lnTo>
                  <a:pt x="0" y="5409338"/>
                </a:lnTo>
                <a:close/>
              </a:path>
            </a:pathLst>
          </a:custGeom>
        </p:spPr>
      </p:pic>
    </p:spTree>
    <p:extLst>
      <p:ext uri="{BB962C8B-B14F-4D97-AF65-F5344CB8AC3E}">
        <p14:creationId xmlns:p14="http://schemas.microsoft.com/office/powerpoint/2010/main" val="36159655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9646535-AEF6-4883-A4F9-EEC1F8B43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2A3E2477-CB24-4FE6-B9C0-F9800FF83E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965638C-2268-4A1B-96C3-95E79EF44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5B37A0-1169-688E-534E-8382DC52CE04}"/>
              </a:ext>
            </a:extLst>
          </p:cNvPr>
          <p:cNvSpPr>
            <a:spLocks noGrp="1"/>
          </p:cNvSpPr>
          <p:nvPr>
            <p:ph type="title"/>
          </p:nvPr>
        </p:nvSpPr>
        <p:spPr>
          <a:xfrm>
            <a:off x="720000" y="619200"/>
            <a:ext cx="4991961" cy="1477328"/>
          </a:xfrm>
        </p:spPr>
        <p:txBody>
          <a:bodyPr vert="horz" wrap="square" lIns="0" tIns="0" rIns="0" bIns="0" rtlCol="0" anchor="ctr" anchorCtr="0">
            <a:normAutofit/>
          </a:bodyPr>
          <a:lstStyle/>
          <a:p>
            <a:pPr>
              <a:lnSpc>
                <a:spcPct val="100000"/>
              </a:lnSpc>
            </a:pPr>
            <a:r>
              <a:rPr lang="en-US" sz="3200"/>
              <a:t>Implementation - Controller</a:t>
            </a:r>
          </a:p>
        </p:txBody>
      </p:sp>
      <p:sp>
        <p:nvSpPr>
          <p:cNvPr id="4" name="Text Placeholder 3">
            <a:extLst>
              <a:ext uri="{FF2B5EF4-FFF2-40B4-BE49-F238E27FC236}">
                <a16:creationId xmlns:a16="http://schemas.microsoft.com/office/drawing/2014/main" id="{8B6B7280-C3E5-9B91-D015-2DB8BABD977E}"/>
              </a:ext>
            </a:extLst>
          </p:cNvPr>
          <p:cNvSpPr>
            <a:spLocks noGrp="1"/>
          </p:cNvSpPr>
          <p:nvPr>
            <p:ph type="body" sz="half" idx="2"/>
          </p:nvPr>
        </p:nvSpPr>
        <p:spPr>
          <a:xfrm>
            <a:off x="720000" y="2541600"/>
            <a:ext cx="4991962" cy="3216273"/>
          </a:xfrm>
        </p:spPr>
        <p:txBody>
          <a:bodyPr vert="horz" lIns="0" tIns="0" rIns="0" bIns="0" rtlCol="0">
            <a:normAutofit/>
          </a:bodyPr>
          <a:lstStyle/>
          <a:p>
            <a:pPr indent="-228600">
              <a:buFont typeface="The Hand Extrablack" panose="03070A02030502020204" pitchFamily="66" charset="0"/>
              <a:buChar char="•"/>
            </a:pPr>
            <a:r>
              <a:rPr lang="en-US" b="1" dirty="0"/>
              <a:t>Return data types:</a:t>
            </a:r>
          </a:p>
          <a:p>
            <a:pPr lvl="1" indent="-228600">
              <a:buFont typeface="The Hand Extrablack" panose="03070A02030502020204" pitchFamily="66" charset="0"/>
              <a:buChar char="•"/>
            </a:pPr>
            <a:r>
              <a:rPr lang="en-US" sz="2000" dirty="0" err="1"/>
              <a:t>RedirectResult</a:t>
            </a:r>
            <a:r>
              <a:rPr lang="en-US" sz="2000" dirty="0">
                <a:sym typeface="Wingdings" panose="05000000000000000000" pitchFamily="2" charset="2"/>
              </a:rPr>
              <a:t>  </a:t>
            </a:r>
            <a:r>
              <a:rPr lang="en-US" sz="2000" dirty="0"/>
              <a:t>return View();</a:t>
            </a:r>
          </a:p>
          <a:p>
            <a:pPr lvl="1" indent="-228600">
              <a:buFont typeface="The Hand Extrablack" panose="03070A02030502020204" pitchFamily="66" charset="0"/>
              <a:buChar char="•"/>
            </a:pPr>
            <a:r>
              <a:rPr lang="en-US" sz="2000" dirty="0" err="1"/>
              <a:t>NotFoundResult</a:t>
            </a:r>
            <a:endParaRPr lang="en-US" sz="2000" dirty="0"/>
          </a:p>
          <a:p>
            <a:pPr lvl="1" indent="-228600">
              <a:buFont typeface="The Hand Extrablack" panose="03070A02030502020204" pitchFamily="66" charset="0"/>
              <a:buChar char="•"/>
            </a:pPr>
            <a:r>
              <a:rPr lang="en-US" sz="2000" dirty="0" err="1"/>
              <a:t>RedirectToAction</a:t>
            </a:r>
            <a:endParaRPr lang="en-US" sz="2000" dirty="0"/>
          </a:p>
          <a:p>
            <a:pPr lvl="1" indent="-228600">
              <a:buFont typeface="The Hand Extrablack" panose="03070A02030502020204" pitchFamily="66" charset="0"/>
              <a:buChar char="•"/>
            </a:pPr>
            <a:r>
              <a:rPr lang="en-US" sz="2000" dirty="0"/>
              <a:t>String</a:t>
            </a:r>
          </a:p>
          <a:p>
            <a:pPr lvl="1" indent="-228600">
              <a:buFont typeface="The Hand Extrablack" panose="03070A02030502020204" pitchFamily="66" charset="0"/>
              <a:buChar char="•"/>
            </a:pPr>
            <a:r>
              <a:rPr lang="en-US" sz="2000" dirty="0"/>
              <a:t>Int</a:t>
            </a:r>
          </a:p>
          <a:p>
            <a:pPr lvl="1" indent="-228600">
              <a:buFont typeface="The Hand Extrablack" panose="03070A02030502020204" pitchFamily="66" charset="0"/>
              <a:buChar char="•"/>
            </a:pPr>
            <a:r>
              <a:rPr lang="en-US" sz="2000" dirty="0"/>
              <a:t>…</a:t>
            </a:r>
          </a:p>
          <a:p>
            <a:pPr indent="-228600">
              <a:buFont typeface="The Hand Extrablack" panose="03070A02030502020204" pitchFamily="66" charset="0"/>
              <a:buChar char="•"/>
            </a:pPr>
            <a:endParaRPr lang="en-US" dirty="0"/>
          </a:p>
        </p:txBody>
      </p:sp>
      <p:sp useBgFill="1">
        <p:nvSpPr>
          <p:cNvPr id="17" name="Freeform: Shape 16">
            <a:extLst>
              <a:ext uri="{FF2B5EF4-FFF2-40B4-BE49-F238E27FC236}">
                <a16:creationId xmlns:a16="http://schemas.microsoft.com/office/drawing/2014/main" id="{97D0825D-5142-4F4A-A141-3CCD5E99C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5867335" y="533334"/>
            <a:ext cx="6858000" cy="5791331"/>
          </a:xfrm>
          <a:custGeom>
            <a:avLst/>
            <a:gdLst>
              <a:gd name="connsiteX0" fmla="*/ 6858000 w 6858000"/>
              <a:gd name="connsiteY0" fmla="*/ 14535 h 5791331"/>
              <a:gd name="connsiteX1" fmla="*/ 6858000 w 6858000"/>
              <a:gd name="connsiteY1" fmla="*/ 5791331 h 5791331"/>
              <a:gd name="connsiteX2" fmla="*/ 0 w 6858000"/>
              <a:gd name="connsiteY2" fmla="*/ 5791330 h 5791331"/>
              <a:gd name="connsiteX3" fmla="*/ 0 w 6858000"/>
              <a:gd name="connsiteY3" fmla="*/ 0 h 5791331"/>
              <a:gd name="connsiteX4" fmla="*/ 145832 w 6858000"/>
              <a:gd name="connsiteY4" fmla="*/ 1175 h 5791331"/>
              <a:gd name="connsiteX5" fmla="*/ 2611132 w 6858000"/>
              <a:gd name="connsiteY5" fmla="*/ 48625 h 5791331"/>
              <a:gd name="connsiteX6" fmla="*/ 6643031 w 6858000"/>
              <a:gd name="connsiteY6" fmla="*/ 15010 h 5791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0" h="5791331">
                <a:moveTo>
                  <a:pt x="6858000" y="14535"/>
                </a:moveTo>
                <a:lnTo>
                  <a:pt x="6858000" y="5791331"/>
                </a:lnTo>
                <a:lnTo>
                  <a:pt x="0" y="5791330"/>
                </a:lnTo>
                <a:lnTo>
                  <a:pt x="0" y="0"/>
                </a:lnTo>
                <a:lnTo>
                  <a:pt x="145832" y="1175"/>
                </a:lnTo>
                <a:cubicBezTo>
                  <a:pt x="886907" y="14750"/>
                  <a:pt x="2228596" y="125101"/>
                  <a:pt x="2611132" y="48625"/>
                </a:cubicBezTo>
                <a:cubicBezTo>
                  <a:pt x="2933352" y="-3056"/>
                  <a:pt x="5032814" y="16325"/>
                  <a:pt x="6643031" y="15010"/>
                </a:cubicBezTo>
                <a:close/>
              </a:path>
            </a:pathLst>
          </a:cu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pic>
        <p:nvPicPr>
          <p:cNvPr id="6" name="Picture Placeholder 5" descr="A screen shot of a computer code&#10;&#10;AI-generated content may be incorrect.">
            <a:extLst>
              <a:ext uri="{FF2B5EF4-FFF2-40B4-BE49-F238E27FC236}">
                <a16:creationId xmlns:a16="http://schemas.microsoft.com/office/drawing/2014/main" id="{7D4844C3-59ED-D317-99BF-1ABEB16EBA02}"/>
              </a:ext>
            </a:extLst>
          </p:cNvPr>
          <p:cNvPicPr>
            <a:picLocks noGrp="1" noChangeAspect="1"/>
          </p:cNvPicPr>
          <p:nvPr>
            <p:ph type="pic" idx="1"/>
          </p:nvPr>
        </p:nvPicPr>
        <p:blipFill>
          <a:blip r:embed="rId2"/>
          <a:srcRect t="7038" b="7038"/>
          <a:stretch/>
        </p:blipFill>
        <p:spPr>
          <a:xfrm>
            <a:off x="7176162" y="1864851"/>
            <a:ext cx="4284000" cy="3119635"/>
          </a:xfrm>
          <a:custGeom>
            <a:avLst/>
            <a:gdLst/>
            <a:ahLst/>
            <a:cxnLst/>
            <a:rect l="l" t="t" r="r" b="b"/>
            <a:pathLst>
              <a:path w="4284000" h="5409338">
                <a:moveTo>
                  <a:pt x="0" y="0"/>
                </a:moveTo>
                <a:lnTo>
                  <a:pt x="4284000" y="0"/>
                </a:lnTo>
                <a:lnTo>
                  <a:pt x="4284000" y="5409338"/>
                </a:lnTo>
                <a:lnTo>
                  <a:pt x="0" y="5409338"/>
                </a:lnTo>
                <a:close/>
              </a:path>
            </a:pathLst>
          </a:custGeom>
        </p:spPr>
      </p:pic>
    </p:spTree>
    <p:extLst>
      <p:ext uri="{BB962C8B-B14F-4D97-AF65-F5344CB8AC3E}">
        <p14:creationId xmlns:p14="http://schemas.microsoft.com/office/powerpoint/2010/main" val="16242036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9646535-AEF6-4883-A4F9-EEC1F8B43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2A3E2477-CB24-4FE6-B9C0-F9800FF83E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965638C-2268-4A1B-96C3-95E79EF44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313DD0-D2E6-0DB3-8BF4-B1A47864366F}"/>
              </a:ext>
            </a:extLst>
          </p:cNvPr>
          <p:cNvSpPr>
            <a:spLocks noGrp="1"/>
          </p:cNvSpPr>
          <p:nvPr>
            <p:ph type="title"/>
          </p:nvPr>
        </p:nvSpPr>
        <p:spPr>
          <a:xfrm>
            <a:off x="720000" y="619200"/>
            <a:ext cx="4991961" cy="1477328"/>
          </a:xfrm>
        </p:spPr>
        <p:txBody>
          <a:bodyPr vert="horz" wrap="square" lIns="0" tIns="0" rIns="0" bIns="0" rtlCol="0" anchor="ctr" anchorCtr="0">
            <a:normAutofit/>
          </a:bodyPr>
          <a:lstStyle/>
          <a:p>
            <a:pPr>
              <a:lnSpc>
                <a:spcPct val="100000"/>
              </a:lnSpc>
            </a:pPr>
            <a:r>
              <a:rPr lang="en-US" sz="3200"/>
              <a:t>Implementation - Controller</a:t>
            </a:r>
          </a:p>
        </p:txBody>
      </p:sp>
      <p:sp>
        <p:nvSpPr>
          <p:cNvPr id="4" name="Text Placeholder 3">
            <a:extLst>
              <a:ext uri="{FF2B5EF4-FFF2-40B4-BE49-F238E27FC236}">
                <a16:creationId xmlns:a16="http://schemas.microsoft.com/office/drawing/2014/main" id="{DA07DA83-59A6-2898-4C20-06DF029136A4}"/>
              </a:ext>
            </a:extLst>
          </p:cNvPr>
          <p:cNvSpPr>
            <a:spLocks noGrp="1"/>
          </p:cNvSpPr>
          <p:nvPr>
            <p:ph type="body" sz="half" idx="2"/>
          </p:nvPr>
        </p:nvSpPr>
        <p:spPr>
          <a:xfrm>
            <a:off x="720000" y="2541600"/>
            <a:ext cx="4991962" cy="3216273"/>
          </a:xfrm>
        </p:spPr>
        <p:txBody>
          <a:bodyPr vert="horz" lIns="0" tIns="0" rIns="0" bIns="0" rtlCol="0">
            <a:normAutofit/>
          </a:bodyPr>
          <a:lstStyle/>
          <a:p>
            <a:pPr indent="-228600">
              <a:buFont typeface="The Hand Extrablack" panose="03070A02030502020204" pitchFamily="66" charset="0"/>
              <a:buChar char="•"/>
            </a:pPr>
            <a:r>
              <a:rPr lang="en-US" b="1" dirty="0"/>
              <a:t>Action Selectors: </a:t>
            </a:r>
            <a:r>
              <a:rPr lang="en-US" dirty="0"/>
              <a:t>it helps routing engine to select right action. </a:t>
            </a:r>
          </a:p>
          <a:p>
            <a:pPr lvl="1" indent="-228600">
              <a:buFont typeface="The Hand Extrablack" panose="03070A02030502020204" pitchFamily="66" charset="0"/>
              <a:buChar char="•"/>
            </a:pPr>
            <a:r>
              <a:rPr lang="en-US" sz="2000" dirty="0"/>
              <a:t>[</a:t>
            </a:r>
            <a:r>
              <a:rPr lang="en-US" sz="2000" dirty="0" err="1"/>
              <a:t>ActionName</a:t>
            </a:r>
            <a:r>
              <a:rPr lang="en-US" sz="2000" dirty="0"/>
              <a:t>(“</a:t>
            </a:r>
            <a:r>
              <a:rPr lang="en-US" sz="2000" dirty="0" err="1"/>
              <a:t>xyz</a:t>
            </a:r>
            <a:r>
              <a:rPr lang="en-US" sz="2000" dirty="0"/>
              <a:t>”)] -&gt; It has priority in execution.</a:t>
            </a:r>
          </a:p>
          <a:p>
            <a:pPr lvl="1" indent="-228600">
              <a:buFont typeface="The Hand Extrablack" panose="03070A02030502020204" pitchFamily="66" charset="0"/>
              <a:buChar char="•"/>
            </a:pPr>
            <a:r>
              <a:rPr lang="en-US" sz="2000" dirty="0"/>
              <a:t>[</a:t>
            </a:r>
            <a:r>
              <a:rPr lang="en-US" sz="2000" dirty="0" err="1"/>
              <a:t>NonAction</a:t>
            </a:r>
            <a:r>
              <a:rPr lang="en-US" sz="2000" dirty="0"/>
              <a:t>] -&gt; routing engine Treats it like it's private.</a:t>
            </a:r>
          </a:p>
          <a:p>
            <a:pPr indent="-228600">
              <a:buFont typeface="The Hand Extrablack" panose="03070A02030502020204" pitchFamily="66" charset="0"/>
              <a:buChar char="•"/>
            </a:pPr>
            <a:endParaRPr lang="en-US" dirty="0"/>
          </a:p>
        </p:txBody>
      </p:sp>
      <p:sp useBgFill="1">
        <p:nvSpPr>
          <p:cNvPr id="17" name="Freeform: Shape 16">
            <a:extLst>
              <a:ext uri="{FF2B5EF4-FFF2-40B4-BE49-F238E27FC236}">
                <a16:creationId xmlns:a16="http://schemas.microsoft.com/office/drawing/2014/main" id="{97D0825D-5142-4F4A-A141-3CCD5E99C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5867335" y="533334"/>
            <a:ext cx="6858000" cy="5791331"/>
          </a:xfrm>
          <a:custGeom>
            <a:avLst/>
            <a:gdLst>
              <a:gd name="connsiteX0" fmla="*/ 6858000 w 6858000"/>
              <a:gd name="connsiteY0" fmla="*/ 14535 h 5791331"/>
              <a:gd name="connsiteX1" fmla="*/ 6858000 w 6858000"/>
              <a:gd name="connsiteY1" fmla="*/ 5791331 h 5791331"/>
              <a:gd name="connsiteX2" fmla="*/ 0 w 6858000"/>
              <a:gd name="connsiteY2" fmla="*/ 5791330 h 5791331"/>
              <a:gd name="connsiteX3" fmla="*/ 0 w 6858000"/>
              <a:gd name="connsiteY3" fmla="*/ 0 h 5791331"/>
              <a:gd name="connsiteX4" fmla="*/ 145832 w 6858000"/>
              <a:gd name="connsiteY4" fmla="*/ 1175 h 5791331"/>
              <a:gd name="connsiteX5" fmla="*/ 2611132 w 6858000"/>
              <a:gd name="connsiteY5" fmla="*/ 48625 h 5791331"/>
              <a:gd name="connsiteX6" fmla="*/ 6643031 w 6858000"/>
              <a:gd name="connsiteY6" fmla="*/ 15010 h 5791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0" h="5791331">
                <a:moveTo>
                  <a:pt x="6858000" y="14535"/>
                </a:moveTo>
                <a:lnTo>
                  <a:pt x="6858000" y="5791331"/>
                </a:lnTo>
                <a:lnTo>
                  <a:pt x="0" y="5791330"/>
                </a:lnTo>
                <a:lnTo>
                  <a:pt x="0" y="0"/>
                </a:lnTo>
                <a:lnTo>
                  <a:pt x="145832" y="1175"/>
                </a:lnTo>
                <a:cubicBezTo>
                  <a:pt x="886907" y="14750"/>
                  <a:pt x="2228596" y="125101"/>
                  <a:pt x="2611132" y="48625"/>
                </a:cubicBezTo>
                <a:cubicBezTo>
                  <a:pt x="2933352" y="-3056"/>
                  <a:pt x="5032814" y="16325"/>
                  <a:pt x="6643031" y="15010"/>
                </a:cubicBezTo>
                <a:close/>
              </a:path>
            </a:pathLst>
          </a:cu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pic>
        <p:nvPicPr>
          <p:cNvPr id="6" name="Picture Placeholder 5" descr="A screenshot of a computer code&#10;&#10;AI-generated content may be incorrect.">
            <a:extLst>
              <a:ext uri="{FF2B5EF4-FFF2-40B4-BE49-F238E27FC236}">
                <a16:creationId xmlns:a16="http://schemas.microsoft.com/office/drawing/2014/main" id="{6694E73E-B8F0-03C3-1342-4EE7BED71530}"/>
              </a:ext>
            </a:extLst>
          </p:cNvPr>
          <p:cNvPicPr>
            <a:picLocks noGrp="1" noChangeAspect="1"/>
          </p:cNvPicPr>
          <p:nvPr>
            <p:ph type="pic" idx="1"/>
          </p:nvPr>
        </p:nvPicPr>
        <p:blipFill>
          <a:blip r:embed="rId2"/>
          <a:srcRect l="4295" r="4295"/>
          <a:stretch/>
        </p:blipFill>
        <p:spPr>
          <a:xfrm>
            <a:off x="7176162" y="1865213"/>
            <a:ext cx="4284000" cy="3118912"/>
          </a:xfrm>
          <a:custGeom>
            <a:avLst/>
            <a:gdLst/>
            <a:ahLst/>
            <a:cxnLst/>
            <a:rect l="l" t="t" r="r" b="b"/>
            <a:pathLst>
              <a:path w="4284000" h="5409338">
                <a:moveTo>
                  <a:pt x="0" y="0"/>
                </a:moveTo>
                <a:lnTo>
                  <a:pt x="4284000" y="0"/>
                </a:lnTo>
                <a:lnTo>
                  <a:pt x="4284000" y="5409338"/>
                </a:lnTo>
                <a:lnTo>
                  <a:pt x="0" y="5409338"/>
                </a:lnTo>
                <a:close/>
              </a:path>
            </a:pathLst>
          </a:custGeom>
        </p:spPr>
      </p:pic>
    </p:spTree>
    <p:extLst>
      <p:ext uri="{BB962C8B-B14F-4D97-AF65-F5344CB8AC3E}">
        <p14:creationId xmlns:p14="http://schemas.microsoft.com/office/powerpoint/2010/main" val="34389222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035C7-7006-976F-27A8-A6F03490375E}"/>
              </a:ext>
            </a:extLst>
          </p:cNvPr>
          <p:cNvSpPr>
            <a:spLocks noGrp="1"/>
          </p:cNvSpPr>
          <p:nvPr>
            <p:ph type="title"/>
          </p:nvPr>
        </p:nvSpPr>
        <p:spPr/>
        <p:txBody>
          <a:bodyPr/>
          <a:lstStyle/>
          <a:p>
            <a:r>
              <a:rPr lang="en-US" dirty="0"/>
              <a:t>Implementation - Controller</a:t>
            </a:r>
          </a:p>
        </p:txBody>
      </p:sp>
      <p:sp>
        <p:nvSpPr>
          <p:cNvPr id="3" name="Content Placeholder 2">
            <a:extLst>
              <a:ext uri="{FF2B5EF4-FFF2-40B4-BE49-F238E27FC236}">
                <a16:creationId xmlns:a16="http://schemas.microsoft.com/office/drawing/2014/main" id="{FE3D74F4-D9D0-A500-EB8A-1588A36D203C}"/>
              </a:ext>
            </a:extLst>
          </p:cNvPr>
          <p:cNvSpPr>
            <a:spLocks noGrp="1"/>
          </p:cNvSpPr>
          <p:nvPr>
            <p:ph idx="1"/>
          </p:nvPr>
        </p:nvSpPr>
        <p:spPr/>
        <p:txBody>
          <a:bodyPr/>
          <a:lstStyle/>
          <a:p>
            <a:r>
              <a:rPr lang="en-US" b="1" dirty="0"/>
              <a:t>Action Verbs:</a:t>
            </a:r>
          </a:p>
          <a:p>
            <a:pPr lvl="1"/>
            <a:r>
              <a:rPr lang="en-US" b="1" dirty="0"/>
              <a:t>[</a:t>
            </a:r>
            <a:r>
              <a:rPr lang="en-US" b="1" dirty="0" err="1"/>
              <a:t>HttpGet</a:t>
            </a:r>
            <a:r>
              <a:rPr lang="en-US" b="1" dirty="0"/>
              <a:t>] -&gt; Send data from controller to view.</a:t>
            </a:r>
          </a:p>
          <a:p>
            <a:pPr lvl="1"/>
            <a:r>
              <a:rPr lang="en-US" b="1" dirty="0"/>
              <a:t>[</a:t>
            </a:r>
            <a:r>
              <a:rPr lang="en-US" b="1" dirty="0" err="1"/>
              <a:t>HttpPost</a:t>
            </a:r>
            <a:r>
              <a:rPr lang="en-US" b="1" dirty="0"/>
              <a:t>] -&gt; Send data from view to controller.</a:t>
            </a:r>
          </a:p>
          <a:p>
            <a:pPr lvl="1"/>
            <a:r>
              <a:rPr lang="en-US" b="1" dirty="0"/>
              <a:t>[</a:t>
            </a:r>
            <a:r>
              <a:rPr lang="en-US" b="1" dirty="0" err="1"/>
              <a:t>HttpDelete</a:t>
            </a:r>
            <a:r>
              <a:rPr lang="en-US" b="1" dirty="0"/>
              <a:t>]</a:t>
            </a:r>
          </a:p>
          <a:p>
            <a:pPr lvl="1"/>
            <a:r>
              <a:rPr lang="en-US" b="1" dirty="0"/>
              <a:t>[</a:t>
            </a:r>
            <a:r>
              <a:rPr lang="en-US" b="1" dirty="0" err="1"/>
              <a:t>HttpHead</a:t>
            </a:r>
            <a:r>
              <a:rPr lang="en-US" b="1" dirty="0"/>
              <a:t>]</a:t>
            </a:r>
          </a:p>
          <a:p>
            <a:pPr lvl="1"/>
            <a:r>
              <a:rPr lang="en-US" b="1" dirty="0"/>
              <a:t>[</a:t>
            </a:r>
            <a:r>
              <a:rPr lang="en-US" b="1" dirty="0" err="1"/>
              <a:t>HttpPatch</a:t>
            </a:r>
            <a:r>
              <a:rPr lang="en-US" b="1" dirty="0"/>
              <a:t>]</a:t>
            </a:r>
          </a:p>
          <a:p>
            <a:pPr lvl="1"/>
            <a:r>
              <a:rPr lang="en-US" b="1" dirty="0"/>
              <a:t>[</a:t>
            </a:r>
            <a:r>
              <a:rPr lang="en-US" b="1" dirty="0" err="1"/>
              <a:t>HttpPut</a:t>
            </a:r>
            <a:r>
              <a:rPr lang="en-US" b="1" dirty="0"/>
              <a:t>]</a:t>
            </a:r>
          </a:p>
          <a:p>
            <a:endParaRPr lang="en-US" dirty="0"/>
          </a:p>
        </p:txBody>
      </p:sp>
    </p:spTree>
    <p:extLst>
      <p:ext uri="{BB962C8B-B14F-4D97-AF65-F5344CB8AC3E}">
        <p14:creationId xmlns:p14="http://schemas.microsoft.com/office/powerpoint/2010/main" val="28004021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09646535-AEF6-4883-A4F9-EEC1F8B43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9" name="Rectangle 28">
            <a:extLst>
              <a:ext uri="{FF2B5EF4-FFF2-40B4-BE49-F238E27FC236}">
                <a16:creationId xmlns:a16="http://schemas.microsoft.com/office/drawing/2014/main" id="{F041B363-D879-40A7-A123-DCDA37D264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2C3978AB-02AE-405C-A744-F36CCF7A0B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F27AB860-D126-46FD-B6C9-CE29A5980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06438" y="620696"/>
            <a:ext cx="2185562" cy="2940332"/>
          </a:xfrm>
          <a:custGeom>
            <a:avLst/>
            <a:gdLst>
              <a:gd name="connsiteX0" fmla="*/ 1230525 w 2185562"/>
              <a:gd name="connsiteY0" fmla="*/ 379 h 2940332"/>
              <a:gd name="connsiteX1" fmla="*/ 1315513 w 2185562"/>
              <a:gd name="connsiteY1" fmla="*/ 16329 h 2940332"/>
              <a:gd name="connsiteX2" fmla="*/ 1376840 w 2185562"/>
              <a:gd name="connsiteY2" fmla="*/ 33387 h 2940332"/>
              <a:gd name="connsiteX3" fmla="*/ 1464244 w 2185562"/>
              <a:gd name="connsiteY3" fmla="*/ 71368 h 2940332"/>
              <a:gd name="connsiteX4" fmla="*/ 1552782 w 2185562"/>
              <a:gd name="connsiteY4" fmla="*/ 228136 h 2940332"/>
              <a:gd name="connsiteX5" fmla="*/ 1651317 w 2185562"/>
              <a:gd name="connsiteY5" fmla="*/ 692980 h 2940332"/>
              <a:gd name="connsiteX6" fmla="*/ 1650852 w 2185562"/>
              <a:gd name="connsiteY6" fmla="*/ 1014093 h 2940332"/>
              <a:gd name="connsiteX7" fmla="*/ 1875547 w 2185562"/>
              <a:gd name="connsiteY7" fmla="*/ 894326 h 2940332"/>
              <a:gd name="connsiteX8" fmla="*/ 2170742 w 2185562"/>
              <a:gd name="connsiteY8" fmla="*/ 766829 h 2940332"/>
              <a:gd name="connsiteX9" fmla="*/ 2185562 w 2185562"/>
              <a:gd name="connsiteY9" fmla="*/ 761762 h 2940332"/>
              <a:gd name="connsiteX10" fmla="*/ 2185562 w 2185562"/>
              <a:gd name="connsiteY10" fmla="*/ 1466652 h 2940332"/>
              <a:gd name="connsiteX11" fmla="*/ 2095141 w 2185562"/>
              <a:gd name="connsiteY11" fmla="*/ 1509214 h 2940332"/>
              <a:gd name="connsiteX12" fmla="*/ 1962022 w 2185562"/>
              <a:gd name="connsiteY12" fmla="*/ 1574533 h 2940332"/>
              <a:gd name="connsiteX13" fmla="*/ 2183823 w 2185562"/>
              <a:gd name="connsiteY13" fmla="*/ 1711999 h 2940332"/>
              <a:gd name="connsiteX14" fmla="*/ 2185562 w 2185562"/>
              <a:gd name="connsiteY14" fmla="*/ 1713076 h 2940332"/>
              <a:gd name="connsiteX15" fmla="*/ 2185562 w 2185562"/>
              <a:gd name="connsiteY15" fmla="*/ 2407762 h 2940332"/>
              <a:gd name="connsiteX16" fmla="*/ 2136229 w 2185562"/>
              <a:gd name="connsiteY16" fmla="*/ 2404166 h 2940332"/>
              <a:gd name="connsiteX17" fmla="*/ 2024842 w 2185562"/>
              <a:gd name="connsiteY17" fmla="*/ 2364355 h 2940332"/>
              <a:gd name="connsiteX18" fmla="*/ 1590554 w 2185562"/>
              <a:gd name="connsiteY18" fmla="*/ 2090912 h 2940332"/>
              <a:gd name="connsiteX19" fmla="*/ 1630648 w 2185562"/>
              <a:gd name="connsiteY19" fmla="*/ 2348122 h 2940332"/>
              <a:gd name="connsiteX20" fmla="*/ 1621010 w 2185562"/>
              <a:gd name="connsiteY20" fmla="*/ 2694023 h 2940332"/>
              <a:gd name="connsiteX21" fmla="*/ 1555508 w 2185562"/>
              <a:gd name="connsiteY21" fmla="*/ 2855791 h 2940332"/>
              <a:gd name="connsiteX22" fmla="*/ 1326948 w 2185562"/>
              <a:gd name="connsiteY22" fmla="*/ 2940308 h 2940332"/>
              <a:gd name="connsiteX23" fmla="*/ 1055563 w 2185562"/>
              <a:gd name="connsiteY23" fmla="*/ 2851153 h 2940332"/>
              <a:gd name="connsiteX24" fmla="*/ 981352 w 2185562"/>
              <a:gd name="connsiteY24" fmla="*/ 2716596 h 2940332"/>
              <a:gd name="connsiteX25" fmla="*/ 930127 w 2185562"/>
              <a:gd name="connsiteY25" fmla="*/ 2032524 h 2940332"/>
              <a:gd name="connsiteX26" fmla="*/ 609989 w 2185562"/>
              <a:gd name="connsiteY26" fmla="*/ 2257885 h 2940332"/>
              <a:gd name="connsiteX27" fmla="*/ 361794 w 2185562"/>
              <a:gd name="connsiteY27" fmla="*/ 2380229 h 2940332"/>
              <a:gd name="connsiteX28" fmla="*/ 172659 w 2185562"/>
              <a:gd name="connsiteY28" fmla="*/ 2282056 h 2940332"/>
              <a:gd name="connsiteX29" fmla="*/ 20218 w 2185562"/>
              <a:gd name="connsiteY29" fmla="*/ 2084729 h 2940332"/>
              <a:gd name="connsiteX30" fmla="*/ 81854 w 2185562"/>
              <a:gd name="connsiteY30" fmla="*/ 1887712 h 2940332"/>
              <a:gd name="connsiteX31" fmla="*/ 156375 w 2185562"/>
              <a:gd name="connsiteY31" fmla="*/ 1808193 h 2940332"/>
              <a:gd name="connsiteX32" fmla="*/ 398128 w 2185562"/>
              <a:gd name="connsiteY32" fmla="*/ 1627100 h 2940332"/>
              <a:gd name="connsiteX33" fmla="*/ 654208 w 2185562"/>
              <a:gd name="connsiteY33" fmla="*/ 1468218 h 2940332"/>
              <a:gd name="connsiteX34" fmla="*/ 200439 w 2185562"/>
              <a:gd name="connsiteY34" fmla="*/ 1125564 h 2940332"/>
              <a:gd name="connsiteX35" fmla="*/ 6305 w 2185562"/>
              <a:gd name="connsiteY35" fmla="*/ 873353 h 2940332"/>
              <a:gd name="connsiteX36" fmla="*/ 77116 w 2185562"/>
              <a:gd name="connsiteY36" fmla="*/ 651547 h 2940332"/>
              <a:gd name="connsiteX37" fmla="*/ 241772 w 2185562"/>
              <a:gd name="connsiteY37" fmla="*/ 526472 h 2940332"/>
              <a:gd name="connsiteX38" fmla="*/ 526195 w 2185562"/>
              <a:gd name="connsiteY38" fmla="*/ 626089 h 2940332"/>
              <a:gd name="connsiteX39" fmla="*/ 1079118 w 2185562"/>
              <a:gd name="connsiteY39" fmla="*/ 1005436 h 2940332"/>
              <a:gd name="connsiteX40" fmla="*/ 989912 w 2185562"/>
              <a:gd name="connsiteY40" fmla="*/ 408766 h 2940332"/>
              <a:gd name="connsiteX41" fmla="*/ 1025626 w 2185562"/>
              <a:gd name="connsiteY41" fmla="*/ 83788 h 2940332"/>
              <a:gd name="connsiteX42" fmla="*/ 1148435 w 2185562"/>
              <a:gd name="connsiteY42" fmla="*/ 10866 h 2940332"/>
              <a:gd name="connsiteX43" fmla="*/ 1230525 w 2185562"/>
              <a:gd name="connsiteY43" fmla="*/ 379 h 2940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185562" h="2940332">
                <a:moveTo>
                  <a:pt x="1230525" y="379"/>
                </a:moveTo>
                <a:cubicBezTo>
                  <a:pt x="1257445" y="1886"/>
                  <a:pt x="1284849" y="7800"/>
                  <a:pt x="1315513" y="16329"/>
                </a:cubicBezTo>
                <a:cubicBezTo>
                  <a:pt x="1327263" y="15040"/>
                  <a:pt x="1352052" y="24214"/>
                  <a:pt x="1376840" y="33387"/>
                </a:cubicBezTo>
                <a:cubicBezTo>
                  <a:pt x="1413379" y="41271"/>
                  <a:pt x="1449918" y="49156"/>
                  <a:pt x="1464244" y="71368"/>
                </a:cubicBezTo>
                <a:cubicBezTo>
                  <a:pt x="1502071" y="91002"/>
                  <a:pt x="1532013" y="147175"/>
                  <a:pt x="1552782" y="228136"/>
                </a:cubicBezTo>
                <a:cubicBezTo>
                  <a:pt x="1584012" y="296059"/>
                  <a:pt x="1613799" y="459270"/>
                  <a:pt x="1651317" y="692980"/>
                </a:cubicBezTo>
                <a:cubicBezTo>
                  <a:pt x="1678527" y="832691"/>
                  <a:pt x="1649564" y="1002343"/>
                  <a:pt x="1650852" y="1014093"/>
                </a:cubicBezTo>
                <a:cubicBezTo>
                  <a:pt x="1684814" y="998478"/>
                  <a:pt x="1797162" y="938595"/>
                  <a:pt x="1875547" y="894326"/>
                </a:cubicBezTo>
                <a:cubicBezTo>
                  <a:pt x="1910797" y="890461"/>
                  <a:pt x="2021856" y="818827"/>
                  <a:pt x="2170742" y="766829"/>
                </a:cubicBezTo>
                <a:lnTo>
                  <a:pt x="2185562" y="761762"/>
                </a:lnTo>
                <a:lnTo>
                  <a:pt x="2185562" y="1466652"/>
                </a:lnTo>
                <a:lnTo>
                  <a:pt x="2095141" y="1509214"/>
                </a:lnTo>
                <a:cubicBezTo>
                  <a:pt x="2060075" y="1526622"/>
                  <a:pt x="2018518" y="1547529"/>
                  <a:pt x="1962022" y="1574533"/>
                </a:cubicBezTo>
                <a:cubicBezTo>
                  <a:pt x="2072063" y="1642733"/>
                  <a:pt x="2140838" y="1685358"/>
                  <a:pt x="2183823" y="1711999"/>
                </a:cubicBezTo>
                <a:lnTo>
                  <a:pt x="2185562" y="1713076"/>
                </a:lnTo>
                <a:lnTo>
                  <a:pt x="2185562" y="2407762"/>
                </a:lnTo>
                <a:lnTo>
                  <a:pt x="2136229" y="2404166"/>
                </a:lnTo>
                <a:cubicBezTo>
                  <a:pt x="2099852" y="2397750"/>
                  <a:pt x="2062669" y="2383990"/>
                  <a:pt x="2024842" y="2364355"/>
                </a:cubicBezTo>
                <a:cubicBezTo>
                  <a:pt x="1590554" y="2090912"/>
                  <a:pt x="1590554" y="2090912"/>
                  <a:pt x="1590554" y="2090912"/>
                </a:cubicBezTo>
                <a:cubicBezTo>
                  <a:pt x="1615187" y="2207123"/>
                  <a:pt x="1613899" y="2195373"/>
                  <a:pt x="1630648" y="2348122"/>
                </a:cubicBezTo>
                <a:cubicBezTo>
                  <a:pt x="1636935" y="2513909"/>
                  <a:pt x="1638068" y="2632697"/>
                  <a:pt x="1621010" y="2694023"/>
                </a:cubicBezTo>
                <a:cubicBezTo>
                  <a:pt x="1605240" y="2767100"/>
                  <a:pt x="1586893" y="2816676"/>
                  <a:pt x="1555508" y="2855791"/>
                </a:cubicBezTo>
                <a:cubicBezTo>
                  <a:pt x="1514950" y="2919694"/>
                  <a:pt x="1433987" y="2940463"/>
                  <a:pt x="1326948" y="2940308"/>
                </a:cubicBezTo>
                <a:cubicBezTo>
                  <a:pt x="1208159" y="2941442"/>
                  <a:pt x="1120755" y="2903461"/>
                  <a:pt x="1055563" y="2851153"/>
                </a:cubicBezTo>
                <a:cubicBezTo>
                  <a:pt x="1003409" y="2809307"/>
                  <a:pt x="987794" y="2775346"/>
                  <a:pt x="981352" y="2716596"/>
                </a:cubicBezTo>
                <a:cubicBezTo>
                  <a:pt x="930127" y="2032524"/>
                  <a:pt x="930127" y="2032524"/>
                  <a:pt x="930127" y="2032524"/>
                </a:cubicBezTo>
                <a:cubicBezTo>
                  <a:pt x="609989" y="2257885"/>
                  <a:pt x="609989" y="2257885"/>
                  <a:pt x="609989" y="2257885"/>
                </a:cubicBezTo>
                <a:cubicBezTo>
                  <a:pt x="513257" y="2351730"/>
                  <a:pt x="433583" y="2384249"/>
                  <a:pt x="361794" y="2380229"/>
                </a:cubicBezTo>
                <a:cubicBezTo>
                  <a:pt x="290005" y="2376210"/>
                  <a:pt x="226101" y="2335652"/>
                  <a:pt x="172659" y="2282056"/>
                </a:cubicBezTo>
                <a:cubicBezTo>
                  <a:pt x="93140" y="2207537"/>
                  <a:pt x="38409" y="2142190"/>
                  <a:pt x="20218" y="2084729"/>
                </a:cubicBezTo>
                <a:cubicBezTo>
                  <a:pt x="2026" y="2027268"/>
                  <a:pt x="19084" y="1965942"/>
                  <a:pt x="81854" y="1887712"/>
                </a:cubicBezTo>
                <a:cubicBezTo>
                  <a:pt x="113240" y="1848597"/>
                  <a:pt x="134163" y="1822520"/>
                  <a:pt x="156375" y="1808193"/>
                </a:cubicBezTo>
                <a:cubicBezTo>
                  <a:pt x="199510" y="1767790"/>
                  <a:pt x="208683" y="1743002"/>
                  <a:pt x="398128" y="1627100"/>
                </a:cubicBezTo>
                <a:cubicBezTo>
                  <a:pt x="598034" y="1498160"/>
                  <a:pt x="552322" y="1515064"/>
                  <a:pt x="654208" y="1468218"/>
                </a:cubicBezTo>
                <a:cubicBezTo>
                  <a:pt x="200439" y="1125564"/>
                  <a:pt x="200439" y="1125564"/>
                  <a:pt x="200439" y="1125564"/>
                </a:cubicBezTo>
                <a:cubicBezTo>
                  <a:pt x="83093" y="1031410"/>
                  <a:pt x="15324" y="955602"/>
                  <a:pt x="6305" y="873353"/>
                </a:cubicBezTo>
                <a:cubicBezTo>
                  <a:pt x="-13175" y="804142"/>
                  <a:pt x="13057" y="718027"/>
                  <a:pt x="77116" y="651547"/>
                </a:cubicBezTo>
                <a:cubicBezTo>
                  <a:pt x="129424" y="586356"/>
                  <a:pt x="184310" y="544664"/>
                  <a:pt x="241772" y="526472"/>
                </a:cubicBezTo>
                <a:cubicBezTo>
                  <a:pt x="300522" y="520030"/>
                  <a:pt x="398388" y="544973"/>
                  <a:pt x="526195" y="626089"/>
                </a:cubicBezTo>
                <a:cubicBezTo>
                  <a:pt x="1079118" y="1005436"/>
                  <a:pt x="1079118" y="1005436"/>
                  <a:pt x="1079118" y="1005436"/>
                </a:cubicBezTo>
                <a:cubicBezTo>
                  <a:pt x="989912" y="408766"/>
                  <a:pt x="989912" y="408766"/>
                  <a:pt x="989912" y="408766"/>
                </a:cubicBezTo>
                <a:cubicBezTo>
                  <a:pt x="950951" y="270344"/>
                  <a:pt x="962856" y="162018"/>
                  <a:pt x="1025626" y="83788"/>
                </a:cubicBezTo>
                <a:cubicBezTo>
                  <a:pt x="1057012" y="44673"/>
                  <a:pt x="1101435" y="16019"/>
                  <a:pt x="1148435" y="10866"/>
                </a:cubicBezTo>
                <a:cubicBezTo>
                  <a:pt x="1177166" y="1770"/>
                  <a:pt x="1203604" y="-1129"/>
                  <a:pt x="1230525" y="379"/>
                </a:cubicBezTo>
                <a:close/>
              </a:path>
            </a:pathLst>
          </a:custGeom>
          <a:solidFill>
            <a:schemeClr val="accent4"/>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Content Placeholder 4">
            <a:extLst>
              <a:ext uri="{FF2B5EF4-FFF2-40B4-BE49-F238E27FC236}">
                <a16:creationId xmlns:a16="http://schemas.microsoft.com/office/drawing/2014/main" id="{52D4C485-FAF0-1D2B-699D-509DB2F6C095}"/>
              </a:ext>
            </a:extLst>
          </p:cNvPr>
          <p:cNvPicPr>
            <a:picLocks noGrp="1" noChangeAspect="1"/>
          </p:cNvPicPr>
          <p:nvPr>
            <p:ph idx="1"/>
          </p:nvPr>
        </p:nvPicPr>
        <p:blipFill>
          <a:blip r:embed="rId2"/>
          <a:stretch>
            <a:fillRect/>
          </a:stretch>
        </p:blipFill>
        <p:spPr>
          <a:xfrm>
            <a:off x="340641" y="860010"/>
            <a:ext cx="10228842" cy="5264121"/>
          </a:xfrm>
        </p:spPr>
      </p:pic>
    </p:spTree>
    <p:extLst>
      <p:ext uri="{BB962C8B-B14F-4D97-AF65-F5344CB8AC3E}">
        <p14:creationId xmlns:p14="http://schemas.microsoft.com/office/powerpoint/2010/main" val="31679518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09646535-AEF6-4883-A4F9-EEC1F8B43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4" name="Rectangle 23">
            <a:extLst>
              <a:ext uri="{FF2B5EF4-FFF2-40B4-BE49-F238E27FC236}">
                <a16:creationId xmlns:a16="http://schemas.microsoft.com/office/drawing/2014/main" id="{57FD0D75-1382-4CB8-BFB1-972F6DF554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B45424FD-F6A1-4096-9DD4-4411854956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727609-D111-963E-7C78-BF7066849867}"/>
              </a:ext>
            </a:extLst>
          </p:cNvPr>
          <p:cNvSpPr>
            <a:spLocks noGrp="1"/>
          </p:cNvSpPr>
          <p:nvPr>
            <p:ph type="title"/>
          </p:nvPr>
        </p:nvSpPr>
        <p:spPr>
          <a:xfrm>
            <a:off x="720000" y="619200"/>
            <a:ext cx="4991961" cy="1476000"/>
          </a:xfrm>
        </p:spPr>
        <p:txBody>
          <a:bodyPr vert="horz" wrap="square" lIns="0" tIns="0" rIns="0" bIns="0" rtlCol="0" anchor="ctr" anchorCtr="0">
            <a:normAutofit/>
          </a:bodyPr>
          <a:lstStyle/>
          <a:p>
            <a:r>
              <a:rPr lang="en-US" sz="3200"/>
              <a:t>Implementation - Controller</a:t>
            </a:r>
          </a:p>
        </p:txBody>
      </p:sp>
      <p:sp>
        <p:nvSpPr>
          <p:cNvPr id="4" name="Text Placeholder 3">
            <a:extLst>
              <a:ext uri="{FF2B5EF4-FFF2-40B4-BE49-F238E27FC236}">
                <a16:creationId xmlns:a16="http://schemas.microsoft.com/office/drawing/2014/main" id="{E28410CB-41BE-299B-8B35-AE5B2A3C9081}"/>
              </a:ext>
            </a:extLst>
          </p:cNvPr>
          <p:cNvSpPr>
            <a:spLocks noGrp="1"/>
          </p:cNvSpPr>
          <p:nvPr>
            <p:ph type="body" sz="half" idx="2"/>
          </p:nvPr>
        </p:nvSpPr>
        <p:spPr>
          <a:xfrm>
            <a:off x="720000" y="2552700"/>
            <a:ext cx="5376000" cy="3216273"/>
          </a:xfrm>
        </p:spPr>
        <p:txBody>
          <a:bodyPr vert="horz" lIns="0" tIns="0" rIns="0" bIns="0" rtlCol="0">
            <a:normAutofit/>
          </a:bodyPr>
          <a:lstStyle/>
          <a:p>
            <a:pPr indent="-228600">
              <a:buFont typeface="The Hand Extrablack" panose="03070A02030502020204" pitchFamily="66" charset="0"/>
              <a:buChar char="•"/>
            </a:pPr>
            <a:r>
              <a:rPr lang="en-US" b="1" dirty="0"/>
              <a:t>Pass Data through Url:</a:t>
            </a:r>
          </a:p>
          <a:p>
            <a:pPr indent="-228600">
              <a:buFont typeface="The Hand Extrablack" panose="03070A02030502020204" pitchFamily="66" charset="0"/>
              <a:buChar char="•"/>
            </a:pPr>
            <a:endParaRPr lang="en-US" b="1" dirty="0"/>
          </a:p>
          <a:p>
            <a:pPr indent="-228600">
              <a:buFont typeface="The Hand Extrablack" panose="03070A02030502020204" pitchFamily="66" charset="0"/>
              <a:buChar char="•"/>
            </a:pPr>
            <a:r>
              <a:rPr lang="en-US" b="1" dirty="0"/>
              <a:t>https://localhost:7183/</a:t>
            </a:r>
            <a:r>
              <a:rPr lang="en-US" dirty="0"/>
              <a:t> </a:t>
            </a:r>
            <a:r>
              <a:rPr lang="en-US" dirty="0" err="1"/>
              <a:t>C_name</a:t>
            </a:r>
            <a:r>
              <a:rPr lang="en-US" dirty="0"/>
              <a:t> </a:t>
            </a:r>
            <a:r>
              <a:rPr lang="en-US" b="1" dirty="0"/>
              <a:t>/</a:t>
            </a:r>
            <a:r>
              <a:rPr lang="en-US" b="1" dirty="0" err="1"/>
              <a:t>passData</a:t>
            </a:r>
            <a:r>
              <a:rPr lang="en-US" b="1" dirty="0"/>
              <a:t>/55 </a:t>
            </a:r>
          </a:p>
          <a:p>
            <a:pPr indent="-228600">
              <a:buFont typeface="The Hand Extrablack" panose="03070A02030502020204" pitchFamily="66" charset="0"/>
              <a:buChar char="•"/>
            </a:pPr>
            <a:endParaRPr lang="en-US" dirty="0"/>
          </a:p>
          <a:p>
            <a:pPr indent="-228600">
              <a:buFont typeface="The Hand Extrablack" panose="03070A02030502020204" pitchFamily="66" charset="0"/>
              <a:buChar char="•"/>
            </a:pPr>
            <a:r>
              <a:rPr lang="en-US" dirty="0"/>
              <a:t>https://localhost:7183/C_name/passData? id=99 &amp; name=</a:t>
            </a:r>
            <a:r>
              <a:rPr lang="en-US" dirty="0" err="1"/>
              <a:t>glaal</a:t>
            </a:r>
            <a:r>
              <a:rPr lang="en-US" dirty="0"/>
              <a:t> &amp;age=55</a:t>
            </a:r>
          </a:p>
          <a:p>
            <a:pPr indent="-228600">
              <a:buFont typeface="The Hand Extrablack" panose="03070A02030502020204" pitchFamily="66" charset="0"/>
              <a:buChar char="•"/>
            </a:pPr>
            <a:endParaRPr lang="en-US" dirty="0"/>
          </a:p>
        </p:txBody>
      </p:sp>
      <p:sp useBgFill="1">
        <p:nvSpPr>
          <p:cNvPr id="28" name="Freeform: Shape 27">
            <a:extLst>
              <a:ext uri="{FF2B5EF4-FFF2-40B4-BE49-F238E27FC236}">
                <a16:creationId xmlns:a16="http://schemas.microsoft.com/office/drawing/2014/main" id="{D7E55FD5-B961-45FE-A940-4A462DE8C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flipV="1">
            <a:off x="5867335" y="533334"/>
            <a:ext cx="6858000" cy="5791331"/>
          </a:xfrm>
          <a:custGeom>
            <a:avLst/>
            <a:gdLst>
              <a:gd name="connsiteX0" fmla="*/ 6858000 w 6858000"/>
              <a:gd name="connsiteY0" fmla="*/ 14535 h 5791331"/>
              <a:gd name="connsiteX1" fmla="*/ 6858000 w 6858000"/>
              <a:gd name="connsiteY1" fmla="*/ 5791331 h 5791331"/>
              <a:gd name="connsiteX2" fmla="*/ 0 w 6858000"/>
              <a:gd name="connsiteY2" fmla="*/ 5791330 h 5791331"/>
              <a:gd name="connsiteX3" fmla="*/ 0 w 6858000"/>
              <a:gd name="connsiteY3" fmla="*/ 0 h 5791331"/>
              <a:gd name="connsiteX4" fmla="*/ 145832 w 6858000"/>
              <a:gd name="connsiteY4" fmla="*/ 1175 h 5791331"/>
              <a:gd name="connsiteX5" fmla="*/ 2611132 w 6858000"/>
              <a:gd name="connsiteY5" fmla="*/ 48625 h 5791331"/>
              <a:gd name="connsiteX6" fmla="*/ 6643031 w 6858000"/>
              <a:gd name="connsiteY6" fmla="*/ 15010 h 5791331"/>
              <a:gd name="connsiteX0" fmla="*/ 6858000 w 6858000"/>
              <a:gd name="connsiteY0" fmla="*/ 14535 h 5791331"/>
              <a:gd name="connsiteX1" fmla="*/ 6858000 w 6858000"/>
              <a:gd name="connsiteY1" fmla="*/ 5791331 h 5791331"/>
              <a:gd name="connsiteX2" fmla="*/ 0 w 6858000"/>
              <a:gd name="connsiteY2" fmla="*/ 5791330 h 5791331"/>
              <a:gd name="connsiteX3" fmla="*/ 0 w 6858000"/>
              <a:gd name="connsiteY3" fmla="*/ 0 h 5791331"/>
              <a:gd name="connsiteX4" fmla="*/ 145832 w 6858000"/>
              <a:gd name="connsiteY4" fmla="*/ 1175 h 5791331"/>
              <a:gd name="connsiteX5" fmla="*/ 2611132 w 6858000"/>
              <a:gd name="connsiteY5" fmla="*/ 48625 h 5791331"/>
              <a:gd name="connsiteX6" fmla="*/ 6643031 w 6858000"/>
              <a:gd name="connsiteY6" fmla="*/ 15010 h 5791331"/>
              <a:gd name="connsiteX7" fmla="*/ 6858000 w 6858000"/>
              <a:gd name="connsiteY7" fmla="*/ 14535 h 5791331"/>
              <a:gd name="connsiteX0" fmla="*/ 6858000 w 6858000"/>
              <a:gd name="connsiteY0" fmla="*/ 14535 h 5791331"/>
              <a:gd name="connsiteX1" fmla="*/ 6858000 w 6858000"/>
              <a:gd name="connsiteY1" fmla="*/ 5791331 h 5791331"/>
              <a:gd name="connsiteX2" fmla="*/ 0 w 6858000"/>
              <a:gd name="connsiteY2" fmla="*/ 5791330 h 5791331"/>
              <a:gd name="connsiteX3" fmla="*/ 0 w 6858000"/>
              <a:gd name="connsiteY3" fmla="*/ 0 h 5791331"/>
              <a:gd name="connsiteX4" fmla="*/ 145832 w 6858000"/>
              <a:gd name="connsiteY4" fmla="*/ 1175 h 5791331"/>
              <a:gd name="connsiteX5" fmla="*/ 2611132 w 6858000"/>
              <a:gd name="connsiteY5" fmla="*/ 48625 h 5791331"/>
              <a:gd name="connsiteX6" fmla="*/ 6643031 w 6858000"/>
              <a:gd name="connsiteY6" fmla="*/ 15010 h 5791331"/>
              <a:gd name="connsiteX7" fmla="*/ 6858000 w 6858000"/>
              <a:gd name="connsiteY7" fmla="*/ 14535 h 5791331"/>
              <a:gd name="connsiteX0" fmla="*/ 6858000 w 6858000"/>
              <a:gd name="connsiteY0" fmla="*/ 14535 h 5791331"/>
              <a:gd name="connsiteX1" fmla="*/ 6858000 w 6858000"/>
              <a:gd name="connsiteY1" fmla="*/ 5791331 h 5791331"/>
              <a:gd name="connsiteX2" fmla="*/ 0 w 6858000"/>
              <a:gd name="connsiteY2" fmla="*/ 5791330 h 5791331"/>
              <a:gd name="connsiteX3" fmla="*/ 0 w 6858000"/>
              <a:gd name="connsiteY3" fmla="*/ 0 h 5791331"/>
              <a:gd name="connsiteX4" fmla="*/ 145832 w 6858000"/>
              <a:gd name="connsiteY4" fmla="*/ 1175 h 5791331"/>
              <a:gd name="connsiteX5" fmla="*/ 2233764 w 6858000"/>
              <a:gd name="connsiteY5" fmla="*/ 19600 h 5791331"/>
              <a:gd name="connsiteX6" fmla="*/ 6643031 w 6858000"/>
              <a:gd name="connsiteY6" fmla="*/ 15010 h 5791331"/>
              <a:gd name="connsiteX7" fmla="*/ 6858000 w 6858000"/>
              <a:gd name="connsiteY7" fmla="*/ 14535 h 5791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5791331">
                <a:moveTo>
                  <a:pt x="6858000" y="14535"/>
                </a:moveTo>
                <a:lnTo>
                  <a:pt x="6858000" y="5791331"/>
                </a:lnTo>
                <a:lnTo>
                  <a:pt x="0" y="5791330"/>
                </a:lnTo>
                <a:lnTo>
                  <a:pt x="0" y="0"/>
                </a:lnTo>
                <a:lnTo>
                  <a:pt x="145832" y="1175"/>
                </a:lnTo>
                <a:lnTo>
                  <a:pt x="2233764" y="19600"/>
                </a:lnTo>
                <a:cubicBezTo>
                  <a:pt x="2933352" y="33230"/>
                  <a:pt x="5032814" y="16325"/>
                  <a:pt x="6643031" y="15010"/>
                </a:cubicBezTo>
                <a:lnTo>
                  <a:pt x="6858000" y="14535"/>
                </a:lnTo>
                <a:close/>
              </a:path>
            </a:pathLst>
          </a:cu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pic>
        <p:nvPicPr>
          <p:cNvPr id="6" name="Content Placeholder 5" descr="A close-up of a computer code&#10;&#10;AI-generated content may be incorrect.">
            <a:extLst>
              <a:ext uri="{FF2B5EF4-FFF2-40B4-BE49-F238E27FC236}">
                <a16:creationId xmlns:a16="http://schemas.microsoft.com/office/drawing/2014/main" id="{F794FA32-9F0A-77BD-385E-E404ECD5E0F1}"/>
              </a:ext>
            </a:extLst>
          </p:cNvPr>
          <p:cNvPicPr>
            <a:picLocks noGrp="1" noChangeAspect="1"/>
          </p:cNvPicPr>
          <p:nvPr>
            <p:ph idx="1"/>
          </p:nvPr>
        </p:nvPicPr>
        <p:blipFill>
          <a:blip r:embed="rId2"/>
          <a:stretch>
            <a:fillRect/>
          </a:stretch>
        </p:blipFill>
        <p:spPr>
          <a:xfrm>
            <a:off x="7164324" y="1375548"/>
            <a:ext cx="4295839" cy="1213575"/>
          </a:xfrm>
          <a:custGeom>
            <a:avLst/>
            <a:gdLst/>
            <a:ahLst/>
            <a:cxnLst/>
            <a:rect l="l" t="t" r="r" b="b"/>
            <a:pathLst>
              <a:path w="4295839" h="2524669">
                <a:moveTo>
                  <a:pt x="0" y="0"/>
                </a:moveTo>
                <a:lnTo>
                  <a:pt x="4295839" y="0"/>
                </a:lnTo>
                <a:lnTo>
                  <a:pt x="4295839" y="2524669"/>
                </a:lnTo>
                <a:lnTo>
                  <a:pt x="0" y="2524669"/>
                </a:lnTo>
                <a:close/>
              </a:path>
            </a:pathLst>
          </a:custGeom>
        </p:spPr>
      </p:pic>
      <p:pic>
        <p:nvPicPr>
          <p:cNvPr id="8" name="Picture 7" descr="A close-up of a number&#10;&#10;AI-generated content may be incorrect.">
            <a:extLst>
              <a:ext uri="{FF2B5EF4-FFF2-40B4-BE49-F238E27FC236}">
                <a16:creationId xmlns:a16="http://schemas.microsoft.com/office/drawing/2014/main" id="{12A97E06-E1B6-785C-1B75-588D764A82A0}"/>
              </a:ext>
            </a:extLst>
          </p:cNvPr>
          <p:cNvPicPr>
            <a:picLocks noChangeAspect="1"/>
          </p:cNvPicPr>
          <p:nvPr/>
        </p:nvPicPr>
        <p:blipFill>
          <a:blip r:embed="rId3"/>
          <a:stretch>
            <a:fillRect/>
          </a:stretch>
        </p:blipFill>
        <p:spPr>
          <a:xfrm>
            <a:off x="7164323" y="4469639"/>
            <a:ext cx="4295839" cy="794730"/>
          </a:xfrm>
          <a:custGeom>
            <a:avLst/>
            <a:gdLst/>
            <a:ahLst/>
            <a:cxnLst/>
            <a:rect l="l" t="t" r="r" b="b"/>
            <a:pathLst>
              <a:path w="4295839" h="2524669">
                <a:moveTo>
                  <a:pt x="0" y="0"/>
                </a:moveTo>
                <a:lnTo>
                  <a:pt x="4295839" y="0"/>
                </a:lnTo>
                <a:lnTo>
                  <a:pt x="4295839" y="2524669"/>
                </a:lnTo>
                <a:lnTo>
                  <a:pt x="0" y="2524669"/>
                </a:lnTo>
                <a:close/>
              </a:path>
            </a:pathLst>
          </a:custGeom>
        </p:spPr>
      </p:pic>
    </p:spTree>
    <p:extLst>
      <p:ext uri="{BB962C8B-B14F-4D97-AF65-F5344CB8AC3E}">
        <p14:creationId xmlns:p14="http://schemas.microsoft.com/office/powerpoint/2010/main" val="644038304"/>
      </p:ext>
    </p:extLst>
  </p:cSld>
  <p:clrMapOvr>
    <a:masterClrMapping/>
  </p:clrMapOvr>
</p:sld>
</file>

<file path=ppt/theme/theme1.xml><?xml version="1.0" encoding="utf-8"?>
<a:theme xmlns:a="http://schemas.openxmlformats.org/drawingml/2006/main" name="BlobVTI">
  <a:themeElements>
    <a:clrScheme name="Blob V2">
      <a:dk1>
        <a:sysClr val="windowText" lastClr="000000"/>
      </a:dk1>
      <a:lt1>
        <a:sysClr val="window" lastClr="FFFFFF"/>
      </a:lt1>
      <a:dk2>
        <a:srgbClr val="0B2827"/>
      </a:dk2>
      <a:lt2>
        <a:srgbClr val="DAE3E3"/>
      </a:lt2>
      <a:accent1>
        <a:srgbClr val="B495C2"/>
      </a:accent1>
      <a:accent2>
        <a:srgbClr val="767E37"/>
      </a:accent2>
      <a:accent3>
        <a:srgbClr val="8FA3A3"/>
      </a:accent3>
      <a:accent4>
        <a:srgbClr val="CE7F01"/>
      </a:accent4>
      <a:accent5>
        <a:srgbClr val="D15A29"/>
      </a:accent5>
      <a:accent6>
        <a:srgbClr val="B88470"/>
      </a:accent6>
      <a:hlink>
        <a:srgbClr val="B57001"/>
      </a:hlink>
      <a:folHlink>
        <a:srgbClr val="996209"/>
      </a:folHlink>
    </a:clrScheme>
    <a:fontScheme name="Blob">
      <a:majorFont>
        <a:latin typeface="The Hand Extrablack"/>
        <a:ea typeface=""/>
        <a:cs typeface=""/>
      </a:majorFont>
      <a:minorFont>
        <a:latin typeface="Sagona Boo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bVTI" id="{06D3AACF-B619-4265-899F-5E2FB3A445D5}" vid="{F5918863-BA1A-4735-81A8-3E7BFBDA847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48A4EAF58D7C545AE1DE37025E70789" ma:contentTypeVersion="3" ma:contentTypeDescription="Create a new document." ma:contentTypeScope="" ma:versionID="c0891fb1ab408e3df25cb1a873f7ea3e">
  <xsd:schema xmlns:xsd="http://www.w3.org/2001/XMLSchema" xmlns:xs="http://www.w3.org/2001/XMLSchema" xmlns:p="http://schemas.microsoft.com/office/2006/metadata/properties" xmlns:ns2="86fbee88-366b-47d4-a510-da8f14adef2d" targetNamespace="http://schemas.microsoft.com/office/2006/metadata/properties" ma:root="true" ma:fieldsID="13306556a38c89b6de45bd7b34966b42" ns2:_="">
    <xsd:import namespace="86fbee88-366b-47d4-a510-da8f14adef2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6fbee88-366b-47d4-a510-da8f14adef2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51F41E5-DDE9-4E48-9566-2C1248272412}"/>
</file>

<file path=customXml/itemProps2.xml><?xml version="1.0" encoding="utf-8"?>
<ds:datastoreItem xmlns:ds="http://schemas.openxmlformats.org/officeDocument/2006/customXml" ds:itemID="{A0533E93-4E88-4DFF-8B85-00EFAF1A3BDA}"/>
</file>

<file path=customXml/itemProps3.xml><?xml version="1.0" encoding="utf-8"?>
<ds:datastoreItem xmlns:ds="http://schemas.openxmlformats.org/officeDocument/2006/customXml" ds:itemID="{19F8F161-1BE0-41FC-904D-36369165A56A}"/>
</file>

<file path=docProps/app.xml><?xml version="1.0" encoding="utf-8"?>
<Properties xmlns="http://schemas.openxmlformats.org/officeDocument/2006/extended-properties" xmlns:vt="http://schemas.openxmlformats.org/officeDocument/2006/docPropsVTypes">
  <Template>Ion</Template>
  <TotalTime>595</TotalTime>
  <Words>1054</Words>
  <Application>Microsoft Office PowerPoint</Application>
  <PresentationFormat>Widescreen</PresentationFormat>
  <Paragraphs>114</Paragraphs>
  <Slides>21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Aptos</vt:lpstr>
      <vt:lpstr>Arial</vt:lpstr>
      <vt:lpstr>Rockwell</vt:lpstr>
      <vt:lpstr>Sagona Book</vt:lpstr>
      <vt:lpstr>Segoe UI</vt:lpstr>
      <vt:lpstr>The Hand Extrablack</vt:lpstr>
      <vt:lpstr>Wingdings</vt:lpstr>
      <vt:lpstr>BlobVTI</vt:lpstr>
      <vt:lpstr>ASP .NET  MVC core  </vt:lpstr>
      <vt:lpstr>Project : By default, the project content 3 main folder  </vt:lpstr>
      <vt:lpstr>1. Program.cs </vt:lpstr>
      <vt:lpstr>2. appsettings.json</vt:lpstr>
      <vt:lpstr>The 3-Folder MVC</vt:lpstr>
      <vt:lpstr>view</vt:lpstr>
      <vt:lpstr>model</vt:lpstr>
      <vt:lpstr>Controller</vt:lpstr>
      <vt:lpstr> Controller</vt:lpstr>
      <vt:lpstr>wwwroot folder</vt:lpstr>
      <vt:lpstr>Properties folder</vt:lpstr>
      <vt:lpstr>Dependencies</vt:lpstr>
      <vt:lpstr>Connected Services</vt:lpstr>
      <vt:lpstr>Implementation - Controller</vt:lpstr>
      <vt:lpstr>Implementation - Controller</vt:lpstr>
      <vt:lpstr>Implementation - Controller</vt:lpstr>
      <vt:lpstr>Implementation - Controller</vt:lpstr>
      <vt:lpstr>Implementation - Controller</vt:lpstr>
      <vt:lpstr>Implementation - Controller</vt:lpstr>
      <vt:lpstr>PowerPoint Presentation</vt:lpstr>
      <vt:lpstr>Implementation - Controller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ayamahmoud0011@gimal.com</dc:creator>
  <cp:lastModifiedBy>ayamahmoud0011@gimal.com</cp:lastModifiedBy>
  <cp:revision>12</cp:revision>
  <dcterms:created xsi:type="dcterms:W3CDTF">2025-02-21T16:55:56Z</dcterms:created>
  <dcterms:modified xsi:type="dcterms:W3CDTF">2025-02-24T00:23:43Z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0x010100748A4EAF58D7C545AE1DE37025E70789</vt:lpwstr>
  </property>
</Properties>
</file>