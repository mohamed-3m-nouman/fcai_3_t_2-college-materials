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2.xml" ContentType="application/inkml+xml"/>
  <Override PartName="/ppt/theme/theme1.xml" ContentType="application/vnd.openxmlformats-officedocument.theme+xml"/>
  <Override PartName="/ppt/ink/ink1.xml" ContentType="application/inkml+xml"/>
  <Override PartName="/ppt/ink/ink3.xml" ContentType="application/inkml+xml"/>
  <Override PartName="/ppt/ink/ink4.xml" ContentType="application/inkml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81" r:id="rId3"/>
    <p:sldId id="283" r:id="rId4"/>
    <p:sldId id="259" r:id="rId5"/>
    <p:sldId id="282" r:id="rId6"/>
    <p:sldId id="260" r:id="rId7"/>
    <p:sldId id="284" r:id="rId8"/>
    <p:sldId id="285" r:id="rId9"/>
    <p:sldId id="286" r:id="rId10"/>
    <p:sldId id="287" r:id="rId11"/>
    <p:sldId id="261" r:id="rId12"/>
    <p:sldId id="277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278" r:id="rId28"/>
    <p:sldId id="279" r:id="rId29"/>
    <p:sldId id="280" r:id="rId30"/>
    <p:sldId id="289" r:id="rId31"/>
  </p:sldIdLst>
  <p:sldSz cx="123444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1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6T20:14:37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6669 536 24546,'-3'21'0,"-5"0"0,-5 0 0,-4 0 0,-6 0 0,-6-1 0,-4 1 0,-5-1 0,-4 0 0,-6-1 0,-5 1 0,-4-1 0,-4-1 0,-6 0 0,-3 0 0,-5-1 0,-4 0 0,-4-1 0,-4 0 0,-4-1 0,-3 0 0,-4-1 0,-3-1 0,-4 0 0,-2-1 0,-3-1 0,-3 0 0,-3-1 0,-2-1 0,-2-1 0,-1 0 0,-3-1 0,-1-1 0,-2-1 0,-1 0 0,-1-1 0,-1-2 0,0 1 0,-1-2 0,1-1 0,-1 0 0,0-1 0,1-2 0,0 1 0,1-2 0,1-1 0,2 0 0,0-1 0,3-1 0,1-1 0,2 0 0,2-1 0,3-1 0,2-1 0,2 0 0,4-1 0,3-1 0,2 0 0,4-1 0,4-1 0,3 0 0,4-1 0,4 0 0,4-1 0,4 0 0,5-1 0,4 0 0,4 0 0,5-1 0,4-1 0,6 1 0,4-1 0,5 0 0,5-1 0,5 1 0,5-1 0,5 0 0,5 0 0,5 0 0,6 0 0,4 0 0,6 0 0,5 0 0,5 0 0,5 1 0,5-1 0,5 1 0,5 0 0,5 0 0,4 0 0,6 1 0,4 0 0,5 0 0,4 1 0,4 0 0,5 1 0,4 0 0,4 1 0,4 0 0,4 1 0,3 1 0,4 0 0,4 0 0,2 2 0,3 0 0,4 0 0,2 2 0,2 0 0,3 0 0,2 2 0,2 0 0,1 1 0,3 1 0,0 1 0,2 0 0,1 2 0,1 0 0,0 1 0,1 1 0,0 0 0,-1 2 0,1 0 0,-1 1 0,0 1 0,-1 0 0,-1 2 0,-1 0 0,-2 1 0,-1 1 0,-3 1 0,-1 0 0,-2 2 0,-2 0 0,-3 0 0,-3 2 0,-3 0 0,-2 0 0,-4 2 0,-3 0 0,-4 0 0,-3 1 0,-4 1 0,-4 0 0,-4 1 0,-4 0 0,-5 1 0,-3 0 0,-6 1 0,-4 0 0,-4 0 0,-5 1 0,-6 0 0,-4 0 0,-5 0 0,-4 1 0,-6-1 0,-6 1 0,-4 0 0,-5 0 0,-5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6T20:14:37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6669 536 24546,'-3'21'0,"-5"0"0,-5 0 0,-4 0 0,-6 0 0,-6-1 0,-4 1 0,-5-1 0,-4 0 0,-6-1 0,-5 1 0,-4-1 0,-4-1 0,-6 0 0,-3 0 0,-5-1 0,-4 0 0,-4-1 0,-4 0 0,-4-1 0,-3 0 0,-4-1 0,-3-1 0,-4 0 0,-2-1 0,-3-1 0,-3 0 0,-3-1 0,-2-1 0,-2-1 0,-1 0 0,-3-1 0,-1-1 0,-2-1 0,-1 0 0,-1-1 0,-1-2 0,0 1 0,-1-2 0,1-1 0,-1 0 0,0-1 0,1-2 0,0 1 0,1-2 0,1-1 0,2 0 0,0-1 0,3-1 0,1-1 0,2 0 0,2-1 0,3-1 0,2-1 0,2 0 0,4-1 0,3-1 0,2 0 0,4-1 0,4-1 0,3 0 0,4-1 0,4 0 0,4-1 0,4 0 0,5-1 0,4 0 0,4 0 0,5-1 0,4-1 0,6 1 0,4-1 0,5 0 0,5-1 0,5 1 0,5-1 0,5 0 0,5 0 0,5 0 0,6 0 0,4 0 0,6 0 0,5 0 0,5 0 0,5 1 0,5-1 0,5 1 0,5 0 0,5 0 0,4 0 0,6 1 0,4 0 0,5 0 0,4 1 0,4 0 0,5 1 0,4 0 0,4 1 0,4 0 0,4 1 0,3 1 0,4 0 0,4 0 0,2 2 0,3 0 0,4 0 0,2 2 0,2 0 0,3 0 0,2 2 0,2 0 0,1 1 0,3 1 0,0 1 0,2 0 0,1 2 0,1 0 0,0 1 0,1 1 0,0 0 0,-1 2 0,1 0 0,-1 1 0,0 1 0,-1 0 0,-1 2 0,-1 0 0,-2 1 0,-1 1 0,-3 1 0,-1 0 0,-2 2 0,-2 0 0,-3 0 0,-3 2 0,-3 0 0,-2 0 0,-4 2 0,-3 0 0,-4 0 0,-3 1 0,-4 1 0,-4 0 0,-4 1 0,-4 0 0,-5 1 0,-3 0 0,-6 1 0,-4 0 0,-4 0 0,-5 1 0,-6 0 0,-4 0 0,-5 0 0,-4 1 0,-6-1 0,-6 1 0,-4 0 0,-5 0 0,-5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6T20:14:37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6669 536 24546,'-3'21'0,"-5"0"0,-5 0 0,-4 0 0,-6 0 0,-6-1 0,-4 1 0,-5-1 0,-4 0 0,-6-1 0,-5 1 0,-4-1 0,-4-1 0,-6 0 0,-3 0 0,-5-1 0,-4 0 0,-4-1 0,-4 0 0,-4-1 0,-3 0 0,-4-1 0,-3-1 0,-4 0 0,-2-1 0,-3-1 0,-3 0 0,-3-1 0,-2-1 0,-2-1 0,-1 0 0,-3-1 0,-1-1 0,-2-1 0,-1 0 0,-1-1 0,-1-2 0,0 1 0,-1-2 0,1-1 0,-1 0 0,0-1 0,1-2 0,0 1 0,1-2 0,1-1 0,2 0 0,0-1 0,3-1 0,1-1 0,2 0 0,2-1 0,3-1 0,2-1 0,2 0 0,4-1 0,3-1 0,2 0 0,4-1 0,4-1 0,3 0 0,4-1 0,4 0 0,4-1 0,4 0 0,5-1 0,4 0 0,4 0 0,5-1 0,4-1 0,6 1 0,4-1 0,5 0 0,5-1 0,5 1 0,5-1 0,5 0 0,5 0 0,5 0 0,6 0 0,4 0 0,6 0 0,5 0 0,5 0 0,5 1 0,5-1 0,5 1 0,5 0 0,5 0 0,4 0 0,6 1 0,4 0 0,5 0 0,4 1 0,4 0 0,5 1 0,4 0 0,4 1 0,4 0 0,4 1 0,3 1 0,4 0 0,4 0 0,2 2 0,3 0 0,4 0 0,2 2 0,2 0 0,3 0 0,2 2 0,2 0 0,1 1 0,3 1 0,0 1 0,2 0 0,1 2 0,1 0 0,0 1 0,1 1 0,0 0 0,-1 2 0,1 0 0,-1 1 0,0 1 0,-1 0 0,-1 2 0,-1 0 0,-2 1 0,-1 1 0,-3 1 0,-1 0 0,-2 2 0,-2 0 0,-3 0 0,-3 2 0,-3 0 0,-2 0 0,-4 2 0,-3 0 0,-4 0 0,-3 1 0,-4 1 0,-4 0 0,-4 1 0,-4 0 0,-5 1 0,-3 0 0,-6 1 0,-4 0 0,-4 0 0,-5 1 0,-6 0 0,-4 0 0,-5 0 0,-4 1 0,-6-1 0,-6 1 0,-4 0 0,-5 0 0,-5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2-16T20:14:37.6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6669 536 24546,'-3'21'0,"-5"0"0,-5 0 0,-4 0 0,-6 0 0,-6-1 0,-4 1 0,-5-1 0,-4 0 0,-6-1 0,-5 1 0,-4-1 0,-4-1 0,-6 0 0,-3 0 0,-5-1 0,-4 0 0,-4-1 0,-4 0 0,-4-1 0,-3 0 0,-4-1 0,-3-1 0,-4 0 0,-2-1 0,-3-1 0,-3 0 0,-3-1 0,-2-1 0,-2-1 0,-1 0 0,-3-1 0,-1-1 0,-2-1 0,-1 0 0,-1-1 0,-1-2 0,0 1 0,-1-2 0,1-1 0,-1 0 0,0-1 0,1-2 0,0 1 0,1-2 0,1-1 0,2 0 0,0-1 0,3-1 0,1-1 0,2 0 0,2-1 0,3-1 0,2-1 0,2 0 0,4-1 0,3-1 0,2 0 0,4-1 0,4-1 0,3 0 0,4-1 0,4 0 0,4-1 0,4 0 0,5-1 0,4 0 0,4 0 0,5-1 0,4-1 0,6 1 0,4-1 0,5 0 0,5-1 0,5 1 0,5-1 0,5 0 0,5 0 0,5 0 0,6 0 0,4 0 0,6 0 0,5 0 0,5 0 0,5 1 0,5-1 0,5 1 0,5 0 0,5 0 0,4 0 0,6 1 0,4 0 0,5 0 0,4 1 0,4 0 0,5 1 0,4 0 0,4 1 0,4 0 0,4 1 0,3 1 0,4 0 0,4 0 0,2 2 0,3 0 0,4 0 0,2 2 0,2 0 0,3 0 0,2 2 0,2 0 0,1 1 0,3 1 0,0 1 0,2 0 0,1 2 0,1 0 0,0 1 0,1 1 0,0 0 0,-1 2 0,1 0 0,-1 1 0,0 1 0,-1 0 0,-1 2 0,-1 0 0,-2 1 0,-1 1 0,-3 1 0,-1 0 0,-2 2 0,-2 0 0,-3 0 0,-3 2 0,-3 0 0,-2 0 0,-4 2 0,-3 0 0,-4 0 0,-3 1 0,-4 1 0,-4 0 0,-4 1 0,-4 0 0,-5 1 0,-3 0 0,-6 1 0,-4 0 0,-4 0 0,-5 1 0,-6 0 0,-4 0 0,-5 0 0,-4 1 0,-6-1 0,-6 1 0,-4 0 0,-5 0 0,-5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9392" y="1447801"/>
            <a:ext cx="8935979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9392" y="4777380"/>
            <a:ext cx="89359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30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3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93" y="2861734"/>
            <a:ext cx="8935978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9392" y="4777381"/>
            <a:ext cx="893597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697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7104" y="2060576"/>
            <a:ext cx="445129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25175" y="2056093"/>
            <a:ext cx="445129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63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105" y="1905000"/>
            <a:ext cx="445129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7104" y="2514600"/>
            <a:ext cx="445129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725177" y="1905000"/>
            <a:ext cx="445129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725177" y="2514600"/>
            <a:ext cx="445129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750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722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94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90" y="1447800"/>
            <a:ext cx="3443577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4424" y="1447800"/>
            <a:ext cx="526094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391" y="3129281"/>
            <a:ext cx="3443576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6186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8331" y="1854192"/>
            <a:ext cx="5156567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036415" y="1143000"/>
            <a:ext cx="324040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392" y="3657600"/>
            <a:ext cx="5148541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53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93" y="4800587"/>
            <a:ext cx="893597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92" y="685800"/>
            <a:ext cx="8935979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393" y="5367325"/>
            <a:ext cx="8935977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81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91" y="1447800"/>
            <a:ext cx="8935980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391" y="3657600"/>
            <a:ext cx="8935980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94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4487" y="1447800"/>
            <a:ext cx="8099306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54530" y="3771174"/>
            <a:ext cx="7370645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69391" y="4350657"/>
            <a:ext cx="8935980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909524" y="971253"/>
            <a:ext cx="81193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47121" y="2613787"/>
            <a:ext cx="811936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7588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9391" y="3124201"/>
            <a:ext cx="8935981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9391" y="4777381"/>
            <a:ext cx="8935980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06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859" y="1981200"/>
            <a:ext cx="298370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60619" y="2667000"/>
            <a:ext cx="2963942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2205" y="1981200"/>
            <a:ext cx="297294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21520" y="2667000"/>
            <a:ext cx="298362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13759" y="1981200"/>
            <a:ext cx="296876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13759" y="2667000"/>
            <a:ext cx="296876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72719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049255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942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619" y="4250949"/>
            <a:ext cx="29768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60619" y="2209800"/>
            <a:ext cx="2976801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60619" y="4827212"/>
            <a:ext cx="297680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37992" y="4250949"/>
            <a:ext cx="2967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37991" y="2209800"/>
            <a:ext cx="2967157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36622" y="4827211"/>
            <a:ext cx="297108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13759" y="4250949"/>
            <a:ext cx="296876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13758" y="2209800"/>
            <a:ext cx="296876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13633" y="4827209"/>
            <a:ext cx="29726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72719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7049255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064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3287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408015" y="430214"/>
            <a:ext cx="1774509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619" y="887414"/>
            <a:ext cx="7515938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87475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4144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716624" y="1676400"/>
            <a:ext cx="2854643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8099405" y="1"/>
            <a:ext cx="162342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713451" y="6096000"/>
            <a:ext cx="1006156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568284" y="0"/>
            <a:ext cx="694373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4188" y="452718"/>
            <a:ext cx="9522282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7104" y="2052919"/>
            <a:ext cx="9058373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288776" y="1788796"/>
            <a:ext cx="990599" cy="30860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634AA34-080D-462D-912F-ED49A9977F81}" type="datetimeFigureOut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9087592" y="3223393"/>
            <a:ext cx="3859795" cy="3086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481948" y="295730"/>
            <a:ext cx="848676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63CDC-1A9D-44E5-9EB6-E0DA48068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00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teams.microsoft.com/l/channel/19%3AoIzg6xJG0hVDYfve-1g5iVQEMSztyQiZcYI2O2udnv81%40thread.tacv2/SW%20and%20IS?groupId=ddb4ef21-0620-4b55-bb6f-f1306ee69ae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9744B-7E5F-2F92-F18E-A4D29607BD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 to</a:t>
            </a:r>
            <a:br>
              <a:rPr lang="en-US" dirty="0"/>
            </a:br>
            <a:r>
              <a:rPr lang="en-US" dirty="0"/>
              <a:t>ASP.NET MVC Core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7F5522-318E-90B9-A853-84E23CFFED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dirty="0" err="1"/>
              <a:t>Mvc</a:t>
            </a:r>
            <a:r>
              <a:rPr lang="en-US" dirty="0"/>
              <a:t> (model, view, controller)</a:t>
            </a:r>
          </a:p>
        </p:txBody>
      </p:sp>
    </p:spTree>
    <p:extLst>
      <p:ext uri="{BB962C8B-B14F-4D97-AF65-F5344CB8AC3E}">
        <p14:creationId xmlns:p14="http://schemas.microsoft.com/office/powerpoint/2010/main" val="249581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ACE72-313B-7ADB-6920-F03A7C95D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576" y="652389"/>
            <a:ext cx="9647493" cy="1400530"/>
          </a:xfrm>
        </p:spPr>
        <p:txBody>
          <a:bodyPr/>
          <a:lstStyle/>
          <a:p>
            <a:r>
              <a:rPr lang="en-US" dirty="0"/>
              <a:t>The web app components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0CCF-89FB-C442-EB2D-6E33CC135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1- front end: an interface that allows users to interact with the system ” web app”( what you </a:t>
            </a:r>
            <a:r>
              <a:rPr lang="en-US" i="1" dirty="0"/>
              <a:t>see</a:t>
            </a:r>
            <a:r>
              <a:rPr lang="en-US" dirty="0"/>
              <a:t> and interact with).  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2- back end: the system’s behaviors (what happens </a:t>
            </a:r>
            <a:r>
              <a:rPr lang="en-US" i="1" dirty="0"/>
              <a:t>behind the scenes</a:t>
            </a:r>
            <a:r>
              <a:rPr lang="en-US" dirty="0"/>
              <a:t> to make the front end work).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152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2E48-57B3-3D2C-D709-065CA1C6C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95" y="652389"/>
            <a:ext cx="9522282" cy="1400530"/>
          </a:xfrm>
        </p:spPr>
        <p:txBody>
          <a:bodyPr/>
          <a:lstStyle/>
          <a:p>
            <a:r>
              <a:rPr lang="en-US" dirty="0"/>
              <a:t>Types of developers: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0E2045-6DB3-CFB4-6EF8-A7336526B0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1- SQL “DB developer”: interact with DB (design tables and their relationships .. etc.). ” not famous </a:t>
            </a:r>
            <a:r>
              <a:rPr lang="en-US" dirty="0">
                <a:solidFill>
                  <a:srgbClr val="FF0000"/>
                </a:solidFill>
              </a:rPr>
              <a:t>why</a:t>
            </a:r>
            <a:r>
              <a:rPr lang="en-US" dirty="0"/>
              <a:t>”</a:t>
            </a:r>
          </a:p>
          <a:p>
            <a:r>
              <a:rPr lang="en-US" dirty="0"/>
              <a:t> 2-front-end developer (client-side code): focus on building the user interface and experience (designing web pages.).</a:t>
            </a:r>
          </a:p>
          <a:p>
            <a:r>
              <a:rPr lang="en-US" dirty="0"/>
              <a:t>3- back-end developer (server-side code): handles the logic, databases, and server-side functionality that power the website or app.</a:t>
            </a:r>
          </a:p>
        </p:txBody>
      </p:sp>
    </p:spTree>
    <p:extLst>
      <p:ext uri="{BB962C8B-B14F-4D97-AF65-F5344CB8AC3E}">
        <p14:creationId xmlns:p14="http://schemas.microsoft.com/office/powerpoint/2010/main" val="625183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21A8B-BC11-EF7C-A35B-2F52987DA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078" y="939279"/>
            <a:ext cx="9522282" cy="1047608"/>
          </a:xfrm>
        </p:spPr>
        <p:txBody>
          <a:bodyPr/>
          <a:lstStyle/>
          <a:p>
            <a:r>
              <a:rPr lang="en-US" dirty="0"/>
              <a:t>Explain for </a:t>
            </a:r>
            <a:r>
              <a:rPr lang="en-US" dirty="0" err="1"/>
              <a:t>ASP.Net</a:t>
            </a:r>
            <a:r>
              <a:rPr lang="en-US" dirty="0"/>
              <a:t>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ED0594-66AF-68F5-900A-82AC0D45C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ASP.Net</a:t>
            </a:r>
            <a:r>
              <a:rPr lang="en-US" sz="2400" dirty="0"/>
              <a:t>: is a web framework, created by Microsoft, for building modern web apps and services with </a:t>
            </a:r>
            <a:r>
              <a:rPr lang="en-US" sz="2400" dirty="0" err="1"/>
              <a:t>.Net</a:t>
            </a:r>
            <a:r>
              <a:rPr lang="en-US" sz="24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463769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074C8-92F2-B5C9-1BFB-152FF25E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75A3-58FE-D74A-71A2-56F6D3B81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95" y="1005311"/>
            <a:ext cx="9522282" cy="1047608"/>
          </a:xfrm>
        </p:spPr>
        <p:txBody>
          <a:bodyPr/>
          <a:lstStyle/>
          <a:p>
            <a:r>
              <a:rPr lang="en-US" dirty="0"/>
              <a:t>Explain for MVC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1E1E47-1352-ACFF-47C8-BBA322901A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400" b="1" dirty="0">
              <a:solidFill>
                <a:schemeClr val="accent1"/>
              </a:solidFill>
            </a:endParaRPr>
          </a:p>
          <a:p>
            <a:endParaRPr lang="en-US" sz="2400" b="1" dirty="0">
              <a:solidFill>
                <a:schemeClr val="accent1"/>
              </a:solidFill>
            </a:endParaRPr>
          </a:p>
          <a:p>
            <a:r>
              <a:rPr lang="en-US" sz="2400" b="1" dirty="0">
                <a:solidFill>
                  <a:schemeClr val="accent1"/>
                </a:solidFill>
              </a:rPr>
              <a:t>M</a:t>
            </a:r>
            <a:r>
              <a:rPr lang="en-US" sz="2400" b="1" dirty="0"/>
              <a:t>odel-</a:t>
            </a:r>
            <a:r>
              <a:rPr lang="en-US" sz="2400" b="1" dirty="0">
                <a:solidFill>
                  <a:schemeClr val="accent1"/>
                </a:solidFill>
              </a:rPr>
              <a:t>V</a:t>
            </a:r>
            <a:r>
              <a:rPr lang="en-US" sz="2400" b="1" dirty="0"/>
              <a:t>iew-</a:t>
            </a:r>
            <a:r>
              <a:rPr lang="en-US" sz="2400" b="1" dirty="0">
                <a:solidFill>
                  <a:schemeClr val="accent1"/>
                </a:solidFill>
              </a:rPr>
              <a:t>C</a:t>
            </a:r>
            <a:r>
              <a:rPr lang="en-US" sz="2400" b="1" dirty="0"/>
              <a:t>ontroller (MVC):</a:t>
            </a:r>
            <a:r>
              <a:rPr lang="en-US" sz="2400" dirty="0"/>
              <a:t> design pattern that separates the web app into 3 main components(model, view, controller).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5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D8CE-DC4A-4116-6BEA-3D3429754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MVC Steps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CD3C-E991-DA9A-1EEF-082E563E8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6142" y="1600158"/>
            <a:ext cx="9058373" cy="4195481"/>
          </a:xfrm>
        </p:spPr>
        <p:txBody>
          <a:bodyPr>
            <a:normAutofit fontScale="92500" lnSpcReduction="20000"/>
          </a:bodyPr>
          <a:lstStyle/>
          <a:p>
            <a:pPr marL="457200" indent="-457200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400" dirty="0"/>
              <a:t>Incoming request is routed to a </a:t>
            </a:r>
            <a:r>
              <a:rPr lang="en-US" sz="2400" b="1" dirty="0">
                <a:solidFill>
                  <a:schemeClr val="accent1"/>
                </a:solidFill>
              </a:rPr>
              <a:t>Controller </a:t>
            </a:r>
            <a:r>
              <a:rPr lang="en-US" dirty="0"/>
              <a:t> (For web: HTTP request).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>
                <a:solidFill>
                  <a:schemeClr val="accent1"/>
                </a:solidFill>
              </a:rPr>
              <a:t>Controller</a:t>
            </a:r>
            <a:r>
              <a:rPr lang="en-US" sz="2400" dirty="0"/>
              <a:t> processes requests and creates a presentation ( </a:t>
            </a:r>
            <a:r>
              <a:rPr lang="en-US" sz="2400" b="1" dirty="0" err="1">
                <a:solidFill>
                  <a:schemeClr val="accent1"/>
                </a:solidFill>
              </a:rPr>
              <a:t>Model</a:t>
            </a:r>
            <a:r>
              <a:rPr lang="en-US" b="1" dirty="0" err="1">
                <a:solidFill>
                  <a:schemeClr val="accent1"/>
                </a:solidFill>
              </a:rPr>
              <a:t>Controller</a:t>
            </a:r>
            <a:r>
              <a:rPr lang="en-US" dirty="0"/>
              <a:t> also selects appropriate result (view)).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>
                <a:solidFill>
                  <a:schemeClr val="accent1"/>
                </a:solidFill>
              </a:rPr>
              <a:t>Model</a:t>
            </a:r>
            <a:r>
              <a:rPr lang="en-US" sz="2400" dirty="0"/>
              <a:t> is passed to </a:t>
            </a:r>
            <a:r>
              <a:rPr lang="en-US" sz="2400" b="1" dirty="0">
                <a:solidFill>
                  <a:schemeClr val="accent1"/>
                </a:solidFill>
              </a:rPr>
              <a:t>View</a:t>
            </a:r>
            <a:r>
              <a:rPr lang="en-US" sz="2400" dirty="0"/>
              <a:t>.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>
                <a:solidFill>
                  <a:schemeClr val="accent1"/>
                </a:solidFill>
              </a:rPr>
              <a:t>View</a:t>
            </a:r>
            <a:r>
              <a:rPr lang="en-US" sz="2400" dirty="0"/>
              <a:t> transforms the </a:t>
            </a:r>
            <a:r>
              <a:rPr lang="en-US" sz="2400" b="1" dirty="0">
                <a:solidFill>
                  <a:schemeClr val="accent1"/>
                </a:solidFill>
              </a:rPr>
              <a:t>Model</a:t>
            </a:r>
            <a:r>
              <a:rPr lang="en-US" sz="2400" dirty="0"/>
              <a:t> into the appropriate output format (HTML).</a:t>
            </a:r>
          </a:p>
          <a:p>
            <a:pPr marL="457200" indent="-457200" fontAlgn="base">
              <a:lnSpc>
                <a:spcPct val="150000"/>
              </a:lnSpc>
              <a:buFont typeface="+mj-lt"/>
              <a:buAutoNum type="arabicParenR"/>
            </a:pPr>
            <a:r>
              <a:rPr lang="en-US" sz="2400" dirty="0"/>
              <a:t>Response is rendered (HTTP response).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078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4389E-64C3-6C71-32C1-C9638F5CD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9392" y="5522040"/>
            <a:ext cx="8935978" cy="566738"/>
          </a:xfrm>
        </p:spPr>
        <p:txBody>
          <a:bodyPr/>
          <a:lstStyle/>
          <a:p>
            <a:r>
              <a:rPr lang="en-US" dirty="0"/>
              <a:t>Presentation for MVC steps.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FE244DD-C2F8-45AA-7E98-6FD35FCC853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7992" b="7992"/>
          <a:stretch/>
        </p:blipFill>
        <p:spPr>
          <a:xfrm>
            <a:off x="1169391" y="1373697"/>
            <a:ext cx="8935979" cy="3640666"/>
          </a:xfrm>
        </p:spPr>
      </p:pic>
    </p:spTree>
    <p:extLst>
      <p:ext uri="{BB962C8B-B14F-4D97-AF65-F5344CB8AC3E}">
        <p14:creationId xmlns:p14="http://schemas.microsoft.com/office/powerpoint/2010/main" val="428167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BAC8E-4A75-82F7-F027-6E5AF24E6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0D116-41BB-2EE9-51F5-5FEFD677A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Handel user interface.</a:t>
            </a:r>
          </a:p>
          <a:p>
            <a:r>
              <a:rPr lang="en-US" dirty="0"/>
              <a:t>Select view to render.</a:t>
            </a:r>
          </a:p>
          <a:p>
            <a:r>
              <a:rPr lang="en-US" dirty="0"/>
              <a:t>Work with model.</a:t>
            </a:r>
          </a:p>
        </p:txBody>
      </p:sp>
    </p:spTree>
    <p:extLst>
      <p:ext uri="{BB962C8B-B14F-4D97-AF65-F5344CB8AC3E}">
        <p14:creationId xmlns:p14="http://schemas.microsoft.com/office/powerpoint/2010/main" val="331459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EC96-78DA-D69E-0438-A4D6B39E1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39EB5-D1D5-B812-50CA-47F3EF113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any logic or operation.</a:t>
            </a:r>
          </a:p>
          <a:p>
            <a:r>
              <a:rPr lang="en-US" dirty="0"/>
              <a:t>Encapsulate concept is achieved.</a:t>
            </a:r>
          </a:p>
          <a:p>
            <a:r>
              <a:rPr lang="en-US" dirty="0"/>
              <a:t>Contains the </a:t>
            </a:r>
            <a:r>
              <a:rPr lang="en-US" dirty="0" err="1">
                <a:solidFill>
                  <a:schemeClr val="accent1"/>
                </a:solidFill>
              </a:rPr>
              <a:t>viewmodel</a:t>
            </a:r>
            <a:r>
              <a:rPr lang="en-US" dirty="0"/>
              <a:t> to represent part of a particular table ” in general any part of data.”.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3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56F5-26B3-F816-0813-72195B505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FAC37-31E6-FD64-039E-23F264B8C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Represent the content.</a:t>
            </a:r>
          </a:p>
          <a:p>
            <a:r>
              <a:rPr lang="en-US" dirty="0"/>
              <a:t>Contains minimal logic like if condition or simple looping “ advance does not contain any logic if can.”.</a:t>
            </a:r>
          </a:p>
          <a:p>
            <a:r>
              <a:rPr lang="en-US" dirty="0"/>
              <a:t>It is a UI ” user interface”.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635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665E0-F8DC-A862-D642-F22C2F3F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D95C2-3150-BCD3-D5AC-89BB0067B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lnSpc>
                <a:spcPct val="150000"/>
              </a:lnSpc>
            </a:pPr>
            <a:r>
              <a:rPr lang="en-US" dirty="0">
                <a:latin typeface="+mj-lt"/>
              </a:rPr>
              <a:t>IDE: Visual Studio 2022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+mj-lt"/>
              </a:rPr>
              <a:t>Framework: .NET Framework 8.0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+mj-lt"/>
              </a:rPr>
              <a:t>Data: SQL Server 2022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Visual Studio installer will install everything we need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5447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E56F366-1B03-3D8C-D3E1-2D045F2F4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188" y="452718"/>
            <a:ext cx="9522282" cy="963269"/>
          </a:xfrm>
        </p:spPr>
        <p:txBody>
          <a:bodyPr/>
          <a:lstStyle/>
          <a:p>
            <a:r>
              <a:rPr lang="en-US" dirty="0"/>
              <a:t>The visual studio installer  install firstly then :</a:t>
            </a:r>
          </a:p>
        </p:txBody>
      </p:sp>
      <p:pic>
        <p:nvPicPr>
          <p:cNvPr id="10" name="Content Placeholder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446AC01-63A9-34CC-27CD-74C873C295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726" y="1921079"/>
            <a:ext cx="11274803" cy="3800213"/>
          </a:xfrm>
        </p:spPr>
      </p:pic>
    </p:spTree>
    <p:extLst>
      <p:ext uri="{BB962C8B-B14F-4D97-AF65-F5344CB8AC3E}">
        <p14:creationId xmlns:p14="http://schemas.microsoft.com/office/powerpoint/2010/main" val="1665333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4E3A-C725-064F-E156-10AAD1873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SQL SERVER 2022: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E452A47-E1F9-33D5-54B3-9665C19FE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2984" y="2052638"/>
            <a:ext cx="6927506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0799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41314-EF52-16D1-EA64-D521C26AA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491D66EE-1383-C988-2E17-AB1FECDEF8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3851" y="1574465"/>
            <a:ext cx="740832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281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22BADB-CD95-A890-E2C5-F224EA2B6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9A98447-CDE1-AA02-7006-4C94814B1D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309" y="1826135"/>
            <a:ext cx="742064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8198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5C7E5-8E80-C0A8-5C49-02F321514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304F4D-A42C-56A1-0FF4-0E0561DC0C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5637" y="2052638"/>
            <a:ext cx="7776593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6981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8AB9-EEF7-2DB7-C590-4B930DDAD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10ED2B-366D-84C7-EE9D-9F6A986D3B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4694" y="2052638"/>
            <a:ext cx="781014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917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F8A2-6E64-2942-B8D6-43A861872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E38BB3-09D2-C964-BD84-D2505E156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61688" y="2052638"/>
            <a:ext cx="8380602" cy="41957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28AF671-9530-D335-F215-595385A6C324}"/>
                  </a:ext>
                </a:extLst>
              </p14:cNvPr>
              <p14:cNvContentPartPr/>
              <p14:nvPr/>
            </p14:nvContentPartPr>
            <p14:xfrm>
              <a:off x="3647352" y="2734583"/>
              <a:ext cx="2400840" cy="38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28AF671-9530-D335-F215-595385A6C32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8712" y="2725583"/>
                <a:ext cx="2418480" cy="40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90964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3415C-FFB2-89A5-4BE8-707B7C8F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6E40B84-533B-BAD3-41F7-9D33375B50CA}"/>
                  </a:ext>
                </a:extLst>
              </p14:cNvPr>
              <p14:cNvContentPartPr/>
              <p14:nvPr/>
            </p14:nvContentPartPr>
            <p14:xfrm>
              <a:off x="3647352" y="2734583"/>
              <a:ext cx="2400840" cy="38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6E40B84-533B-BAD3-41F7-9D33375B50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8712" y="2725583"/>
                <a:ext cx="2418480" cy="4039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Content Placeholder 6">
            <a:extLst>
              <a:ext uri="{FF2B5EF4-FFF2-40B4-BE49-F238E27FC236}">
                <a16:creationId xmlns:a16="http://schemas.microsoft.com/office/drawing/2014/main" id="{A6B05947-601E-B7E7-9D73-5B2EFEBEFB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132515" y="1649967"/>
            <a:ext cx="9286612" cy="4195762"/>
          </a:xfrm>
        </p:spPr>
      </p:pic>
    </p:spTree>
    <p:extLst>
      <p:ext uri="{BB962C8B-B14F-4D97-AF65-F5344CB8AC3E}">
        <p14:creationId xmlns:p14="http://schemas.microsoft.com/office/powerpoint/2010/main" val="36352602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96A7C-3994-AF30-5081-D86C7DB53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F8D21D4-62EA-349F-0A0B-FA25057B21A3}"/>
                  </a:ext>
                </a:extLst>
              </p14:cNvPr>
              <p14:cNvContentPartPr/>
              <p14:nvPr/>
            </p14:nvContentPartPr>
            <p14:xfrm>
              <a:off x="3647352" y="2734583"/>
              <a:ext cx="2400840" cy="38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F8D21D4-62EA-349F-0A0B-FA25057B21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8712" y="2725583"/>
                <a:ext cx="2418480" cy="403920"/>
              </a:xfrm>
              <a:prstGeom prst="rect">
                <a:avLst/>
              </a:prstGeom>
            </p:spPr>
          </p:pic>
        </mc:Fallback>
      </mc:AlternateContent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162ACD-7D23-896E-A3F1-2A16F3D03B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325461" y="1490576"/>
            <a:ext cx="9009775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9001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7A954-C4F6-82A4-083F-6D836D00A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CE320191-5A90-24DC-F60A-B04B02C7D3CA}"/>
                  </a:ext>
                </a:extLst>
              </p14:cNvPr>
              <p14:cNvContentPartPr/>
              <p14:nvPr/>
            </p14:nvContentPartPr>
            <p14:xfrm>
              <a:off x="3647352" y="2734583"/>
              <a:ext cx="2400840" cy="386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CE320191-5A90-24DC-F60A-B04B02C7D3C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38712" y="2725583"/>
                <a:ext cx="2418480" cy="40392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A1E082D-FA1D-653D-3B51-28DF079E5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801535" y="1700301"/>
            <a:ext cx="8741329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727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74022-D420-7808-5A99-F7439995A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64C4AECD-C3A6-479F-1ED0-04FC953213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4517" y="1431853"/>
            <a:ext cx="8921903" cy="4195762"/>
          </a:xfrm>
        </p:spPr>
      </p:pic>
      <p:sp>
        <p:nvSpPr>
          <p:cNvPr id="10" name="Ellipsi 9">
            <a:extLst>
              <a:ext uri="{FF2B5EF4-FFF2-40B4-BE49-F238E27FC236}">
                <a16:creationId xmlns:a16="http://schemas.microsoft.com/office/drawing/2014/main" id="{DD37C354-7E5D-4B10-BD51-83172DF31DCB}"/>
              </a:ext>
            </a:extLst>
          </p:cNvPr>
          <p:cNvSpPr/>
          <p:nvPr/>
        </p:nvSpPr>
        <p:spPr>
          <a:xfrm>
            <a:off x="3099577" y="4900386"/>
            <a:ext cx="2377440" cy="365760"/>
          </a:xfrm>
          <a:prstGeom prst="ellipse">
            <a:avLst/>
          </a:prstGeom>
          <a:noFill/>
          <a:ln w="18000">
            <a:solidFill>
              <a:srgbClr val="E7122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fr-FR" dirty="0">
              <a:solidFill>
                <a:srgbClr val="E7122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0645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DEAFF0-8088-903A-9E15-D95AB576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8366A5FA-602A-8536-94AC-A01D36DC11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021" y="1185644"/>
            <a:ext cx="8665828" cy="4486712"/>
          </a:xfrm>
        </p:spPr>
      </p:pic>
    </p:spTree>
    <p:extLst>
      <p:ext uri="{BB962C8B-B14F-4D97-AF65-F5344CB8AC3E}">
        <p14:creationId xmlns:p14="http://schemas.microsoft.com/office/powerpoint/2010/main" val="2559021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DFDFE-1E4A-BEE7-9924-80E6C5AA0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4012D-3331-E30E-E9BA-65B7A1C0FE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134" y="1249960"/>
            <a:ext cx="7927596" cy="4562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58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DE7F0-6963-9733-3BFC-A7919BE6D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405C83-50CE-DCBE-8DFD-1ABBED438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6854" y="1331119"/>
            <a:ext cx="8347046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5136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78BCE-DBAE-00A1-DEE7-5AA16BA52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4DE1F6-6D4D-8FC1-7DB5-4A3FA212E3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99" y="1331119"/>
            <a:ext cx="8305101" cy="4195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17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80439-15DB-56A3-772D-F73EE663B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0115" y="2982854"/>
            <a:ext cx="9522282" cy="1400530"/>
          </a:xfrm>
        </p:spPr>
        <p:txBody>
          <a:bodyPr/>
          <a:lstStyle/>
          <a:p>
            <a:r>
              <a:rPr lang="en-US" sz="2800" dirty="0">
                <a:solidFill>
                  <a:srgbClr val="FF0000"/>
                </a:solidFill>
              </a:rPr>
              <a:t>First task</a:t>
            </a:r>
            <a:br>
              <a:rPr lang="en-US" sz="2800" dirty="0">
                <a:solidFill>
                  <a:srgbClr val="FF0000"/>
                </a:solidFill>
              </a:rPr>
            </a:br>
            <a:br>
              <a:rPr lang="en-US" dirty="0"/>
            </a:br>
            <a:r>
              <a:rPr lang="en-US" dirty="0"/>
              <a:t>Creating an ASP.NET MVC Project</a:t>
            </a:r>
          </a:p>
        </p:txBody>
      </p:sp>
    </p:spTree>
    <p:extLst>
      <p:ext uri="{BB962C8B-B14F-4D97-AF65-F5344CB8AC3E}">
        <p14:creationId xmlns:p14="http://schemas.microsoft.com/office/powerpoint/2010/main" val="3178928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EE341-1C81-498E-8F50-D690C09C3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section’s grades: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AFD3D-551C-1CD3-1031-295A93076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5 for quiz.</a:t>
            </a:r>
          </a:p>
          <a:p>
            <a:r>
              <a:rPr lang="en-US" dirty="0"/>
              <a:t>5 for practice.</a:t>
            </a:r>
          </a:p>
          <a:p>
            <a:r>
              <a:rPr lang="en-US" dirty="0"/>
              <a:t>20 for project.</a:t>
            </a:r>
          </a:p>
        </p:txBody>
      </p:sp>
    </p:spTree>
    <p:extLst>
      <p:ext uri="{BB962C8B-B14F-4D97-AF65-F5344CB8AC3E}">
        <p14:creationId xmlns:p14="http://schemas.microsoft.com/office/powerpoint/2010/main" val="834813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27FD-7C34-289A-CFB9-CA689D3D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94757-754F-E05B-1369-B0D4279FB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 requirements: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56943-2C45-0F6A-F174-7709848072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team component of 6 members. </a:t>
            </a:r>
          </a:p>
          <a:p>
            <a:r>
              <a:rPr lang="en-US" dirty="0"/>
              <a:t>List of requirements in a software development project: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1. ERD of a database, implementation of models and relations in visual studio.</a:t>
            </a:r>
          </a:p>
          <a:p>
            <a:pPr marL="0" indent="0">
              <a:buNone/>
            </a:pPr>
            <a:r>
              <a:rPr lang="en-US" dirty="0"/>
              <a:t>2. DB context and connection with database + migrations.</a:t>
            </a:r>
          </a:p>
          <a:p>
            <a:pPr marL="0" indent="0">
              <a:buNone/>
            </a:pPr>
            <a:r>
              <a:rPr lang="en-US" dirty="0"/>
              <a:t>3. Login and Register page.</a:t>
            </a:r>
          </a:p>
          <a:p>
            <a:pPr marL="0" indent="0">
              <a:buNone/>
            </a:pPr>
            <a:r>
              <a:rPr lang="en-US" dirty="0"/>
              <a:t>4. Add an image and store its path in the database.</a:t>
            </a:r>
          </a:p>
          <a:p>
            <a:pPr marL="0" indent="0">
              <a:buNone/>
            </a:pPr>
            <a:r>
              <a:rPr lang="en-US" dirty="0"/>
              <a:t>5. ⁠Validation of all features.  </a:t>
            </a:r>
          </a:p>
          <a:p>
            <a:pPr marL="0" indent="0">
              <a:buNone/>
            </a:pPr>
            <a:r>
              <a:rPr lang="en-US" dirty="0"/>
              <a:t>6. ⁠CRUD operations for all essential entities.</a:t>
            </a:r>
          </a:p>
          <a:p>
            <a:pPr marL="0" indent="0">
              <a:buNone/>
            </a:pPr>
            <a:r>
              <a:rPr lang="en-US" dirty="0"/>
              <a:t>7. ⁠Admin and user pages if they exist with Authorization.</a:t>
            </a:r>
          </a:p>
          <a:p>
            <a:pPr marL="0" indent="0">
              <a:buNone/>
            </a:pPr>
            <a:r>
              <a:rPr lang="en-US" dirty="0"/>
              <a:t>8. Implement the website features of your idea.</a:t>
            </a:r>
          </a:p>
        </p:txBody>
      </p:sp>
    </p:spTree>
    <p:extLst>
      <p:ext uri="{BB962C8B-B14F-4D97-AF65-F5344CB8AC3E}">
        <p14:creationId xmlns:p14="http://schemas.microsoft.com/office/powerpoint/2010/main" val="474821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BF258-5AD4-F609-EFA2-A24B237A7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19BF-3C67-7B55-7FF5-517DC0EF3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 of Microsoft teams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BC3B0-BC95-CA92-C72F-CB8700946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104" y="2052920"/>
            <a:ext cx="9058373" cy="1311066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MVC group | SW and IS | Microsoft Teams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752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8A4EAF58D7C545AE1DE37025E70789" ma:contentTypeVersion="0" ma:contentTypeDescription="Create a new document." ma:contentTypeScope="" ma:versionID="299e43794a7e39fc1f050a641c51f2f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4b795196365d0a2ba85bf44c386000f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139C083-F2C2-46D8-B80D-10EC0FC9CE23}"/>
</file>

<file path=customXml/itemProps2.xml><?xml version="1.0" encoding="utf-8"?>
<ds:datastoreItem xmlns:ds="http://schemas.openxmlformats.org/officeDocument/2006/customXml" ds:itemID="{DC5EC56E-00E7-4D33-8B12-708DCF35CC92}"/>
</file>

<file path=customXml/itemProps3.xml><?xml version="1.0" encoding="utf-8"?>
<ds:datastoreItem xmlns:ds="http://schemas.openxmlformats.org/officeDocument/2006/customXml" ds:itemID="{20CA33D6-9570-4574-BF5A-7A43984D700C}"/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251</TotalTime>
  <Words>519</Words>
  <Application>Microsoft Office PowerPoint</Application>
  <PresentationFormat>Custom</PresentationFormat>
  <Paragraphs>65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Century Gothic</vt:lpstr>
      <vt:lpstr>Wingdings</vt:lpstr>
      <vt:lpstr>Wingdings 3</vt:lpstr>
      <vt:lpstr>Ion</vt:lpstr>
      <vt:lpstr>Introduction to ASP.NET MVC Core</vt:lpstr>
      <vt:lpstr>The web app components :</vt:lpstr>
      <vt:lpstr>Types of developers:</vt:lpstr>
      <vt:lpstr>Explain for ASP.Net :</vt:lpstr>
      <vt:lpstr>Explain for MVC :</vt:lpstr>
      <vt:lpstr>MVC Steps :</vt:lpstr>
      <vt:lpstr>Presentation for MVC steps.</vt:lpstr>
      <vt:lpstr>Controller</vt:lpstr>
      <vt:lpstr>Model</vt:lpstr>
      <vt:lpstr>View</vt:lpstr>
      <vt:lpstr>The Tools</vt:lpstr>
      <vt:lpstr>The visual studio installer  install firstly then :</vt:lpstr>
      <vt:lpstr>Install SQL SERVER 2022: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First task  Creating an ASP.NET MVC Project</vt:lpstr>
      <vt:lpstr>The section’s grades:</vt:lpstr>
      <vt:lpstr>The project requirements:</vt:lpstr>
      <vt:lpstr>Link of Microsoft teams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ayamahmoud0011@gimal.com</dc:creator>
  <cp:lastModifiedBy>Aya Nassar</cp:lastModifiedBy>
  <cp:revision>11</cp:revision>
  <dcterms:created xsi:type="dcterms:W3CDTF">2025-02-15T14:44:53Z</dcterms:created>
  <dcterms:modified xsi:type="dcterms:W3CDTF">2026-02-18T17:25:56Z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0x010100748A4EAF58D7C545AE1DE37025E70789</vt:lpwstr>
  </property>
</Properties>
</file>